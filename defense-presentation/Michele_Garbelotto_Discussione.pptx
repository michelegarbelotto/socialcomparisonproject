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  <p:sldId id="267" r:id="rId10"/>
    <p:sldId id="266" r:id="rId11"/>
    <p:sldId id="268" r:id="rId12"/>
    <p:sldId id="269" r:id="rId13"/>
    <p:sldId id="270" r:id="rId14"/>
    <p:sldId id="271" r:id="rId15"/>
    <p:sldId id="272" r:id="rId16"/>
    <p:sldId id="279" r:id="rId17"/>
    <p:sldId id="274" r:id="rId18"/>
    <p:sldId id="275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100" y="108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Percentuale di trial</c:v>
          </c:tx>
          <c:spPr>
            <a:solidFill>
              <a:srgbClr val="6C9BC1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C16C6F"/>
              </a:solidFill>
            </c:spPr>
            <c:extLst>
              <c:ext xmlns:c16="http://schemas.microsoft.com/office/drawing/2014/chart" uri="{C3380CC4-5D6E-409C-BE32-E72D297353CC}">
                <c16:uniqueId val="{00000001-44DC-4C7E-8DCD-84DE1E389FD9}"/>
              </c:ext>
            </c:extLst>
          </c:dPt>
          <c:cat>
            <c:numRef>
              <c:f>'Chart Data'!$A$2:$A$24</c:f>
              <c:numCache>
                <c:formatCode>General</c:formatCode>
                <c:ptCount val="2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</c:numCache>
            </c:numRef>
          </c:cat>
          <c:val>
            <c:numRef>
              <c:f>'Chart Data'!$B$2:$B$24</c:f>
              <c:numCache>
                <c:formatCode>0%</c:formatCode>
                <c:ptCount val="23"/>
                <c:pt idx="0">
                  <c:v>0.43809524</c:v>
                </c:pt>
                <c:pt idx="1">
                  <c:v>5.7142859999999997E-2</c:v>
                </c:pt>
                <c:pt idx="2">
                  <c:v>5.9523810000000003E-2</c:v>
                </c:pt>
                <c:pt idx="3">
                  <c:v>0.16547619</c:v>
                </c:pt>
                <c:pt idx="4">
                  <c:v>0.10476190000000001</c:v>
                </c:pt>
                <c:pt idx="5">
                  <c:v>6.3095239999999997E-2</c:v>
                </c:pt>
                <c:pt idx="6">
                  <c:v>4.4047620000000003E-2</c:v>
                </c:pt>
                <c:pt idx="7">
                  <c:v>2.0238099999999998E-2</c:v>
                </c:pt>
                <c:pt idx="8">
                  <c:v>9.5238100000000006E-3</c:v>
                </c:pt>
                <c:pt idx="9">
                  <c:v>7.14286E-3</c:v>
                </c:pt>
                <c:pt idx="10">
                  <c:v>1.6666670000000001E-2</c:v>
                </c:pt>
                <c:pt idx="11">
                  <c:v>3.57143E-3</c:v>
                </c:pt>
                <c:pt idx="12">
                  <c:v>1.1904800000000001E-3</c:v>
                </c:pt>
                <c:pt idx="13">
                  <c:v>7.14286E-3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1.1904800000000001E-3</c:v>
                </c:pt>
                <c:pt idx="20">
                  <c:v>0</c:v>
                </c:pt>
                <c:pt idx="21">
                  <c:v>0</c:v>
                </c:pt>
                <c:pt idx="22">
                  <c:v>1.1904800000000001E-3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44DC-4C7E-8DCD-84DE1E389F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>
                    <a:latin typeface="Arial"/>
                  </a:defRPr>
                </a:pPr>
                <a:r>
                  <a:rPr lang="it-IT"/>
                  <a:t>Numero di esiti richiesti per trial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414141"/>
            </a:solidFill>
          </a:ln>
        </c:spPr>
        <c:txPr>
          <a:bodyPr anchorCtr="1"/>
          <a:lstStyle/>
          <a:p>
            <a:pPr>
              <a:defRPr sz="1275">
                <a:solidFill>
                  <a:srgbClr val="414141"/>
                </a:solidFill>
                <a:latin typeface="Arial"/>
              </a:defRPr>
            </a:pPr>
            <a:endParaRPr lang="it-IT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5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>
                    <a:latin typeface="Arial"/>
                  </a:defRPr>
                </a:pPr>
                <a:r>
                  <a:rPr lang="it-IT"/>
                  <a:t>Percentuale di trial</a:t>
                </a:r>
              </a:p>
            </c:rich>
          </c:tx>
          <c:overlay val="0"/>
        </c:title>
        <c:numFmt formatCode="0%" sourceLinked="1"/>
        <c:majorTickMark val="none"/>
        <c:minorTickMark val="none"/>
        <c:tickLblPos val="nextTo"/>
        <c:spPr>
          <a:ln w="9525">
            <a:solidFill>
              <a:srgbClr val="414141"/>
            </a:solidFill>
          </a:ln>
        </c:spPr>
        <c:txPr>
          <a:bodyPr anchorCtr="1"/>
          <a:lstStyle/>
          <a:p>
            <a:pPr>
              <a:defRPr sz="1350">
                <a:solidFill>
                  <a:srgbClr val="414141"/>
                </a:solidFill>
                <a:latin typeface="Arial"/>
              </a:defRPr>
            </a:pPr>
            <a:endParaRPr lang="it-IT"/>
          </a:p>
        </c:txPr>
        <c:crossAx val="48650112"/>
        <c:crosses val="autoZero"/>
        <c:crossBetween val="between"/>
        <c:majorUnit val="0.1"/>
      </c:valAx>
      <c:spPr>
        <a:solidFill>
          <a:srgbClr val="FAFAFA"/>
        </a:solidFill>
      </c:spPr>
    </c:plotArea>
    <c:plotVisOnly val="1"/>
    <c:dispBlanksAs val="zero"/>
    <c:showDLblsOverMax val="1"/>
  </c:chart>
  <c:spPr>
    <a:solidFill>
      <a:srgbClr val="FAFAFA"/>
    </a:solidFill>
    <a:ln w="0">
      <a:noFill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28239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751685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267053C3-7BA9-418F-811B-B0B268EB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2BCB7A01-8CC4-4FEE-AD3D-43FBB6FECA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0456497C-E6C2-4014-95BD-C0229C344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C17AA587-EC22-4715-AA08-68BB15A76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82E8C5F-F97B-44E5-85DD-6A35FF441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772688BF-F481-4625-A000-B59BD15BD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C5430F4-463E-45EE-9EE0-7FE6424F5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83B432EE-297B-480B-BA41-EFA8400568B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900B582B-CB16-43C9-AA8A-1A11B090F8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EAAAF1F3-C444-4158-A80E-B4C46B85D5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ichelegarbelotto.github.io/CV/Experiment.html?cv_section=task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A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A791A541-90FC-44A0-A3BA-56097F4D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600450" y="439177"/>
            <a:ext cx="4991100" cy="1617196"/>
          </a:xfrm>
          <a:prstGeom prst="rect">
            <a:avLst/>
          </a:prstGeom>
        </p:spPr>
      </p:pic>
      <p:sp>
        <p:nvSpPr>
          <p:cNvPr id="2" name="Ricerca di informazioni per il confronto sociale:&#10;come si di">
            <a:extLst>
              <a:ext uri="{FF2B5EF4-FFF2-40B4-BE49-F238E27FC236}">
                <a16:creationId xmlns:a16="http://schemas.microsoft.com/office/drawing/2014/main" id="{FD4E0491-F1DA-4928-9218-9488BDCFA5D1}"/>
              </a:ext>
            </a:extLst>
          </p:cNvPr>
          <p:cNvSpPr>
            <a:spLocks noGrp="1"/>
          </p:cNvSpPr>
          <p:nvPr/>
        </p:nvSpPr>
        <p:spPr>
          <a:xfrm>
            <a:off x="914400" y="2457450"/>
            <a:ext cx="10363200" cy="1543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Ricerca di informazioni per il confronto sociale:</a:t>
            </a:r>
          </a:p>
          <a:p>
            <a:pPr algn="ctr">
              <a:defRPr sz="30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come si distingue il dominio di guadagno</a:t>
            </a:r>
          </a:p>
          <a:p>
            <a:pPr algn="ctr">
              <a:defRPr sz="30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 quello di perdita?</a:t>
            </a:r>
          </a:p>
        </p:txBody>
      </p:sp>
      <p:sp>
        <p:nvSpPr>
          <p:cNvPr id="3" name="Michele Garbelotto">
            <a:extLst>
              <a:ext uri="{FF2B5EF4-FFF2-40B4-BE49-F238E27FC236}">
                <a16:creationId xmlns:a16="http://schemas.microsoft.com/office/drawing/2014/main" id="{5C4B22D0-9F77-4469-8720-411BDD8F7B17}"/>
              </a:ext>
            </a:extLst>
          </p:cNvPr>
          <p:cNvSpPr>
            <a:spLocks noGrp="1"/>
          </p:cNvSpPr>
          <p:nvPr/>
        </p:nvSpPr>
        <p:spPr>
          <a:xfrm>
            <a:off x="914400" y="4333875"/>
            <a:ext cx="103632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Michele Garbelotto</a:t>
            </a:r>
          </a:p>
        </p:txBody>
      </p:sp>
      <p:sp>
        <p:nvSpPr>
          <p:cNvPr id="4" name="Relatore: Prof. Andrea Bobbio&#10;Correlatore: Prof. Marc-Lluís ">
            <a:extLst>
              <a:ext uri="{FF2B5EF4-FFF2-40B4-BE49-F238E27FC236}">
                <a16:creationId xmlns:a16="http://schemas.microsoft.com/office/drawing/2014/main" id="{2FD1F4A7-DA60-4C77-927F-9DEFE68E132A}"/>
              </a:ext>
            </a:extLst>
          </p:cNvPr>
          <p:cNvSpPr>
            <a:spLocks noGrp="1"/>
          </p:cNvSpPr>
          <p:nvPr/>
        </p:nvSpPr>
        <p:spPr>
          <a:xfrm>
            <a:off x="914400" y="4933950"/>
            <a:ext cx="1036320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Relatore: Prof. Andrea Bobbio</a:t>
            </a:r>
          </a:p>
          <a:p>
            <a:pPr algn="ctr">
              <a:defRPr sz="18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Correlatore: Prof. Marc-Lluís Vives Moya</a:t>
            </a:r>
          </a:p>
        </p:txBody>
      </p:sp>
      <p:sp>
        <p:nvSpPr>
          <p:cNvPr id="5" name="Laurea magistrale in Psicologia sociale, del lavoro e della ">
            <a:extLst>
              <a:ext uri="{FF2B5EF4-FFF2-40B4-BE49-F238E27FC236}">
                <a16:creationId xmlns:a16="http://schemas.microsoft.com/office/drawing/2014/main" id="{E31578F7-41BF-4084-8F7E-22030AC65329}"/>
              </a:ext>
            </a:extLst>
          </p:cNvPr>
          <p:cNvSpPr>
            <a:spLocks noGrp="1"/>
          </p:cNvSpPr>
          <p:nvPr/>
        </p:nvSpPr>
        <p:spPr>
          <a:xfrm>
            <a:off x="914400" y="5905500"/>
            <a:ext cx="103632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Laurea magistrale in Psicologia sociale, del lavoro e della comunicazione</a:t>
            </a:r>
          </a:p>
          <a:p>
            <a:pPr algn="ctr">
              <a:defRPr sz="157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Scuola di Psicologia · Dipartimento FISPPA · A.A. 2025/2026</a:t>
            </a:r>
          </a:p>
        </p:txBody>
      </p:sp>
    </p:spTree>
    <p:extLst>
      <p:ext uri="{BB962C8B-B14F-4D97-AF65-F5344CB8AC3E}">
        <p14:creationId xmlns:p14="http://schemas.microsoft.com/office/powerpoint/2010/main" val="4012821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ezione">
            <a:extLst>
              <a:ext uri="{FF2B5EF4-FFF2-40B4-BE49-F238E27FC236}">
                <a16:creationId xmlns:a16="http://schemas.microsoft.com/office/drawing/2014/main" id="{E45B6F72-1A04-4C28-8327-23D1BBF1032F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Premesse dello studio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4DC868AE-7C9B-45AB-8287-86059A26982D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Domanda</a:t>
            </a:r>
            <a:r>
              <a:rPr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di </a:t>
            </a:r>
            <a:r>
              <a:rPr sz="2550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ricerca</a:t>
            </a:r>
            <a:endParaRPr sz="2550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02">
            <a:extLst>
              <a:ext uri="{FF2B5EF4-FFF2-40B4-BE49-F238E27FC236}">
                <a16:creationId xmlns:a16="http://schemas.microsoft.com/office/drawing/2014/main" id="{63E33A62-A2B4-4C4C-A480-0498A6A475DA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02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I domini di guadagno e di perdita influenzano&#10;la ricerca di ">
            <a:extLst>
              <a:ext uri="{FF2B5EF4-FFF2-40B4-BE49-F238E27FC236}">
                <a16:creationId xmlns:a16="http://schemas.microsoft.com/office/drawing/2014/main" id="{907F5A41-7CEA-40BD-AFD8-A4CD050FDDA9}"/>
              </a:ext>
            </a:extLst>
          </p:cNvPr>
          <p:cNvSpPr>
            <a:spLocks noGrp="1"/>
          </p:cNvSpPr>
          <p:nvPr/>
        </p:nvSpPr>
        <p:spPr>
          <a:xfrm>
            <a:off x="742950" y="2344382"/>
            <a:ext cx="1062990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I </a:t>
            </a:r>
            <a:r>
              <a:rPr sz="3000" b="1" dirty="0">
                <a:latin typeface="Arial"/>
                <a:ea typeface="Arial"/>
                <a:cs typeface="Arial"/>
              </a:rPr>
              <a:t>domini</a:t>
            </a: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di </a:t>
            </a:r>
            <a:r>
              <a:rPr sz="30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guadagno</a:t>
            </a: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e di </a:t>
            </a:r>
            <a:r>
              <a:rPr sz="30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perdita</a:t>
            </a: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influenzano</a:t>
            </a:r>
            <a:endParaRPr sz="3000" b="1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  <a:p>
            <a:pPr algn="l">
              <a:defRPr sz="30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la </a:t>
            </a:r>
            <a:r>
              <a:rPr sz="30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ricerca</a:t>
            </a: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di </a:t>
            </a:r>
            <a:r>
              <a:rPr sz="30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confronto</a:t>
            </a: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30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sociale</a:t>
            </a:r>
            <a:r>
              <a:rPr sz="30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?</a:t>
            </a:r>
          </a:p>
        </p:txBody>
      </p:sp>
      <p:sp>
        <p:nvSpPr>
          <p:cNvPr id="6" name="Connettore diritto 5">
            <a:extLst>
              <a:ext uri="{FF2B5EF4-FFF2-40B4-BE49-F238E27FC236}">
                <a16:creationId xmlns:a16="http://schemas.microsoft.com/office/drawing/2014/main" id="{929E0B0A-C13F-4218-82DB-B041687C60A4}"/>
              </a:ext>
            </a:extLst>
          </p:cNvPr>
          <p:cNvSpPr>
            <a:spLocks noGrp="1"/>
          </p:cNvSpPr>
          <p:nvPr/>
        </p:nvSpPr>
        <p:spPr>
          <a:xfrm>
            <a:off x="742950" y="3630257"/>
            <a:ext cx="10648950" cy="0"/>
          </a:xfrm>
          <a:prstGeom prst="line">
            <a:avLst/>
          </a:prstGeom>
          <a:noFill/>
          <a:ln w="19050">
            <a:solidFill>
              <a:srgbClr val="AA000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5054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zione">
            <a:extLst>
              <a:ext uri="{FF2B5EF4-FFF2-40B4-BE49-F238E27FC236}">
                <a16:creationId xmlns:a16="http://schemas.microsoft.com/office/drawing/2014/main" id="{3FE20C9E-24DD-4874-ACAC-D8F4DA12353F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Premesse dello studio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59103A3D-A285-4A77-9F5B-70591ED09CDB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Confronto</a:t>
            </a:r>
            <a:r>
              <a:rPr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</a:t>
            </a:r>
            <a:r>
              <a:rPr sz="2550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sociale</a:t>
            </a:r>
            <a:r>
              <a:rPr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e domini</a:t>
            </a:r>
            <a:r>
              <a:rPr lang="it-IT"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(guadagno/perdita)</a:t>
            </a:r>
            <a:endParaRPr sz="2550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Möller (2016); Mussweiler (2003); Kahneman &amp; Tversky (1979)">
            <a:extLst>
              <a:ext uri="{FF2B5EF4-FFF2-40B4-BE49-F238E27FC236}">
                <a16:creationId xmlns:a16="http://schemas.microsoft.com/office/drawing/2014/main" id="{2E6807B4-9299-4561-A270-B277C80E22CA}"/>
              </a:ext>
            </a:extLst>
          </p:cNvPr>
          <p:cNvSpPr>
            <a:spLocks noGrp="1"/>
          </p:cNvSpPr>
          <p:nvPr/>
        </p:nvSpPr>
        <p:spPr>
          <a:xfrm>
            <a:off x="742950" y="6124575"/>
            <a:ext cx="10572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2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Möller (2016); </a:t>
            </a:r>
            <a:r>
              <a:rPr sz="1275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Mussweiler</a:t>
            </a:r>
            <a:r>
              <a:rPr sz="12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(2003); Kahneman &amp; Tversky (1979)</a:t>
            </a:r>
          </a:p>
        </p:txBody>
      </p:sp>
      <p:sp>
        <p:nvSpPr>
          <p:cNvPr id="4" name="03">
            <a:extLst>
              <a:ext uri="{FF2B5EF4-FFF2-40B4-BE49-F238E27FC236}">
                <a16:creationId xmlns:a16="http://schemas.microsoft.com/office/drawing/2014/main" id="{CACFDEAA-7B3B-48C7-9795-B9099967E3D2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03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Processo del confronto sociale">
            <a:extLst>
              <a:ext uri="{FF2B5EF4-FFF2-40B4-BE49-F238E27FC236}">
                <a16:creationId xmlns:a16="http://schemas.microsoft.com/office/drawing/2014/main" id="{A0245FBD-8A84-4205-B869-F03EACB46249}"/>
              </a:ext>
            </a:extLst>
          </p:cNvPr>
          <p:cNvSpPr>
            <a:spLocks noGrp="1"/>
          </p:cNvSpPr>
          <p:nvPr/>
        </p:nvSpPr>
        <p:spPr>
          <a:xfrm>
            <a:off x="742950" y="1771650"/>
            <a:ext cx="5238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Processo del confronto sociale</a:t>
            </a:r>
          </a:p>
        </p:txBody>
      </p:sp>
      <p:sp>
        <p:nvSpPr>
          <p:cNvPr id="6" name="Connettore diritto 5">
            <a:extLst>
              <a:ext uri="{FF2B5EF4-FFF2-40B4-BE49-F238E27FC236}">
                <a16:creationId xmlns:a16="http://schemas.microsoft.com/office/drawing/2014/main" id="{554DAFF5-6C61-4DE1-A4AA-5E7C95F7A1A6}"/>
              </a:ext>
            </a:extLst>
          </p:cNvPr>
          <p:cNvSpPr>
            <a:spLocks noGrp="1"/>
          </p:cNvSpPr>
          <p:nvPr/>
        </p:nvSpPr>
        <p:spPr>
          <a:xfrm>
            <a:off x="6153150" y="1781175"/>
            <a:ext cx="0" cy="400050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elezione del target di valutazione">
            <a:extLst>
              <a:ext uri="{FF2B5EF4-FFF2-40B4-BE49-F238E27FC236}">
                <a16:creationId xmlns:a16="http://schemas.microsoft.com/office/drawing/2014/main" id="{838F43E2-5D44-4B93-8735-6516EA4A3225}"/>
              </a:ext>
            </a:extLst>
          </p:cNvPr>
          <p:cNvSpPr>
            <a:spLocks noGrp="1"/>
          </p:cNvSpPr>
          <p:nvPr/>
        </p:nvSpPr>
        <p:spPr>
          <a:xfrm>
            <a:off x="1066800" y="2324100"/>
            <a:ext cx="48196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Selezione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del target di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valutazione</a:t>
            </a:r>
            <a:endParaRPr sz="195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Connettore diritto 7">
            <a:extLst>
              <a:ext uri="{FF2B5EF4-FFF2-40B4-BE49-F238E27FC236}">
                <a16:creationId xmlns:a16="http://schemas.microsoft.com/office/drawing/2014/main" id="{361ECBA5-CE92-4799-9B1C-4939DCAC9A60}"/>
              </a:ext>
            </a:extLst>
          </p:cNvPr>
          <p:cNvSpPr>
            <a:spLocks noGrp="1"/>
          </p:cNvSpPr>
          <p:nvPr/>
        </p:nvSpPr>
        <p:spPr>
          <a:xfrm>
            <a:off x="838200" y="2609850"/>
            <a:ext cx="0" cy="466725"/>
          </a:xfrm>
          <a:prstGeom prst="line">
            <a:avLst/>
          </a:prstGeom>
          <a:noFill/>
          <a:ln w="19050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Freccia in giù 8">
            <a:extLst>
              <a:ext uri="{FF2B5EF4-FFF2-40B4-BE49-F238E27FC236}">
                <a16:creationId xmlns:a16="http://schemas.microsoft.com/office/drawing/2014/main" id="{84CD31B4-335A-4904-8D51-5A21110297BA}"/>
              </a:ext>
            </a:extLst>
          </p:cNvPr>
          <p:cNvSpPr>
            <a:spLocks noGrp="1"/>
          </p:cNvSpPr>
          <p:nvPr/>
        </p:nvSpPr>
        <p:spPr>
          <a:xfrm>
            <a:off x="781050" y="2981325"/>
            <a:ext cx="114300" cy="114300"/>
          </a:xfrm>
          <a:prstGeom prst="downArrow">
            <a:avLst/>
          </a:prstGeom>
          <a:solidFill>
            <a:srgbClr val="C4C4C4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0" name="Selezione dello standard">
            <a:extLst>
              <a:ext uri="{FF2B5EF4-FFF2-40B4-BE49-F238E27FC236}">
                <a16:creationId xmlns:a16="http://schemas.microsoft.com/office/drawing/2014/main" id="{6658117C-E7A4-4D3E-B340-29E23CA2800A}"/>
              </a:ext>
            </a:extLst>
          </p:cNvPr>
          <p:cNvSpPr>
            <a:spLocks noGrp="1"/>
          </p:cNvSpPr>
          <p:nvPr/>
        </p:nvSpPr>
        <p:spPr>
          <a:xfrm>
            <a:off x="1066800" y="3181350"/>
            <a:ext cx="48196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Selezione dello standard</a:t>
            </a:r>
          </a:p>
        </p:txBody>
      </p:sp>
      <p:sp>
        <p:nvSpPr>
          <p:cNvPr id="11" name="Connettore diritto 10">
            <a:extLst>
              <a:ext uri="{FF2B5EF4-FFF2-40B4-BE49-F238E27FC236}">
                <a16:creationId xmlns:a16="http://schemas.microsoft.com/office/drawing/2014/main" id="{899FE8F4-93FC-4AE4-A044-D45951AB8842}"/>
              </a:ext>
            </a:extLst>
          </p:cNvPr>
          <p:cNvSpPr>
            <a:spLocks noGrp="1"/>
          </p:cNvSpPr>
          <p:nvPr/>
        </p:nvSpPr>
        <p:spPr>
          <a:xfrm>
            <a:off x="838200" y="3467100"/>
            <a:ext cx="0" cy="790575"/>
          </a:xfrm>
          <a:prstGeom prst="line">
            <a:avLst/>
          </a:prstGeom>
          <a:noFill/>
          <a:ln w="19050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Freccia in giù 11">
            <a:extLst>
              <a:ext uri="{FF2B5EF4-FFF2-40B4-BE49-F238E27FC236}">
                <a16:creationId xmlns:a16="http://schemas.microsoft.com/office/drawing/2014/main" id="{755B58CE-DBF8-4BE9-AFA4-9D6DBC1F6CD3}"/>
              </a:ext>
            </a:extLst>
          </p:cNvPr>
          <p:cNvSpPr>
            <a:spLocks noGrp="1"/>
          </p:cNvSpPr>
          <p:nvPr/>
        </p:nvSpPr>
        <p:spPr>
          <a:xfrm>
            <a:off x="781050" y="4162425"/>
            <a:ext cx="114300" cy="114300"/>
          </a:xfrm>
          <a:prstGeom prst="downArrow">
            <a:avLst/>
          </a:prstGeom>
          <a:solidFill>
            <a:srgbClr val="C4C4C4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3" name="Comparazione">
            <a:extLst>
              <a:ext uri="{FF2B5EF4-FFF2-40B4-BE49-F238E27FC236}">
                <a16:creationId xmlns:a16="http://schemas.microsoft.com/office/drawing/2014/main" id="{8E6B55F7-09AD-460C-A039-496BA46ACF0C}"/>
              </a:ext>
            </a:extLst>
          </p:cNvPr>
          <p:cNvSpPr>
            <a:spLocks noGrp="1"/>
          </p:cNvSpPr>
          <p:nvPr/>
        </p:nvSpPr>
        <p:spPr>
          <a:xfrm>
            <a:off x="1066800" y="4362450"/>
            <a:ext cx="48196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Comparazione</a:t>
            </a:r>
            <a:endParaRPr sz="195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Connettore diritto 13">
            <a:extLst>
              <a:ext uri="{FF2B5EF4-FFF2-40B4-BE49-F238E27FC236}">
                <a16:creationId xmlns:a16="http://schemas.microsoft.com/office/drawing/2014/main" id="{9EA444DA-1763-479D-A2EF-D2C623371F89}"/>
              </a:ext>
            </a:extLst>
          </p:cNvPr>
          <p:cNvSpPr>
            <a:spLocks noGrp="1"/>
          </p:cNvSpPr>
          <p:nvPr/>
        </p:nvSpPr>
        <p:spPr>
          <a:xfrm>
            <a:off x="838200" y="4648200"/>
            <a:ext cx="0" cy="228600"/>
          </a:xfrm>
          <a:prstGeom prst="line">
            <a:avLst/>
          </a:prstGeom>
          <a:noFill/>
          <a:ln w="19050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Freccia in giù 14">
            <a:extLst>
              <a:ext uri="{FF2B5EF4-FFF2-40B4-BE49-F238E27FC236}">
                <a16:creationId xmlns:a16="http://schemas.microsoft.com/office/drawing/2014/main" id="{3FA4E6E1-4246-438A-9A21-3D292FC5800B}"/>
              </a:ext>
            </a:extLst>
          </p:cNvPr>
          <p:cNvSpPr>
            <a:spLocks noGrp="1"/>
          </p:cNvSpPr>
          <p:nvPr/>
        </p:nvSpPr>
        <p:spPr>
          <a:xfrm>
            <a:off x="781050" y="4781550"/>
            <a:ext cx="114300" cy="114300"/>
          </a:xfrm>
          <a:prstGeom prst="downArrow">
            <a:avLst/>
          </a:prstGeom>
          <a:solidFill>
            <a:srgbClr val="C4C4C4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16" name="Valutazione">
            <a:extLst>
              <a:ext uri="{FF2B5EF4-FFF2-40B4-BE49-F238E27FC236}">
                <a16:creationId xmlns:a16="http://schemas.microsoft.com/office/drawing/2014/main" id="{00EDEC5A-C9A1-44ED-88BB-87F8C8E314E3}"/>
              </a:ext>
            </a:extLst>
          </p:cNvPr>
          <p:cNvSpPr>
            <a:spLocks noGrp="1"/>
          </p:cNvSpPr>
          <p:nvPr/>
        </p:nvSpPr>
        <p:spPr>
          <a:xfrm>
            <a:off x="1066800" y="4981575"/>
            <a:ext cx="48196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Valutazione</a:t>
            </a:r>
          </a:p>
        </p:txBody>
      </p:sp>
      <p:sp>
        <p:nvSpPr>
          <p:cNvPr id="17" name="Aspetto di sé che si valuta">
            <a:extLst>
              <a:ext uri="{FF2B5EF4-FFF2-40B4-BE49-F238E27FC236}">
                <a16:creationId xmlns:a16="http://schemas.microsoft.com/office/drawing/2014/main" id="{9C072F2A-E151-43CF-8EC0-EB0205DC7256}"/>
              </a:ext>
            </a:extLst>
          </p:cNvPr>
          <p:cNvSpPr>
            <a:spLocks noGrp="1"/>
          </p:cNvSpPr>
          <p:nvPr/>
        </p:nvSpPr>
        <p:spPr>
          <a:xfrm>
            <a:off x="1066800" y="2657475"/>
            <a:ext cx="4714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Aspetto di sé che si valuta</a:t>
            </a:r>
          </a:p>
        </p:txBody>
      </p:sp>
      <p:sp>
        <p:nvSpPr>
          <p:cNvPr id="18" name="Informazioni su persone o gruppi&#10;che offrono un termine di p">
            <a:extLst>
              <a:ext uri="{FF2B5EF4-FFF2-40B4-BE49-F238E27FC236}">
                <a16:creationId xmlns:a16="http://schemas.microsoft.com/office/drawing/2014/main" id="{29F8C669-7C20-41CE-A0DA-76C52DBB5690}"/>
              </a:ext>
            </a:extLst>
          </p:cNvPr>
          <p:cNvSpPr>
            <a:spLocks noGrp="1"/>
          </p:cNvSpPr>
          <p:nvPr/>
        </p:nvSpPr>
        <p:spPr>
          <a:xfrm>
            <a:off x="1066800" y="3524250"/>
            <a:ext cx="4714875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Informazioni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su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persone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o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gruppi</a:t>
            </a:r>
            <a:endParaRPr sz="1650" b="0" dirty="0">
              <a:solidFill>
                <a:srgbClr val="707070"/>
              </a:solidFill>
              <a:latin typeface="Arial"/>
              <a:ea typeface="Arial"/>
              <a:cs typeface="Arial"/>
            </a:endParaRPr>
          </a:p>
          <a:p>
            <a: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che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offrono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un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termine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di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paragone</a:t>
            </a:r>
            <a:endParaRPr sz="1650" b="0" dirty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icerca attiva dello standard di confronto">
            <a:extLst>
              <a:ext uri="{FF2B5EF4-FFF2-40B4-BE49-F238E27FC236}">
                <a16:creationId xmlns:a16="http://schemas.microsoft.com/office/drawing/2014/main" id="{9D1825AE-53C6-4263-B597-A295C9F9F94B}"/>
              </a:ext>
            </a:extLst>
          </p:cNvPr>
          <p:cNvSpPr>
            <a:spLocks noGrp="1"/>
          </p:cNvSpPr>
          <p:nvPr/>
        </p:nvSpPr>
        <p:spPr>
          <a:xfrm>
            <a:off x="1066800" y="4076700"/>
            <a:ext cx="481965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650" b="1" dirty="0" err="1">
                <a:latin typeface="Arial"/>
                <a:ea typeface="Arial"/>
                <a:cs typeface="Arial"/>
              </a:rPr>
              <a:t>Ricerca</a:t>
            </a:r>
            <a:r>
              <a:rPr sz="1650" b="1" dirty="0">
                <a:latin typeface="Arial"/>
                <a:ea typeface="Arial"/>
                <a:cs typeface="Arial"/>
              </a:rPr>
              <a:t> </a:t>
            </a:r>
            <a:r>
              <a:rPr sz="1650" b="1" dirty="0" err="1">
                <a:latin typeface="Arial"/>
                <a:ea typeface="Arial"/>
                <a:cs typeface="Arial"/>
              </a:rPr>
              <a:t>attiva</a:t>
            </a:r>
            <a:r>
              <a:rPr sz="1650" b="1" dirty="0">
                <a:latin typeface="Arial"/>
                <a:ea typeface="Arial"/>
                <a:cs typeface="Arial"/>
              </a:rPr>
              <a:t> </a:t>
            </a:r>
            <a:r>
              <a:rPr sz="1650" b="1" dirty="0" err="1">
                <a:latin typeface="Arial"/>
                <a:ea typeface="Arial"/>
                <a:cs typeface="Arial"/>
              </a:rPr>
              <a:t>dello</a:t>
            </a:r>
            <a:r>
              <a:rPr sz="1650" b="1" dirty="0">
                <a:latin typeface="Arial"/>
                <a:ea typeface="Arial"/>
                <a:cs typeface="Arial"/>
              </a:rPr>
              <a:t> standard di </a:t>
            </a:r>
            <a:r>
              <a:rPr sz="1650" b="1" dirty="0" err="1">
                <a:latin typeface="Arial"/>
                <a:ea typeface="Arial"/>
                <a:cs typeface="Arial"/>
              </a:rPr>
              <a:t>confronto</a:t>
            </a:r>
            <a:endParaRPr sz="1650" b="1" dirty="0">
              <a:latin typeface="Arial"/>
              <a:ea typeface="Arial"/>
              <a:cs typeface="Arial"/>
            </a:endParaRPr>
          </a:p>
        </p:txBody>
      </p:sp>
      <p:sp>
        <p:nvSpPr>
          <p:cNvPr id="21" name="Guadagno e perdita">
            <a:extLst>
              <a:ext uri="{FF2B5EF4-FFF2-40B4-BE49-F238E27FC236}">
                <a16:creationId xmlns:a16="http://schemas.microsoft.com/office/drawing/2014/main" id="{5A639FC8-7B11-4630-8252-FD850E560421}"/>
              </a:ext>
            </a:extLst>
          </p:cNvPr>
          <p:cNvSpPr>
            <a:spLocks noGrp="1"/>
          </p:cNvSpPr>
          <p:nvPr/>
        </p:nvSpPr>
        <p:spPr>
          <a:xfrm>
            <a:off x="6562725" y="1771650"/>
            <a:ext cx="4886325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Guadagno e perdita</a:t>
            </a:r>
          </a:p>
        </p:txBody>
      </p:sp>
      <p:sp>
        <p:nvSpPr>
          <p:cNvPr id="22" name="Definiti rispetto a un punto di riferimento">
            <a:extLst>
              <a:ext uri="{FF2B5EF4-FFF2-40B4-BE49-F238E27FC236}">
                <a16:creationId xmlns:a16="http://schemas.microsoft.com/office/drawing/2014/main" id="{7C7BEA1B-8994-435E-91B2-92B3E745F480}"/>
              </a:ext>
            </a:extLst>
          </p:cNvPr>
          <p:cNvSpPr>
            <a:spLocks noGrp="1"/>
          </p:cNvSpPr>
          <p:nvPr/>
        </p:nvSpPr>
        <p:spPr>
          <a:xfrm>
            <a:off x="6562725" y="2228850"/>
            <a:ext cx="4781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Definiti rispetto a un punto di riferimento</a:t>
            </a:r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38D8700F-7C91-41EF-B999-B1E79BD446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88774" y="2778750"/>
            <a:ext cx="5043452" cy="2838450"/>
          </a:xfrm>
          <a:prstGeom prst="rect">
            <a:avLst/>
          </a:prstGeom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0D51729F-7AFD-4FCF-8A25-904103840F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7829550" y="2776200"/>
            <a:ext cx="5043452" cy="2838450"/>
          </a:xfrm>
          <a:prstGeom prst="rect">
            <a:avLst/>
          </a:prstGeom>
        </p:spPr>
      </p:pic>
      <p:sp>
        <p:nvSpPr>
          <p:cNvPr id="25" name="€30">
            <a:extLst>
              <a:ext uri="{FF2B5EF4-FFF2-40B4-BE49-F238E27FC236}">
                <a16:creationId xmlns:a16="http://schemas.microsoft.com/office/drawing/2014/main" id="{5B01E0CE-0E7B-46C7-9C65-9A241BB937DE}"/>
              </a:ext>
            </a:extLst>
          </p:cNvPr>
          <p:cNvSpPr>
            <a:spLocks noGrp="1"/>
          </p:cNvSpPr>
          <p:nvPr/>
        </p:nvSpPr>
        <p:spPr>
          <a:xfrm>
            <a:off x="7429500" y="2882694"/>
            <a:ext cx="762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€30</a:t>
            </a:r>
          </a:p>
        </p:txBody>
      </p:sp>
      <p:sp>
        <p:nvSpPr>
          <p:cNvPr id="26" name="€0">
            <a:extLst>
              <a:ext uri="{FF2B5EF4-FFF2-40B4-BE49-F238E27FC236}">
                <a16:creationId xmlns:a16="http://schemas.microsoft.com/office/drawing/2014/main" id="{C3FCB3D5-92B5-43E7-A16C-63A84C40285F}"/>
              </a:ext>
            </a:extLst>
          </p:cNvPr>
          <p:cNvSpPr>
            <a:spLocks noGrp="1"/>
          </p:cNvSpPr>
          <p:nvPr/>
        </p:nvSpPr>
        <p:spPr>
          <a:xfrm>
            <a:off x="7319963" y="4416219"/>
            <a:ext cx="6191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€0</a:t>
            </a:r>
          </a:p>
        </p:txBody>
      </p:sp>
      <p:sp>
        <p:nvSpPr>
          <p:cNvPr id="27" name="€60">
            <a:extLst>
              <a:ext uri="{FF2B5EF4-FFF2-40B4-BE49-F238E27FC236}">
                <a16:creationId xmlns:a16="http://schemas.microsoft.com/office/drawing/2014/main" id="{9637358B-2894-444A-B450-EC9F8D447A3B}"/>
              </a:ext>
            </a:extLst>
          </p:cNvPr>
          <p:cNvSpPr>
            <a:spLocks noGrp="1"/>
          </p:cNvSpPr>
          <p:nvPr/>
        </p:nvSpPr>
        <p:spPr>
          <a:xfrm>
            <a:off x="10146488" y="3718483"/>
            <a:ext cx="8191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€60</a:t>
            </a:r>
          </a:p>
        </p:txBody>
      </p:sp>
      <p:sp>
        <p:nvSpPr>
          <p:cNvPr id="28" name="€30">
            <a:extLst>
              <a:ext uri="{FF2B5EF4-FFF2-40B4-BE49-F238E27FC236}">
                <a16:creationId xmlns:a16="http://schemas.microsoft.com/office/drawing/2014/main" id="{855EEA4B-9E51-4BBE-9D7A-1D69368683FB}"/>
              </a:ext>
            </a:extLst>
          </p:cNvPr>
          <p:cNvSpPr>
            <a:spLocks noGrp="1"/>
          </p:cNvSpPr>
          <p:nvPr/>
        </p:nvSpPr>
        <p:spPr>
          <a:xfrm>
            <a:off x="9970276" y="5227778"/>
            <a:ext cx="7620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€30</a:t>
            </a:r>
          </a:p>
        </p:txBody>
      </p:sp>
      <p:sp>
        <p:nvSpPr>
          <p:cNvPr id="29" name="Stesso esito finale, riferimenti differenti">
            <a:extLst>
              <a:ext uri="{FF2B5EF4-FFF2-40B4-BE49-F238E27FC236}">
                <a16:creationId xmlns:a16="http://schemas.microsoft.com/office/drawing/2014/main" id="{248F21EE-4541-4D70-A3F5-3D2DE5C4EE84}"/>
              </a:ext>
            </a:extLst>
          </p:cNvPr>
          <p:cNvSpPr>
            <a:spLocks noGrp="1"/>
          </p:cNvSpPr>
          <p:nvPr/>
        </p:nvSpPr>
        <p:spPr>
          <a:xfrm>
            <a:off x="6562725" y="5695950"/>
            <a:ext cx="48768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Stesso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esito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finale,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riferimenti</a:t>
            </a:r>
            <a:r>
              <a:rPr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</a:t>
            </a:r>
            <a:r>
              <a:rPr sz="1650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differenti</a:t>
            </a:r>
            <a:r>
              <a:rPr lang="it-IT" sz="1650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: effetto di framing</a:t>
            </a:r>
            <a:endParaRPr sz="1650" b="0" dirty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77258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ezione">
            <a:extLst>
              <a:ext uri="{FF2B5EF4-FFF2-40B4-BE49-F238E27FC236}">
                <a16:creationId xmlns:a16="http://schemas.microsoft.com/office/drawing/2014/main" id="{47FA95EB-BC00-4745-B618-396F6C7A69F4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Ipotesi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2FB4E484-5211-4E72-9F2C-D30C112C874D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H1 · Dominio e ricerca di confronto sociale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1E136A3A-34FF-4C23-94FC-44176A037032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04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510142C-15B1-4CCF-AB6F-CE570A6DCC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104900" y="2632563"/>
            <a:ext cx="9982200" cy="1535723"/>
          </a:xfrm>
          <a:prstGeom prst="rect">
            <a:avLst/>
          </a:prstGeom>
        </p:spPr>
      </p:pic>
      <p:sp>
        <p:nvSpPr>
          <p:cNvPr id="5" name="Previsione: meno ricerca nella perdita">
            <a:extLst>
              <a:ext uri="{FF2B5EF4-FFF2-40B4-BE49-F238E27FC236}">
                <a16:creationId xmlns:a16="http://schemas.microsoft.com/office/drawing/2014/main" id="{0684A37E-A8AA-4885-901E-AB27873C5BBB}"/>
              </a:ext>
            </a:extLst>
          </p:cNvPr>
          <p:cNvSpPr>
            <a:spLocks noGrp="1"/>
          </p:cNvSpPr>
          <p:nvPr/>
        </p:nvSpPr>
        <p:spPr>
          <a:xfrm>
            <a:off x="1104900" y="4791075"/>
            <a:ext cx="99822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Previsione: meno ricerca nella perdita</a:t>
            </a:r>
          </a:p>
        </p:txBody>
      </p:sp>
    </p:spTree>
    <p:extLst>
      <p:ext uri="{BB962C8B-B14F-4D97-AF65-F5344CB8AC3E}">
        <p14:creationId xmlns:p14="http://schemas.microsoft.com/office/powerpoint/2010/main" val="380495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ezione">
            <a:extLst>
              <a:ext uri="{FF2B5EF4-FFF2-40B4-BE49-F238E27FC236}">
                <a16:creationId xmlns:a16="http://schemas.microsoft.com/office/drawing/2014/main" id="{815D9FE2-06DA-4BFE-A7B6-4CFB5BBC0139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Ipotesi</a:t>
            </a:r>
          </a:p>
        </p:txBody>
      </p:sp>
      <p:sp>
        <p:nvSpPr>
          <p:cNvPr id="103" name="Titolo">
            <a:extLst>
              <a:ext uri="{FF2B5EF4-FFF2-40B4-BE49-F238E27FC236}">
                <a16:creationId xmlns:a16="http://schemas.microsoft.com/office/drawing/2014/main" id="{2A2B3C2C-E2D0-41B1-895E-7BED8FCA82DE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H2 · Modello di mediazione e razionale</a:t>
            </a:r>
          </a:p>
        </p:txBody>
      </p:sp>
      <p:sp>
        <p:nvSpPr>
          <p:cNvPr id="104" name="Numero">
            <a:extLst>
              <a:ext uri="{FF2B5EF4-FFF2-40B4-BE49-F238E27FC236}">
                <a16:creationId xmlns:a16="http://schemas.microsoft.com/office/drawing/2014/main" id="{6866F84C-2EA7-4239-AB2E-C8A8B02E491A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05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5" name="H2a · Più identificazione">
            <a:extLst>
              <a:ext uri="{FF2B5EF4-FFF2-40B4-BE49-F238E27FC236}">
                <a16:creationId xmlns:a16="http://schemas.microsoft.com/office/drawing/2014/main" id="{43E6F7E3-A569-44AD-A6BF-1A2D2038C1C2}"/>
              </a:ext>
            </a:extLst>
          </p:cNvPr>
          <p:cNvSpPr>
            <a:spLocks noGrp="1"/>
          </p:cNvSpPr>
          <p:nvPr/>
        </p:nvSpPr>
        <p:spPr>
          <a:xfrm>
            <a:off x="3162300" y="1714500"/>
            <a:ext cx="27432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H2a · Più identificazione</a:t>
            </a:r>
          </a:p>
        </p:txBody>
      </p:sp>
      <p:sp>
        <p:nvSpPr>
          <p:cNvPr id="106" name="H2b · Meno ricerca">
            <a:extLst>
              <a:ext uri="{FF2B5EF4-FFF2-40B4-BE49-F238E27FC236}">
                <a16:creationId xmlns:a16="http://schemas.microsoft.com/office/drawing/2014/main" id="{260C92A2-0931-423A-AB39-8149E4506C56}"/>
              </a:ext>
            </a:extLst>
          </p:cNvPr>
          <p:cNvSpPr>
            <a:spLocks noGrp="1"/>
          </p:cNvSpPr>
          <p:nvPr/>
        </p:nvSpPr>
        <p:spPr>
          <a:xfrm>
            <a:off x="6657975" y="1714500"/>
            <a:ext cx="24860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H2b · Meno ricerca</a:t>
            </a:r>
          </a:p>
        </p:txBody>
      </p:sp>
      <p:pic>
        <p:nvPicPr>
          <p:cNvPr id="107" name="Immagine 106">
            <a:extLst>
              <a:ext uri="{FF2B5EF4-FFF2-40B4-BE49-F238E27FC236}">
                <a16:creationId xmlns:a16="http://schemas.microsoft.com/office/drawing/2014/main" id="{98344270-A73B-424F-AECE-266C0BFBE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452563" y="2076450"/>
            <a:ext cx="9286875" cy="1428750"/>
          </a:xfrm>
          <a:prstGeom prst="rect">
            <a:avLst/>
          </a:prstGeom>
        </p:spPr>
      </p:pic>
      <p:sp>
        <p:nvSpPr>
          <p:cNvPr id="114" name="Connettore diritto 113">
            <a:extLst>
              <a:ext uri="{FF2B5EF4-FFF2-40B4-BE49-F238E27FC236}">
                <a16:creationId xmlns:a16="http://schemas.microsoft.com/office/drawing/2014/main" id="{6A3E6ED8-79A8-4F2B-85D8-F281B4234D4D}"/>
              </a:ext>
            </a:extLst>
          </p:cNvPr>
          <p:cNvSpPr>
            <a:spLocks noGrp="1"/>
          </p:cNvSpPr>
          <p:nvPr/>
        </p:nvSpPr>
        <p:spPr>
          <a:xfrm>
            <a:off x="742950" y="5600700"/>
            <a:ext cx="10706100" cy="0"/>
          </a:xfrm>
          <a:prstGeom prst="line">
            <a:avLst/>
          </a:prstGeom>
          <a:noFill/>
          <a:ln w="14288">
            <a:solidFill>
              <a:srgbClr val="C4C4C4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115" name="Risposta empatica, disagio e intenzione di evitare: meccanis">
            <a:extLst>
              <a:ext uri="{FF2B5EF4-FFF2-40B4-BE49-F238E27FC236}">
                <a16:creationId xmlns:a16="http://schemas.microsoft.com/office/drawing/2014/main" id="{21E7B4E2-62DA-4E4A-9E4B-493E8B72248A}"/>
              </a:ext>
            </a:extLst>
          </p:cNvPr>
          <p:cNvSpPr>
            <a:spLocks noGrp="1"/>
          </p:cNvSpPr>
          <p:nvPr/>
        </p:nvSpPr>
        <p:spPr>
          <a:xfrm>
            <a:off x="742950" y="5753100"/>
            <a:ext cx="107061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Risposta empatica, disagio e intenzione di evitare: meccanismi non misurati</a:t>
            </a:r>
          </a:p>
        </p:txBody>
      </p:sp>
      <p:sp>
        <p:nvSpPr>
          <p:cNvPr id="116" name="Maki et al. (2019); Drury et al. (2016); Hein et al. (2010);">
            <a:extLst>
              <a:ext uri="{FF2B5EF4-FFF2-40B4-BE49-F238E27FC236}">
                <a16:creationId xmlns:a16="http://schemas.microsoft.com/office/drawing/2014/main" id="{3C519BD0-8F03-43C6-AF66-E779E3E0FD48}"/>
              </a:ext>
            </a:extLst>
          </p:cNvPr>
          <p:cNvSpPr>
            <a:spLocks noGrp="1"/>
          </p:cNvSpPr>
          <p:nvPr/>
        </p:nvSpPr>
        <p:spPr>
          <a:xfrm>
            <a:off x="742950" y="6143625"/>
            <a:ext cx="107061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275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Razionale di H2b: </a:t>
            </a:r>
            <a:r>
              <a:rPr sz="12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Hein et al. (2010); Singer &amp; </a:t>
            </a:r>
            <a:r>
              <a:rPr sz="1275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Klimecki</a:t>
            </a:r>
            <a:r>
              <a:rPr sz="12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(2014)</a:t>
            </a:r>
          </a:p>
        </p:txBody>
      </p:sp>
      <p:sp>
        <p:nvSpPr>
          <p:cNvPr id="500" name="Razionale H2b">
            <a:extLst>
              <a:ext uri="{FF2B5EF4-FFF2-40B4-BE49-F238E27FC236}">
                <a16:creationId xmlns:a16="http://schemas.microsoft.com/office/drawing/2014/main" id="{19A71DC5-7561-47FF-BA5B-3556FFECBEA4}"/>
              </a:ext>
            </a:extLst>
          </p:cNvPr>
          <p:cNvSpPr>
            <a:spLocks noGrp="1"/>
          </p:cNvSpPr>
          <p:nvPr/>
        </p:nvSpPr>
        <p:spPr>
          <a:xfrm>
            <a:off x="742950" y="3743325"/>
            <a:ext cx="107061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Razionale di H2b</a:t>
            </a:r>
          </a:p>
        </p:txBody>
      </p:sp>
      <p:sp>
        <p:nvSpPr>
          <p:cNvPr id="700" name="Nodo Identificazione">
            <a:extLst>
              <a:ext uri="{FF2B5EF4-FFF2-40B4-BE49-F238E27FC236}">
                <a16:creationId xmlns:a16="http://schemas.microsoft.com/office/drawing/2014/main" id="{73088928-A91E-4EAA-A8D8-FD7CE83B7160}"/>
              </a:ext>
            </a:extLst>
          </p:cNvPr>
          <p:cNvSpPr>
            <a:spLocks noGrp="1"/>
          </p:cNvSpPr>
          <p:nvPr/>
        </p:nvSpPr>
        <p:spPr>
          <a:xfrm>
            <a:off x="742950" y="4581525"/>
            <a:ext cx="1733550" cy="857250"/>
          </a:xfrm>
          <a:prstGeom prst="roundRect">
            <a:avLst>
              <a:gd name="adj" fmla="val 11111"/>
            </a:avLst>
          </a:prstGeom>
          <a:solidFill>
            <a:srgbClr val="F1F1F1"/>
          </a:solidFill>
          <a:ln w="14288">
            <a:solidFill>
              <a:srgbClr val="969696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01" name="Identificazione">
            <a:extLst>
              <a:ext uri="{FF2B5EF4-FFF2-40B4-BE49-F238E27FC236}">
                <a16:creationId xmlns:a16="http://schemas.microsoft.com/office/drawing/2014/main" id="{CB2E62CD-1075-4436-A9A5-2A7C40473BCF}"/>
              </a:ext>
            </a:extLst>
          </p:cNvPr>
          <p:cNvSpPr>
            <a:spLocks noGrp="1"/>
          </p:cNvSpPr>
          <p:nvPr/>
        </p:nvSpPr>
        <p:spPr>
          <a:xfrm>
            <a:off x="809625" y="4648200"/>
            <a:ext cx="16002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6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Identificazione</a:t>
            </a:r>
          </a:p>
        </p:txBody>
      </p:sp>
      <p:sp>
        <p:nvSpPr>
          <p:cNvPr id="702" name="Freccia 1">
            <a:extLst>
              <a:ext uri="{FF2B5EF4-FFF2-40B4-BE49-F238E27FC236}">
                <a16:creationId xmlns:a16="http://schemas.microsoft.com/office/drawing/2014/main" id="{5ECEBA91-ABAE-4250-BD79-F770F85D31C4}"/>
              </a:ext>
            </a:extLst>
          </p:cNvPr>
          <p:cNvSpPr>
            <a:spLocks noGrp="1"/>
          </p:cNvSpPr>
          <p:nvPr/>
        </p:nvSpPr>
        <p:spPr>
          <a:xfrm>
            <a:off x="2590800" y="4914900"/>
            <a:ext cx="266700" cy="190500"/>
          </a:xfrm>
          <a:prstGeom prst="rightArrow">
            <a:avLst/>
          </a:prstGeom>
          <a:solidFill>
            <a:srgbClr val="707070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03" name="Nodo Risposta empatica">
            <a:extLst>
              <a:ext uri="{FF2B5EF4-FFF2-40B4-BE49-F238E27FC236}">
                <a16:creationId xmlns:a16="http://schemas.microsoft.com/office/drawing/2014/main" id="{CA8525FF-1A59-4B88-9491-FA49CC661FCF}"/>
              </a:ext>
            </a:extLst>
          </p:cNvPr>
          <p:cNvSpPr>
            <a:spLocks noGrp="1"/>
          </p:cNvSpPr>
          <p:nvPr/>
        </p:nvSpPr>
        <p:spPr>
          <a:xfrm>
            <a:off x="2971800" y="4581525"/>
            <a:ext cx="1733550" cy="857250"/>
          </a:xfrm>
          <a:prstGeom prst="roundRect">
            <a:avLst>
              <a:gd name="adj" fmla="val 11111"/>
            </a:avLst>
          </a:prstGeom>
          <a:solidFill>
            <a:srgbClr val="F1F1F1"/>
          </a:solidFill>
          <a:ln w="14288">
            <a:solidFill>
              <a:srgbClr val="969696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04" name="Risposta empatica">
            <a:extLst>
              <a:ext uri="{FF2B5EF4-FFF2-40B4-BE49-F238E27FC236}">
                <a16:creationId xmlns:a16="http://schemas.microsoft.com/office/drawing/2014/main" id="{DBBBEC19-A282-4BAD-B2F1-93CF52E00E36}"/>
              </a:ext>
            </a:extLst>
          </p:cNvPr>
          <p:cNvSpPr>
            <a:spLocks noGrp="1"/>
          </p:cNvSpPr>
          <p:nvPr/>
        </p:nvSpPr>
        <p:spPr>
          <a:xfrm>
            <a:off x="3038475" y="4648200"/>
            <a:ext cx="16002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Risposta</a:t>
            </a:r>
          </a:p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empatica</a:t>
            </a:r>
          </a:p>
        </p:txBody>
      </p:sp>
      <p:sp>
        <p:nvSpPr>
          <p:cNvPr id="705" name="Freccia 2">
            <a:extLst>
              <a:ext uri="{FF2B5EF4-FFF2-40B4-BE49-F238E27FC236}">
                <a16:creationId xmlns:a16="http://schemas.microsoft.com/office/drawing/2014/main" id="{051EB712-ED59-41D9-9957-6EA12E4EBE55}"/>
              </a:ext>
            </a:extLst>
          </p:cNvPr>
          <p:cNvSpPr>
            <a:spLocks noGrp="1"/>
          </p:cNvSpPr>
          <p:nvPr/>
        </p:nvSpPr>
        <p:spPr>
          <a:xfrm>
            <a:off x="4819650" y="4914900"/>
            <a:ext cx="266700" cy="190500"/>
          </a:xfrm>
          <a:prstGeom prst="rightArrow">
            <a:avLst/>
          </a:prstGeom>
          <a:solidFill>
            <a:srgbClr val="707070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06" name="Nodo Disagio personale">
            <a:extLst>
              <a:ext uri="{FF2B5EF4-FFF2-40B4-BE49-F238E27FC236}">
                <a16:creationId xmlns:a16="http://schemas.microsoft.com/office/drawing/2014/main" id="{00367781-E3D6-4AF2-9746-49B42EA0AD66}"/>
              </a:ext>
            </a:extLst>
          </p:cNvPr>
          <p:cNvSpPr>
            <a:spLocks noGrp="1"/>
          </p:cNvSpPr>
          <p:nvPr/>
        </p:nvSpPr>
        <p:spPr>
          <a:xfrm>
            <a:off x="5200650" y="4581525"/>
            <a:ext cx="1733550" cy="857250"/>
          </a:xfrm>
          <a:prstGeom prst="roundRect">
            <a:avLst>
              <a:gd name="adj" fmla="val 11111"/>
            </a:avLst>
          </a:prstGeom>
          <a:solidFill>
            <a:srgbClr val="F1F1F1"/>
          </a:solidFill>
          <a:ln w="14288">
            <a:solidFill>
              <a:srgbClr val="969696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07" name="Disagio personale">
            <a:extLst>
              <a:ext uri="{FF2B5EF4-FFF2-40B4-BE49-F238E27FC236}">
                <a16:creationId xmlns:a16="http://schemas.microsoft.com/office/drawing/2014/main" id="{5FFCD5EE-010B-4E55-8A98-384609083051}"/>
              </a:ext>
            </a:extLst>
          </p:cNvPr>
          <p:cNvSpPr>
            <a:spLocks noGrp="1"/>
          </p:cNvSpPr>
          <p:nvPr/>
        </p:nvSpPr>
        <p:spPr>
          <a:xfrm>
            <a:off x="5267325" y="4648200"/>
            <a:ext cx="16002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Disagio</a:t>
            </a:r>
          </a:p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personale</a:t>
            </a:r>
          </a:p>
        </p:txBody>
      </p:sp>
      <p:sp>
        <p:nvSpPr>
          <p:cNvPr id="708" name="Freccia 3">
            <a:extLst>
              <a:ext uri="{FF2B5EF4-FFF2-40B4-BE49-F238E27FC236}">
                <a16:creationId xmlns:a16="http://schemas.microsoft.com/office/drawing/2014/main" id="{8B160327-B42C-4D75-A4DE-1791321D2321}"/>
              </a:ext>
            </a:extLst>
          </p:cNvPr>
          <p:cNvSpPr>
            <a:spLocks noGrp="1"/>
          </p:cNvSpPr>
          <p:nvPr/>
        </p:nvSpPr>
        <p:spPr>
          <a:xfrm>
            <a:off x="7048500" y="4914900"/>
            <a:ext cx="266700" cy="190500"/>
          </a:xfrm>
          <a:prstGeom prst="rightArrow">
            <a:avLst/>
          </a:prstGeom>
          <a:solidFill>
            <a:srgbClr val="707070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09" name="Nodo Evitamento delle informazioni">
            <a:extLst>
              <a:ext uri="{FF2B5EF4-FFF2-40B4-BE49-F238E27FC236}">
                <a16:creationId xmlns:a16="http://schemas.microsoft.com/office/drawing/2014/main" id="{AF8FB065-BAAB-4CA0-9BC9-775FFA5CBA89}"/>
              </a:ext>
            </a:extLst>
          </p:cNvPr>
          <p:cNvSpPr>
            <a:spLocks noGrp="1"/>
          </p:cNvSpPr>
          <p:nvPr/>
        </p:nvSpPr>
        <p:spPr>
          <a:xfrm>
            <a:off x="7429500" y="4581525"/>
            <a:ext cx="1733550" cy="857250"/>
          </a:xfrm>
          <a:prstGeom prst="roundRect">
            <a:avLst>
              <a:gd name="adj" fmla="val 11111"/>
            </a:avLst>
          </a:prstGeom>
          <a:solidFill>
            <a:srgbClr val="F1F1F1"/>
          </a:solidFill>
          <a:ln w="14288">
            <a:solidFill>
              <a:srgbClr val="969696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10" name="Evitamento delle informazioni">
            <a:extLst>
              <a:ext uri="{FF2B5EF4-FFF2-40B4-BE49-F238E27FC236}">
                <a16:creationId xmlns:a16="http://schemas.microsoft.com/office/drawing/2014/main" id="{C76892A3-7E4D-4946-8A8F-375F81E5B3D1}"/>
              </a:ext>
            </a:extLst>
          </p:cNvPr>
          <p:cNvSpPr>
            <a:spLocks noGrp="1"/>
          </p:cNvSpPr>
          <p:nvPr/>
        </p:nvSpPr>
        <p:spPr>
          <a:xfrm>
            <a:off x="7496175" y="4648200"/>
            <a:ext cx="16002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Evitamento</a:t>
            </a:r>
          </a:p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delle</a:t>
            </a:r>
          </a:p>
          <a:p>
            <a:pPr algn="ctr">
              <a:defRPr sz="17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informazioni</a:t>
            </a:r>
          </a:p>
        </p:txBody>
      </p:sp>
      <p:sp>
        <p:nvSpPr>
          <p:cNvPr id="711" name="Freccia 4">
            <a:extLst>
              <a:ext uri="{FF2B5EF4-FFF2-40B4-BE49-F238E27FC236}">
                <a16:creationId xmlns:a16="http://schemas.microsoft.com/office/drawing/2014/main" id="{5BE043F2-4DD4-48DD-9846-625748469E8A}"/>
              </a:ext>
            </a:extLst>
          </p:cNvPr>
          <p:cNvSpPr>
            <a:spLocks noGrp="1"/>
          </p:cNvSpPr>
          <p:nvPr/>
        </p:nvSpPr>
        <p:spPr>
          <a:xfrm>
            <a:off x="9277350" y="4914900"/>
            <a:ext cx="266700" cy="190500"/>
          </a:xfrm>
          <a:prstGeom prst="rightArrow">
            <a:avLst/>
          </a:prstGeom>
          <a:solidFill>
            <a:srgbClr val="707070"/>
          </a:solidFill>
          <a:ln w="0"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712" name="Nodo Minore ricerca di confronto sociale">
            <a:extLst>
              <a:ext uri="{FF2B5EF4-FFF2-40B4-BE49-F238E27FC236}">
                <a16:creationId xmlns:a16="http://schemas.microsoft.com/office/drawing/2014/main" id="{89A5D118-691D-4E00-B403-3F3CF205E666}"/>
              </a:ext>
            </a:extLst>
          </p:cNvPr>
          <p:cNvSpPr>
            <a:spLocks noGrp="1"/>
          </p:cNvSpPr>
          <p:nvPr/>
        </p:nvSpPr>
        <p:spPr>
          <a:xfrm>
            <a:off x="9658350" y="4581525"/>
            <a:ext cx="1790700" cy="857250"/>
          </a:xfrm>
          <a:prstGeom prst="roundRect">
            <a:avLst>
              <a:gd name="adj" fmla="val 11111"/>
            </a:avLst>
          </a:prstGeom>
          <a:solidFill>
            <a:srgbClr val="F1F1F1"/>
          </a:solidFill>
          <a:ln w="14288">
            <a:solidFill>
              <a:srgbClr val="AA0004"/>
            </a:solidFill>
          </a:ln>
        </p:spPr>
        <p:txBody>
          <a:bodyPr/>
          <a:lstStyle/>
          <a:p>
            <a:endParaRPr lang="it-IT"/>
          </a:p>
        </p:txBody>
      </p:sp>
      <p:sp>
        <p:nvSpPr>
          <p:cNvPr id="713" name="Minore ricerca di confronto sociale">
            <a:extLst>
              <a:ext uri="{FF2B5EF4-FFF2-40B4-BE49-F238E27FC236}">
                <a16:creationId xmlns:a16="http://schemas.microsoft.com/office/drawing/2014/main" id="{A2A6FE31-DC69-4618-A90C-B9A752C08BCA}"/>
              </a:ext>
            </a:extLst>
          </p:cNvPr>
          <p:cNvSpPr>
            <a:spLocks noGrp="1"/>
          </p:cNvSpPr>
          <p:nvPr/>
        </p:nvSpPr>
        <p:spPr>
          <a:xfrm>
            <a:off x="9725025" y="4648200"/>
            <a:ext cx="165735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7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Minore ricerca</a:t>
            </a:r>
          </a:p>
          <a:p>
            <a:pPr algn="ctr">
              <a:defRPr sz="17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di confronto</a:t>
            </a:r>
          </a:p>
          <a:p>
            <a:pPr algn="ctr">
              <a:defRPr sz="17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sociale</a:t>
            </a:r>
          </a:p>
        </p:txBody>
      </p:sp>
      <p:sp>
        <p:nvSpPr>
          <p:cNvPr id="714" name="Condizione del disagio">
            <a:extLst>
              <a:ext uri="{FF2B5EF4-FFF2-40B4-BE49-F238E27FC236}">
                <a16:creationId xmlns:a16="http://schemas.microsoft.com/office/drawing/2014/main" id="{4D686EE3-3FA0-4860-AA25-B68F3842A08F}"/>
              </a:ext>
            </a:extLst>
          </p:cNvPr>
          <p:cNvSpPr>
            <a:spLocks noGrp="1"/>
          </p:cNvSpPr>
          <p:nvPr/>
        </p:nvSpPr>
        <p:spPr>
          <a:xfrm>
            <a:off x="4219575" y="4143375"/>
            <a:ext cx="14478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se vissuta</a:t>
            </a:r>
          </a:p>
          <a:p>
            <a:pPr algn="ct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come</a:t>
            </a:r>
          </a:p>
        </p:txBody>
      </p:sp>
      <p:sp>
        <p:nvSpPr>
          <p:cNvPr id="715" name="Motivo dell’evitamento">
            <a:extLst>
              <a:ext uri="{FF2B5EF4-FFF2-40B4-BE49-F238E27FC236}">
                <a16:creationId xmlns:a16="http://schemas.microsoft.com/office/drawing/2014/main" id="{CEBE9F30-8673-46A1-92AB-A1192E908DF4}"/>
              </a:ext>
            </a:extLst>
          </p:cNvPr>
          <p:cNvSpPr>
            <a:spLocks noGrp="1"/>
          </p:cNvSpPr>
          <p:nvPr/>
        </p:nvSpPr>
        <p:spPr>
          <a:xfrm>
            <a:off x="6496050" y="4143375"/>
            <a:ext cx="1352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ct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per ridurre</a:t>
            </a:r>
          </a:p>
          <a:p>
            <a:pPr algn="ct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il disagio</a:t>
            </a:r>
          </a:p>
        </p:txBody>
      </p:sp>
      <p:sp>
        <p:nvSpPr>
          <p:cNvPr id="716" name="Stato del meccanismo">
            <a:extLst>
              <a:ext uri="{FF2B5EF4-FFF2-40B4-BE49-F238E27FC236}">
                <a16:creationId xmlns:a16="http://schemas.microsoft.com/office/drawing/2014/main" id="{C18D143B-8D9D-4A07-8CF8-EE6745029755}"/>
              </a:ext>
            </a:extLst>
          </p:cNvPr>
          <p:cNvSpPr>
            <a:spLocks noGrp="1"/>
          </p:cNvSpPr>
          <p:nvPr/>
        </p:nvSpPr>
        <p:spPr>
          <a:xfrm>
            <a:off x="9010650" y="3800475"/>
            <a:ext cx="2438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Percorso ipotizzato</a:t>
            </a:r>
          </a:p>
        </p:txBody>
      </p:sp>
    </p:spTree>
    <p:extLst>
      <p:ext uri="{BB962C8B-B14F-4D97-AF65-F5344CB8AC3E}">
        <p14:creationId xmlns:p14="http://schemas.microsoft.com/office/powerpoint/2010/main" val="1305859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ezione">
            <a:extLst>
              <a:ext uri="{FF2B5EF4-FFF2-40B4-BE49-F238E27FC236}">
                <a16:creationId xmlns:a16="http://schemas.microsoft.com/office/drawing/2014/main" id="{06CD231B-3186-4D68-80D8-73D80E80232B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Ipotesi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6B7BA9CB-AF14-4379-A0EF-5A608F106002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H3 · Possibilità di confronto verso l’alto</a:t>
            </a:r>
          </a:p>
        </p:txBody>
      </p:sp>
      <p:sp>
        <p:nvSpPr>
          <p:cNvPr id="3" name="Gerber et al. (2018)">
            <a:extLst>
              <a:ext uri="{FF2B5EF4-FFF2-40B4-BE49-F238E27FC236}">
                <a16:creationId xmlns:a16="http://schemas.microsoft.com/office/drawing/2014/main" id="{80D6E2AB-2BCD-4ED0-874F-70D698A8AA4E}"/>
              </a:ext>
            </a:extLst>
          </p:cNvPr>
          <p:cNvSpPr>
            <a:spLocks noGrp="1"/>
          </p:cNvSpPr>
          <p:nvPr/>
        </p:nvSpPr>
        <p:spPr>
          <a:xfrm>
            <a:off x="742950" y="6124575"/>
            <a:ext cx="105727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Gerber et al. (2018)</a:t>
            </a:r>
          </a:p>
        </p:txBody>
      </p:sp>
      <p:sp>
        <p:nvSpPr>
          <p:cNvPr id="4" name="07">
            <a:extLst>
              <a:ext uri="{FF2B5EF4-FFF2-40B4-BE49-F238E27FC236}">
                <a16:creationId xmlns:a16="http://schemas.microsoft.com/office/drawing/2014/main" id="{94A88F16-05AB-42E8-956E-779A88978D30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06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CC5BD804-CD3D-4A37-945D-7CC5242298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104900" y="2632563"/>
            <a:ext cx="9982200" cy="1535723"/>
          </a:xfrm>
          <a:prstGeom prst="rect">
            <a:avLst/>
          </a:prstGeom>
        </p:spPr>
      </p:pic>
      <p:sp>
        <p:nvSpPr>
          <p:cNvPr id="6" name="Previsione: più ricerca quando il confronto&#10;verso l’alto è p">
            <a:extLst>
              <a:ext uri="{FF2B5EF4-FFF2-40B4-BE49-F238E27FC236}">
                <a16:creationId xmlns:a16="http://schemas.microsoft.com/office/drawing/2014/main" id="{5B930321-7BBC-4623-871D-353708D11097}"/>
              </a:ext>
            </a:extLst>
          </p:cNvPr>
          <p:cNvSpPr>
            <a:spLocks noGrp="1"/>
          </p:cNvSpPr>
          <p:nvPr/>
        </p:nvSpPr>
        <p:spPr>
          <a:xfrm>
            <a:off x="1104900" y="4762500"/>
            <a:ext cx="99822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Previsione: più ricerca quando il confronto</a:t>
            </a:r>
          </a:p>
          <a:p>
            <a:pPr algn="ctr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verso l’alto è possibile</a:t>
            </a:r>
          </a:p>
        </p:txBody>
      </p:sp>
    </p:spTree>
    <p:extLst>
      <p:ext uri="{BB962C8B-B14F-4D97-AF65-F5344CB8AC3E}">
        <p14:creationId xmlns:p14="http://schemas.microsoft.com/office/powerpoint/2010/main" val="16416250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ezione">
            <a:extLst>
              <a:ext uri="{FF2B5EF4-FFF2-40B4-BE49-F238E27FC236}">
                <a16:creationId xmlns:a16="http://schemas.microsoft.com/office/drawing/2014/main" id="{EAFD2845-EB9B-4F35-8E96-4B1A8AA062AB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Metodo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4695D0C1-4472-4CB8-8D95-77CDA14A2D09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Disegno sperimentale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64F3376E-D598-46E3-AFD1-196D53A3EBC9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07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Due blocchi entro soggetti, ordine randomizzato">
            <a:extLst>
              <a:ext uri="{FF2B5EF4-FFF2-40B4-BE49-F238E27FC236}">
                <a16:creationId xmlns:a16="http://schemas.microsoft.com/office/drawing/2014/main" id="{4E393A65-46C2-4EC2-B58E-144EF03A5B88}"/>
              </a:ext>
            </a:extLst>
          </p:cNvPr>
          <p:cNvSpPr>
            <a:spLocks noGrp="1"/>
          </p:cNvSpPr>
          <p:nvPr/>
        </p:nvSpPr>
        <p:spPr>
          <a:xfrm>
            <a:off x="742950" y="1733550"/>
            <a:ext cx="107061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1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1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Disegno entro soggetti; ordine dei blocchi randomizzato</a:t>
            </a:r>
          </a:p>
          <a:p>
            <a:pPr algn="l">
              <a:defRPr sz="21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Compito</a:t>
            </a:r>
            <a:r>
              <a:rPr sz="21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con roulette: 2 </a:t>
            </a:r>
            <a:r>
              <a:rPr sz="21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blocchi</a:t>
            </a:r>
            <a:r>
              <a:rPr sz="21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× 3 trial (6 trial </a:t>
            </a:r>
            <a:r>
              <a:rPr sz="210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totali</a:t>
            </a:r>
            <a:r>
              <a:rPr sz="210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5" name="Guadagno">
            <a:extLst>
              <a:ext uri="{FF2B5EF4-FFF2-40B4-BE49-F238E27FC236}">
                <a16:creationId xmlns:a16="http://schemas.microsoft.com/office/drawing/2014/main" id="{8AB5FFE5-A299-497F-948A-1F34873DC658}"/>
              </a:ext>
            </a:extLst>
          </p:cNvPr>
          <p:cNvSpPr>
            <a:spLocks noGrp="1"/>
          </p:cNvSpPr>
          <p:nvPr/>
        </p:nvSpPr>
        <p:spPr>
          <a:xfrm>
            <a:off x="742950" y="2466975"/>
            <a:ext cx="4943475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Guadagno</a:t>
            </a:r>
          </a:p>
        </p:txBody>
      </p:sp>
      <p:sp>
        <p:nvSpPr>
          <p:cNvPr id="6" name="Dotazione iniziale: $0">
            <a:extLst>
              <a:ext uri="{FF2B5EF4-FFF2-40B4-BE49-F238E27FC236}">
                <a16:creationId xmlns:a16="http://schemas.microsoft.com/office/drawing/2014/main" id="{625438B8-7C70-463F-8C8F-11C26BCED0FB}"/>
              </a:ext>
            </a:extLst>
          </p:cNvPr>
          <p:cNvSpPr>
            <a:spLocks noGrp="1"/>
          </p:cNvSpPr>
          <p:nvPr/>
        </p:nvSpPr>
        <p:spPr>
          <a:xfrm>
            <a:off x="742950" y="2943225"/>
            <a:ext cx="4953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Dotazione iniziale: $0</a:t>
            </a:r>
          </a:p>
        </p:txBody>
      </p:sp>
      <p:sp>
        <p:nvSpPr>
          <p:cNvPr id="7" name="Perdita">
            <a:extLst>
              <a:ext uri="{FF2B5EF4-FFF2-40B4-BE49-F238E27FC236}">
                <a16:creationId xmlns:a16="http://schemas.microsoft.com/office/drawing/2014/main" id="{6D340237-8A27-41C0-B6C1-FDD3EC8192B5}"/>
              </a:ext>
            </a:extLst>
          </p:cNvPr>
          <p:cNvSpPr>
            <a:spLocks noGrp="1"/>
          </p:cNvSpPr>
          <p:nvPr/>
        </p:nvSpPr>
        <p:spPr>
          <a:xfrm>
            <a:off x="6572250" y="2466975"/>
            <a:ext cx="48768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Perdita</a:t>
            </a:r>
          </a:p>
        </p:txBody>
      </p:sp>
      <p:sp>
        <p:nvSpPr>
          <p:cNvPr id="8" name="Dotazione iniziale: $60">
            <a:extLst>
              <a:ext uri="{FF2B5EF4-FFF2-40B4-BE49-F238E27FC236}">
                <a16:creationId xmlns:a16="http://schemas.microsoft.com/office/drawing/2014/main" id="{F6231C0A-17B1-4ADA-B53D-B5E036671258}"/>
              </a:ext>
            </a:extLst>
          </p:cNvPr>
          <p:cNvSpPr>
            <a:spLocks noGrp="1"/>
          </p:cNvSpPr>
          <p:nvPr/>
        </p:nvSpPr>
        <p:spPr>
          <a:xfrm>
            <a:off x="6572250" y="2943225"/>
            <a:ext cx="48768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Dotazione iniziale: $60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619FB96-C7E8-41D8-A85D-EE03B93F2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7686764"/>
              </p:ext>
            </p:extLst>
          </p:nvPr>
        </p:nvGraphicFramePr>
        <p:xfrm>
          <a:off x="742950" y="3600450"/>
          <a:ext cx="10706100" cy="2009775"/>
        </p:xfrm>
        <a:graphic>
          <a:graphicData uri="http://schemas.openxmlformats.org/drawingml/2006/table">
            <a:tbl>
              <a:tblPr/>
              <a:tblGrid>
                <a:gridCol w="1476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90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09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Roulette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Guadagno: variazioni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Perdita: variazioni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Importi finali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$10 / </a:t>
                      </a:r>
                      <a:r>
                        <a:rPr lang="it-IT"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−$50 / −$40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$10 / $20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$10 / </a:t>
                      </a:r>
                      <a:r>
                        <a:rPr lang="it-IT"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$30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−$50 / −$30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$10 / $30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48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$10 / </a:t>
                      </a:r>
                      <a:r>
                        <a:rPr lang="it-IT"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+</a:t>
                      </a:r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−$50 / −$10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$10 / $50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Due esiti equiprobabili per roulette. Importi finali abbinat">
            <a:extLst>
              <a:ext uri="{FF2B5EF4-FFF2-40B4-BE49-F238E27FC236}">
                <a16:creationId xmlns:a16="http://schemas.microsoft.com/office/drawing/2014/main" id="{FC51EEF6-AFF7-4D48-92EC-A4FED51F85B7}"/>
              </a:ext>
            </a:extLst>
          </p:cNvPr>
          <p:cNvSpPr>
            <a:spLocks noGrp="1"/>
          </p:cNvSpPr>
          <p:nvPr/>
        </p:nvSpPr>
        <p:spPr>
          <a:xfrm>
            <a:off x="742950" y="5800725"/>
            <a:ext cx="107061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Due esiti equiprobabili per roulette. Importi finali abbinati tra domini.</a:t>
            </a:r>
          </a:p>
        </p:txBody>
      </p:sp>
      <p:sp>
        <p:nvSpPr>
          <p:cNvPr id="9004" name="Apri la demo della roulette"/>
          <p:cNvSpPr>
            <a:spLocks noGrp="1"/>
          </p:cNvSpPr>
          <p:nvPr/>
        </p:nvSpPr>
        <p:spPr>
          <a:xfrm>
            <a:off x="8905875" y="1390650"/>
            <a:ext cx="2543175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 u="sng">
                <a:solidFill>
                  <a:srgbClr val="AD00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50" b="0" u="sng">
                <a:solidFill>
                  <a:srgbClr val="AD0000"/>
                </a:solidFill>
                <a:latin typeface="Arial"/>
                <a:ea typeface="Arial"/>
                <a:cs typeface="Arial"/>
              </a:defRPr>
            </a:pPr>
            <a:r>
              <a:rPr lang="it-IT" sz="1650" u="sng" dirty="0">
                <a:solidFill>
                  <a:srgbClr val="AD0000"/>
                </a:solidFill>
                <a:latin typeface="Arial"/>
                <a:ea typeface="Arial"/>
                <a:cs typeface="Arial"/>
                <a:hlinkClick r:id="rId4"/>
              </a:rPr>
              <a:t>Link esperimento</a:t>
            </a:r>
            <a:endParaRPr sz="1650" b="0" u="sng" dirty="0">
              <a:solidFill>
                <a:srgbClr val="AD0000"/>
              </a:solidFill>
              <a:latin typeface="Arial"/>
              <a:ea typeface="Arial"/>
              <a:cs typeface="Arial"/>
              <a:hlinkClick r:id="rId4"/>
            </a:endParaRPr>
          </a:p>
        </p:txBody>
      </p:sp>
      <p:sp>
        <p:nvSpPr>
          <p:cNvPr id="9100" name="Campione finale">
            <a:extLst>
              <a:ext uri="{FF2B5EF4-FFF2-40B4-BE49-F238E27FC236}">
                <a16:creationId xmlns:a16="http://schemas.microsoft.com/office/drawing/2014/main" id="{6BD98375-88E6-4A76-8473-A7895176B1D9}"/>
              </a:ext>
            </a:extLst>
          </p:cNvPr>
          <p:cNvSpPr>
            <a:spLocks noGrp="1"/>
          </p:cNvSpPr>
          <p:nvPr/>
        </p:nvSpPr>
        <p:spPr>
          <a:xfrm>
            <a:off x="8096250" y="1066800"/>
            <a:ext cx="33528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Campione </a:t>
            </a:r>
            <a:r>
              <a:rPr lang="it-IT" sz="1650" b="1" dirty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analitico</a:t>
            </a:r>
            <a:r>
              <a:rPr sz="1650" b="1" dirty="0">
                <a:solidFill>
                  <a:srgbClr val="444444"/>
                </a:solidFill>
                <a:latin typeface="Arial"/>
                <a:ea typeface="Arial"/>
                <a:cs typeface="Arial"/>
              </a:rPr>
              <a:t>: N = 140</a:t>
            </a:r>
          </a:p>
        </p:txBody>
      </p:sp>
    </p:spTree>
    <p:extLst>
      <p:ext uri="{BB962C8B-B14F-4D97-AF65-F5344CB8AC3E}">
        <p14:creationId xmlns:p14="http://schemas.microsoft.com/office/powerpoint/2010/main" val="16337446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ezione">
            <a:extLst>
              <a:ext uri="{FF2B5EF4-FFF2-40B4-BE49-F238E27FC236}">
                <a16:creationId xmlns:a16="http://schemas.microsoft.com/office/drawing/2014/main" id="{4D063567-D9B6-402C-8DCC-3ED614604AB9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Metodo</a:t>
            </a:r>
          </a:p>
        </p:txBody>
      </p:sp>
      <p:sp>
        <p:nvSpPr>
          <p:cNvPr id="103" name="Titolo">
            <a:extLst>
              <a:ext uri="{FF2B5EF4-FFF2-40B4-BE49-F238E27FC236}">
                <a16:creationId xmlns:a16="http://schemas.microsoft.com/office/drawing/2014/main" id="{CEE2BB5C-98B8-4ADC-969D-BEC4A8DA0392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Procedura di richiesta degli esiti</a:t>
            </a:r>
          </a:p>
        </p:txBody>
      </p:sp>
      <p:sp>
        <p:nvSpPr>
          <p:cNvPr id="104" name="Numero">
            <a:extLst>
              <a:ext uri="{FF2B5EF4-FFF2-40B4-BE49-F238E27FC236}">
                <a16:creationId xmlns:a16="http://schemas.microsoft.com/office/drawing/2014/main" id="{373DF207-7DF5-4F53-830C-7257D2108A87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08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05" name="Immagine 104">
            <a:extLst>
              <a:ext uri="{FF2B5EF4-FFF2-40B4-BE49-F238E27FC236}">
                <a16:creationId xmlns:a16="http://schemas.microsoft.com/office/drawing/2014/main" id="{24D54304-759F-4965-83C8-39DDA742BF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2813" t="17813" r="781" b="9688"/>
          <a:stretch/>
        </p:blipFill>
        <p:spPr>
          <a:xfrm>
            <a:off x="742950" y="1809750"/>
            <a:ext cx="6438900" cy="4391025"/>
          </a:xfrm>
          <a:prstGeom prst="rect">
            <a:avLst/>
          </a:prstGeom>
        </p:spPr>
      </p:pic>
      <p:sp>
        <p:nvSpPr>
          <p:cNvPr id="106" name="1 · Giro ed esito personale">
            <a:extLst>
              <a:ext uri="{FF2B5EF4-FFF2-40B4-BE49-F238E27FC236}">
                <a16:creationId xmlns:a16="http://schemas.microsoft.com/office/drawing/2014/main" id="{E82AB091-933C-42E7-A5E6-93E24A02D5B9}"/>
              </a:ext>
            </a:extLst>
          </p:cNvPr>
          <p:cNvSpPr>
            <a:spLocks noGrp="1"/>
          </p:cNvSpPr>
          <p:nvPr/>
        </p:nvSpPr>
        <p:spPr>
          <a:xfrm>
            <a:off x="7524750" y="1781175"/>
            <a:ext cx="3924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1 · Giro ed esito personale</a:t>
            </a:r>
          </a:p>
        </p:txBody>
      </p:sp>
      <p:sp>
        <p:nvSpPr>
          <p:cNvPr id="107" name="Si osserva il proprio esito&#10;della roulette.">
            <a:extLst>
              <a:ext uri="{FF2B5EF4-FFF2-40B4-BE49-F238E27FC236}">
                <a16:creationId xmlns:a16="http://schemas.microsoft.com/office/drawing/2014/main" id="{D66BD648-1D47-49D2-AC6C-1748304C9718}"/>
              </a:ext>
            </a:extLst>
          </p:cNvPr>
          <p:cNvSpPr>
            <a:spLocks noGrp="1"/>
          </p:cNvSpPr>
          <p:nvPr/>
        </p:nvSpPr>
        <p:spPr>
          <a:xfrm>
            <a:off x="7524750" y="2219325"/>
            <a:ext cx="39243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Si osserva il proprio esito</a:t>
            </a: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della roulette.</a:t>
            </a:r>
          </a:p>
        </p:txBody>
      </p:sp>
      <p:sp>
        <p:nvSpPr>
          <p:cNvPr id="108" name="2 · Richieste facoltative">
            <a:extLst>
              <a:ext uri="{FF2B5EF4-FFF2-40B4-BE49-F238E27FC236}">
                <a16:creationId xmlns:a16="http://schemas.microsoft.com/office/drawing/2014/main" id="{EEFD76F3-7501-403C-B230-F57952744C88}"/>
              </a:ext>
            </a:extLst>
          </p:cNvPr>
          <p:cNvSpPr>
            <a:spLocks noGrp="1"/>
          </p:cNvSpPr>
          <p:nvPr/>
        </p:nvSpPr>
        <p:spPr>
          <a:xfrm>
            <a:off x="7524750" y="3086100"/>
            <a:ext cx="3924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2 · Richieste facoltative</a:t>
            </a:r>
          </a:p>
        </p:txBody>
      </p:sp>
      <p:sp>
        <p:nvSpPr>
          <p:cNvPr id="109" name="J mostra un nome e un esito&#10;alla volta. Si può richiedere&#10;an">
            <a:extLst>
              <a:ext uri="{FF2B5EF4-FFF2-40B4-BE49-F238E27FC236}">
                <a16:creationId xmlns:a16="http://schemas.microsoft.com/office/drawing/2014/main" id="{66E42F04-D28F-4EF4-A44A-B5C561740C58}"/>
              </a:ext>
            </a:extLst>
          </p:cNvPr>
          <p:cNvSpPr>
            <a:spLocks noGrp="1"/>
          </p:cNvSpPr>
          <p:nvPr/>
        </p:nvSpPr>
        <p:spPr>
          <a:xfrm>
            <a:off x="7524750" y="3524250"/>
            <a:ext cx="39243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J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mostra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un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nome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e un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esito</a:t>
            </a:r>
            <a:endParaRPr sz="195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alla volta. Si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può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richiedere</a:t>
            </a:r>
            <a:r>
              <a:rPr lang="it-IT" sz="195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più esiti altrui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10" name="3 · Quando fermarsi">
            <a:extLst>
              <a:ext uri="{FF2B5EF4-FFF2-40B4-BE49-F238E27FC236}">
                <a16:creationId xmlns:a16="http://schemas.microsoft.com/office/drawing/2014/main" id="{11A5A8F5-736D-4788-97B7-25678A65D4A9}"/>
              </a:ext>
            </a:extLst>
          </p:cNvPr>
          <p:cNvSpPr>
            <a:spLocks noGrp="1"/>
          </p:cNvSpPr>
          <p:nvPr/>
        </p:nvSpPr>
        <p:spPr>
          <a:xfrm>
            <a:off x="7524750" y="4695825"/>
            <a:ext cx="39243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3 · Quando fermarsi</a:t>
            </a:r>
          </a:p>
        </p:txBody>
      </p:sp>
      <p:sp>
        <p:nvSpPr>
          <p:cNvPr id="111" name="Con F si passa alla roulette&#10;successiva, dopo zero, uno&#10;o pi">
            <a:extLst>
              <a:ext uri="{FF2B5EF4-FFF2-40B4-BE49-F238E27FC236}">
                <a16:creationId xmlns:a16="http://schemas.microsoft.com/office/drawing/2014/main" id="{7663F798-310B-4D4D-A2B0-BE2F9B237C50}"/>
              </a:ext>
            </a:extLst>
          </p:cNvPr>
          <p:cNvSpPr>
            <a:spLocks noGrp="1"/>
          </p:cNvSpPr>
          <p:nvPr/>
        </p:nvSpPr>
        <p:spPr>
          <a:xfrm>
            <a:off x="7524750" y="5133975"/>
            <a:ext cx="39243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Con F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si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passa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alla roulette</a:t>
            </a: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successiva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12" name="Esempio dopo tre richieste · Le informazioni non modificano ">
            <a:extLst>
              <a:ext uri="{FF2B5EF4-FFF2-40B4-BE49-F238E27FC236}">
                <a16:creationId xmlns:a16="http://schemas.microsoft.com/office/drawing/2014/main" id="{D5C89C20-A6EA-4665-A4BF-9B049AD84E5C}"/>
              </a:ext>
            </a:extLst>
          </p:cNvPr>
          <p:cNvSpPr>
            <a:spLocks noGrp="1"/>
          </p:cNvSpPr>
          <p:nvPr/>
        </p:nvSpPr>
        <p:spPr>
          <a:xfrm>
            <a:off x="742950" y="6181725"/>
            <a:ext cx="107061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575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Esempio</a:t>
            </a:r>
            <a:r>
              <a:rPr sz="15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dopo </a:t>
            </a:r>
            <a:r>
              <a:rPr sz="1575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tre</a:t>
            </a:r>
            <a:r>
              <a:rPr sz="15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</a:t>
            </a:r>
            <a:r>
              <a:rPr sz="1575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richieste</a:t>
            </a:r>
            <a:r>
              <a:rPr sz="15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 · Le </a:t>
            </a:r>
            <a:r>
              <a:rPr sz="1575" b="0" dirty="0" err="1">
                <a:solidFill>
                  <a:srgbClr val="707070"/>
                </a:solidFill>
                <a:latin typeface="Arial"/>
                <a:ea typeface="Arial"/>
                <a:cs typeface="Arial"/>
              </a:rPr>
              <a:t>informazio</a:t>
            </a:r>
            <a:r>
              <a:rPr lang="it-IT" sz="1575" b="0" dirty="0">
                <a:solidFill>
                  <a:srgbClr val="707070"/>
                </a:solidFill>
                <a:latin typeface="Arial"/>
                <a:ea typeface="Arial"/>
                <a:cs typeface="Arial"/>
              </a:rPr>
              <a:t>ni non modificano la vincita</a:t>
            </a:r>
            <a:endParaRPr sz="1575" b="0" dirty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81877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ezione">
            <a:extLst>
              <a:ext uri="{FF2B5EF4-FFF2-40B4-BE49-F238E27FC236}">
                <a16:creationId xmlns:a16="http://schemas.microsoft.com/office/drawing/2014/main" id="{585ABA23-34B9-4B6A-8910-C7B193C0C8C8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Metodo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4D0AF39E-8AA9-4B2A-9D57-2645147E9C0B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Misure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40593DA4-E270-4DA4-A1B1-58365AE4B6C4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09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4" name="Tabella 3">
            <a:extLst>
              <a:ext uri="{FF2B5EF4-FFF2-40B4-BE49-F238E27FC236}">
                <a16:creationId xmlns:a16="http://schemas.microsoft.com/office/drawing/2014/main" id="{54EE0C1A-34C5-40E9-8A2F-D9C2D08674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14860918"/>
              </p:ext>
            </p:extLst>
          </p:nvPr>
        </p:nvGraphicFramePr>
        <p:xfrm>
          <a:off x="742950" y="1838325"/>
          <a:ext cx="10706100" cy="3800475"/>
        </p:xfrm>
        <a:graphic>
          <a:graphicData uri="http://schemas.openxmlformats.org/drawingml/2006/table">
            <a:tbl>
              <a:tblPr/>
              <a:tblGrid>
                <a:gridCol w="2038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67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Che cosa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Come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Quando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Fonte / adattamento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017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Ricerca di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confronto sociale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Numero</a:t>
                      </a:r>
                      <a:r>
                        <a:rPr sz="172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 di </a:t>
                      </a:r>
                      <a:r>
                        <a:rPr sz="1725" b="0" dirty="0" err="1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esiti</a:t>
                      </a:r>
                      <a:r>
                        <a:rPr sz="172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lang="it-IT" sz="172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altrui </a:t>
                      </a:r>
                      <a:r>
                        <a:rPr sz="1725" b="0" dirty="0" err="1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richiesti</a:t>
                      </a:r>
                      <a:endParaRPr sz="1725" b="0" dirty="0">
                        <a:solidFill>
                          <a:srgbClr val="41414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Per roulette / trial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Precedenti metodologici: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Pyszczynski et al. (1985)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White &amp; Lehman (2005)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017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Felicità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momentanea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Un item: “How happy are you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at this moment?”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Slider continuo 0–100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Dopo ciascun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blocco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Adattato da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Rutledge et al. (2016)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Controllo della manipolazione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017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Identificazione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Un item riferito alle persone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i cui esiti sono stati osservati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Risposta 1–7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Dopo ciascun</a:t>
                      </a:r>
                    </a:p>
                    <a:p>
                      <a:r>
                        <a:rPr sz="1725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blocco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 dirty="0" err="1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Adattato</a:t>
                      </a:r>
                      <a:r>
                        <a:rPr sz="172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 da</a:t>
                      </a:r>
                    </a:p>
                    <a:p>
                      <a:r>
                        <a:rPr sz="1725" b="0" dirty="0" err="1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Postmes</a:t>
                      </a:r>
                      <a:r>
                        <a:rPr sz="1725" b="0" dirty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 et al. (2013)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00" name="Previsione del controllo della manipolazione">
            <a:extLst>
              <a:ext uri="{FF2B5EF4-FFF2-40B4-BE49-F238E27FC236}">
                <a16:creationId xmlns:a16="http://schemas.microsoft.com/office/drawing/2014/main" id="{51BE5182-E487-4719-A432-F7AE47398560}"/>
              </a:ext>
            </a:extLst>
          </p:cNvPr>
          <p:cNvSpPr>
            <a:spLocks noGrp="1"/>
          </p:cNvSpPr>
          <p:nvPr/>
        </p:nvSpPr>
        <p:spPr>
          <a:xfrm>
            <a:off x="742950" y="5819775"/>
            <a:ext cx="1070610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Previsione</a:t>
            </a:r>
            <a:r>
              <a:rPr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: </a:t>
            </a:r>
            <a:r>
              <a:rPr sz="2025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minore</a:t>
            </a:r>
            <a:r>
              <a:rPr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</a:t>
            </a:r>
            <a:r>
              <a:rPr sz="2025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felicità</a:t>
            </a:r>
            <a:r>
              <a:rPr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dopo il </a:t>
            </a:r>
            <a:r>
              <a:rPr sz="2025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blocco</a:t>
            </a:r>
            <a:r>
              <a:rPr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di </a:t>
            </a:r>
            <a:r>
              <a:rPr sz="2025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perdita</a:t>
            </a:r>
            <a:endParaRPr sz="2025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01" name="Fonti della previsione">
            <a:extLst>
              <a:ext uri="{FF2B5EF4-FFF2-40B4-BE49-F238E27FC236}">
                <a16:creationId xmlns:a16="http://schemas.microsoft.com/office/drawing/2014/main" id="{D94E94FC-3248-4244-B1F6-7082DD67D03B}"/>
              </a:ext>
            </a:extLst>
          </p:cNvPr>
          <p:cNvSpPr>
            <a:spLocks noGrp="1"/>
          </p:cNvSpPr>
          <p:nvPr/>
        </p:nvSpPr>
        <p:spPr>
          <a:xfrm>
            <a:off x="742950" y="6162675"/>
            <a:ext cx="107061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Messaggi: Nabi et al. (2020); framing monetario: Young et al. (2019); lotterie: van Lieshout et al. (2021)</a:t>
            </a:r>
          </a:p>
        </p:txBody>
      </p:sp>
    </p:spTree>
    <p:extLst>
      <p:ext uri="{BB962C8B-B14F-4D97-AF65-F5344CB8AC3E}">
        <p14:creationId xmlns:p14="http://schemas.microsoft.com/office/powerpoint/2010/main" val="1536022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ezione">
            <a:extLst>
              <a:ext uri="{FF2B5EF4-FFF2-40B4-BE49-F238E27FC236}">
                <a16:creationId xmlns:a16="http://schemas.microsoft.com/office/drawing/2014/main" id="{B4A625DB-06F9-43EF-94C6-3C5711E135EB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Metodo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94175FFF-CA9F-4142-8D9D-C3BB062D67CD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lang="it-IT"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H3: </a:t>
            </a:r>
            <a:r>
              <a:rPr lang="it-IT"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possibilità di confronto </a:t>
            </a:r>
            <a:r>
              <a:rPr lang="it-IT"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verso l’alto</a:t>
            </a:r>
            <a:endParaRPr sz="2550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9BCC545-26F6-4685-9AFC-2C62C7462282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10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Dopo l’esito peggiore: $10">
            <a:extLst>
              <a:ext uri="{FF2B5EF4-FFF2-40B4-BE49-F238E27FC236}">
                <a16:creationId xmlns:a16="http://schemas.microsoft.com/office/drawing/2014/main" id="{484C65A4-7E60-4C49-B295-0CACBCB7F9C9}"/>
              </a:ext>
            </a:extLst>
          </p:cNvPr>
          <p:cNvSpPr>
            <a:spLocks noGrp="1"/>
          </p:cNvSpPr>
          <p:nvPr/>
        </p:nvSpPr>
        <p:spPr>
          <a:xfrm>
            <a:off x="762206" y="1994467"/>
            <a:ext cx="49720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Dopo l’esito peggiore: $10</a:t>
            </a:r>
          </a:p>
        </p:txBody>
      </p:sp>
      <p:sp>
        <p:nvSpPr>
          <p:cNvPr id="5" name="Dopo l’esito migliore: $50">
            <a:extLst>
              <a:ext uri="{FF2B5EF4-FFF2-40B4-BE49-F238E27FC236}">
                <a16:creationId xmlns:a16="http://schemas.microsoft.com/office/drawing/2014/main" id="{8B126049-2E5B-4844-B622-E0BE19478801}"/>
              </a:ext>
            </a:extLst>
          </p:cNvPr>
          <p:cNvSpPr>
            <a:spLocks noGrp="1"/>
          </p:cNvSpPr>
          <p:nvPr/>
        </p:nvSpPr>
        <p:spPr>
          <a:xfrm>
            <a:off x="6562931" y="1994467"/>
            <a:ext cx="49053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Dopo l’esito migliore: $50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70FC024-E5B6-427F-ABD2-029CD6FEF2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62951" y="2594542"/>
            <a:ext cx="2970311" cy="2733675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37BC181-4ED1-48EE-B6EC-701ACB8AB8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562931" y="2595952"/>
            <a:ext cx="3019425" cy="2730855"/>
          </a:xfrm>
          <a:prstGeom prst="rect">
            <a:avLst/>
          </a:prstGeom>
        </p:spPr>
      </p:pic>
      <p:sp>
        <p:nvSpPr>
          <p:cNvPr id="8" name="$10: uguale&#10;&#10;$50: migliore">
            <a:extLst>
              <a:ext uri="{FF2B5EF4-FFF2-40B4-BE49-F238E27FC236}">
                <a16:creationId xmlns:a16="http://schemas.microsoft.com/office/drawing/2014/main" id="{DA346CF5-7EC3-4E18-97B9-37E3963CE896}"/>
              </a:ext>
            </a:extLst>
          </p:cNvPr>
          <p:cNvSpPr>
            <a:spLocks noGrp="1"/>
          </p:cNvSpPr>
          <p:nvPr/>
        </p:nvSpPr>
        <p:spPr>
          <a:xfrm>
            <a:off x="4000706" y="2975542"/>
            <a:ext cx="185737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$10: uguale</a:t>
            </a:r>
          </a:p>
          <a:p>
            <a:endParaRPr sz="2025" b="0">
              <a:solidFill>
                <a:srgbClr val="414141"/>
              </a:solidFill>
              <a:latin typeface="Arial"/>
              <a:ea typeface="Arial"/>
              <a:cs typeface="Arial"/>
            </a:endParaRPr>
          </a:p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$50: migliore</a:t>
            </a:r>
          </a:p>
        </p:txBody>
      </p:sp>
      <p:sp>
        <p:nvSpPr>
          <p:cNvPr id="9" name="Laterale o&#10;verso l’alto">
            <a:extLst>
              <a:ext uri="{FF2B5EF4-FFF2-40B4-BE49-F238E27FC236}">
                <a16:creationId xmlns:a16="http://schemas.microsoft.com/office/drawing/2014/main" id="{C4367BD4-A7D4-4E7C-BE6E-A389D148A293}"/>
              </a:ext>
            </a:extLst>
          </p:cNvPr>
          <p:cNvSpPr>
            <a:spLocks noGrp="1"/>
          </p:cNvSpPr>
          <p:nvPr/>
        </p:nvSpPr>
        <p:spPr>
          <a:xfrm>
            <a:off x="3895931" y="4604317"/>
            <a:ext cx="19240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Laterale o</a:t>
            </a:r>
          </a:p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verso l’alto</a:t>
            </a:r>
          </a:p>
        </p:txBody>
      </p:sp>
      <p:sp>
        <p:nvSpPr>
          <p:cNvPr id="10" name="$50: uguale&#10;&#10;$10: peggiore">
            <a:extLst>
              <a:ext uri="{FF2B5EF4-FFF2-40B4-BE49-F238E27FC236}">
                <a16:creationId xmlns:a16="http://schemas.microsoft.com/office/drawing/2014/main" id="{BA07CC14-8F44-4E25-8113-B88F49F87382}"/>
              </a:ext>
            </a:extLst>
          </p:cNvPr>
          <p:cNvSpPr>
            <a:spLocks noGrp="1"/>
          </p:cNvSpPr>
          <p:nvPr/>
        </p:nvSpPr>
        <p:spPr>
          <a:xfrm>
            <a:off x="9830006" y="2975542"/>
            <a:ext cx="172402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$50: uguale</a:t>
            </a:r>
          </a:p>
          <a:p>
            <a:endParaRPr sz="2025" b="0">
              <a:solidFill>
                <a:srgbClr val="414141"/>
              </a:solidFill>
              <a:latin typeface="Arial"/>
              <a:ea typeface="Arial"/>
              <a:cs typeface="Arial"/>
            </a:endParaRPr>
          </a:p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$10: peggiore</a:t>
            </a:r>
          </a:p>
        </p:txBody>
      </p:sp>
      <p:sp>
        <p:nvSpPr>
          <p:cNvPr id="11" name="Laterale o&#10;verso il basso">
            <a:extLst>
              <a:ext uri="{FF2B5EF4-FFF2-40B4-BE49-F238E27FC236}">
                <a16:creationId xmlns:a16="http://schemas.microsoft.com/office/drawing/2014/main" id="{994606F3-49CC-41D8-8895-23360227114E}"/>
              </a:ext>
            </a:extLst>
          </p:cNvPr>
          <p:cNvSpPr>
            <a:spLocks noGrp="1"/>
          </p:cNvSpPr>
          <p:nvPr/>
        </p:nvSpPr>
        <p:spPr>
          <a:xfrm>
            <a:off x="9744281" y="4604317"/>
            <a:ext cx="180975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Laterale o</a:t>
            </a:r>
          </a:p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verso il basso</a:t>
            </a:r>
          </a:p>
        </p:txBody>
      </p:sp>
    </p:spTree>
    <p:extLst>
      <p:ext uri="{BB962C8B-B14F-4D97-AF65-F5344CB8AC3E}">
        <p14:creationId xmlns:p14="http://schemas.microsoft.com/office/powerpoint/2010/main" val="318003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ezione">
            <a:extLst>
              <a:ext uri="{FF2B5EF4-FFF2-40B4-BE49-F238E27FC236}">
                <a16:creationId xmlns:a16="http://schemas.microsoft.com/office/drawing/2014/main" id="{F847FED5-793C-4961-A71F-CD8F07A544A9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Metodo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445AEAA6-4B88-4C77-A77E-49EE20C10B6A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Distribuzione della misura e analisi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FE0F9E15-6395-454C-BD71-BC11C878CC6A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11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368 / 840 trial: zero richieste">
            <a:extLst>
              <a:ext uri="{FF2B5EF4-FFF2-40B4-BE49-F238E27FC236}">
                <a16:creationId xmlns:a16="http://schemas.microsoft.com/office/drawing/2014/main" id="{D25F54C5-C761-4043-8E2A-BB81E9238697}"/>
              </a:ext>
            </a:extLst>
          </p:cNvPr>
          <p:cNvSpPr>
            <a:spLocks noGrp="1"/>
          </p:cNvSpPr>
          <p:nvPr/>
        </p:nvSpPr>
        <p:spPr>
          <a:xfrm>
            <a:off x="5791200" y="1771650"/>
            <a:ext cx="566737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368 / 840 trial: zero richieste</a:t>
            </a:r>
          </a:p>
        </p:txBody>
      </p:sp>
      <p:sp>
        <p:nvSpPr>
          <p:cNvPr id="5" name="43,8% dei trial">
            <a:extLst>
              <a:ext uri="{FF2B5EF4-FFF2-40B4-BE49-F238E27FC236}">
                <a16:creationId xmlns:a16="http://schemas.microsoft.com/office/drawing/2014/main" id="{7F2464FC-F475-4AC7-AF26-8C4AD310552E}"/>
              </a:ext>
            </a:extLst>
          </p:cNvPr>
          <p:cNvSpPr>
            <a:spLocks noGrp="1"/>
          </p:cNvSpPr>
          <p:nvPr/>
        </p:nvSpPr>
        <p:spPr>
          <a:xfrm>
            <a:off x="5791200" y="2238375"/>
            <a:ext cx="54768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43,8% dei trial</a:t>
            </a:r>
          </a:p>
        </p:txBody>
      </p:sp>
      <p:graphicFrame>
        <p:nvGraphicFramePr>
          <p:cNvPr id="6" name="Chart">
            <a:extLst>
              <a:ext uri="{FF2B5EF4-FFF2-40B4-BE49-F238E27FC236}">
                <a16:creationId xmlns:a16="http://schemas.microsoft.com/office/drawing/2014/main" id="{1EE09B4C-6EB6-4CE9-9677-28700218830E}"/>
              </a:ext>
            </a:extLst>
          </p:cNvPr>
          <p:cNvGraphicFramePr/>
          <p:nvPr/>
        </p:nvGraphicFramePr>
        <p:xfrm>
          <a:off x="5791200" y="2676525"/>
          <a:ext cx="5629275" cy="31527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Connettore diritto 6">
            <a:extLst>
              <a:ext uri="{FF2B5EF4-FFF2-40B4-BE49-F238E27FC236}">
                <a16:creationId xmlns:a16="http://schemas.microsoft.com/office/drawing/2014/main" id="{92E7B88A-D9A4-4992-A7AA-8865EAD95D02}"/>
              </a:ext>
            </a:extLst>
          </p:cNvPr>
          <p:cNvSpPr>
            <a:spLocks noGrp="1"/>
          </p:cNvSpPr>
          <p:nvPr/>
        </p:nvSpPr>
        <p:spPr>
          <a:xfrm>
            <a:off x="5657850" y="1819275"/>
            <a:ext cx="0" cy="4048125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Modelli a effetti misti">
            <a:extLst>
              <a:ext uri="{FF2B5EF4-FFF2-40B4-BE49-F238E27FC236}">
                <a16:creationId xmlns:a16="http://schemas.microsoft.com/office/drawing/2014/main" id="{5929238D-5167-4B28-BF12-98AFEF7E09FF}"/>
              </a:ext>
            </a:extLst>
          </p:cNvPr>
          <p:cNvSpPr>
            <a:spLocks noGrp="1"/>
          </p:cNvSpPr>
          <p:nvPr/>
        </p:nvSpPr>
        <p:spPr>
          <a:xfrm>
            <a:off x="1057275" y="1809750"/>
            <a:ext cx="42481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2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2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Modelli a effetti misti</a:t>
            </a:r>
          </a:p>
        </p:txBody>
      </p:sp>
      <p:sp>
        <p:nvSpPr>
          <p:cNvPr id="9" name="Osservazioni ripetute&#10;negli stessi partecipanti">
            <a:extLst>
              <a:ext uri="{FF2B5EF4-FFF2-40B4-BE49-F238E27FC236}">
                <a16:creationId xmlns:a16="http://schemas.microsoft.com/office/drawing/2014/main" id="{4BEADC66-991C-4456-A963-17E8E3765A17}"/>
              </a:ext>
            </a:extLst>
          </p:cNvPr>
          <p:cNvSpPr>
            <a:spLocks noGrp="1"/>
          </p:cNvSpPr>
          <p:nvPr/>
        </p:nvSpPr>
        <p:spPr>
          <a:xfrm>
            <a:off x="1057275" y="2314575"/>
            <a:ext cx="4248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Osservazioni ripetute</a:t>
            </a:r>
          </a:p>
          <a:p>
            <a:pPr algn="ctr">
              <a:defRPr sz="187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negli stessi partecipanti</a:t>
            </a:r>
          </a:p>
        </p:txBody>
      </p:sp>
      <p:sp>
        <p:nvSpPr>
          <p:cNvPr id="10" name="Connettore diritto 9">
            <a:extLst>
              <a:ext uri="{FF2B5EF4-FFF2-40B4-BE49-F238E27FC236}">
                <a16:creationId xmlns:a16="http://schemas.microsoft.com/office/drawing/2014/main" id="{350AAE9B-1C27-4F51-BB12-D8FB2ECB5C2E}"/>
              </a:ext>
            </a:extLst>
          </p:cNvPr>
          <p:cNvSpPr>
            <a:spLocks noGrp="1"/>
          </p:cNvSpPr>
          <p:nvPr/>
        </p:nvSpPr>
        <p:spPr>
          <a:xfrm>
            <a:off x="3181350" y="3009900"/>
            <a:ext cx="0" cy="257175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Connettore diritto 10">
            <a:extLst>
              <a:ext uri="{FF2B5EF4-FFF2-40B4-BE49-F238E27FC236}">
                <a16:creationId xmlns:a16="http://schemas.microsoft.com/office/drawing/2014/main" id="{C371ECD2-B32F-43B2-90A9-1DEA1BF66F49}"/>
              </a:ext>
            </a:extLst>
          </p:cNvPr>
          <p:cNvSpPr>
            <a:spLocks noGrp="1"/>
          </p:cNvSpPr>
          <p:nvPr/>
        </p:nvSpPr>
        <p:spPr>
          <a:xfrm>
            <a:off x="2495550" y="3267075"/>
            <a:ext cx="2400300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Connettore diritto 11">
            <a:extLst>
              <a:ext uri="{FF2B5EF4-FFF2-40B4-BE49-F238E27FC236}">
                <a16:creationId xmlns:a16="http://schemas.microsoft.com/office/drawing/2014/main" id="{456341B8-95E0-49FF-BD4F-301E18C39FCB}"/>
              </a:ext>
            </a:extLst>
          </p:cNvPr>
          <p:cNvSpPr>
            <a:spLocks noGrp="1"/>
          </p:cNvSpPr>
          <p:nvPr/>
        </p:nvSpPr>
        <p:spPr>
          <a:xfrm>
            <a:off x="2495550" y="3267075"/>
            <a:ext cx="0" cy="24765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Connettore diritto 12">
            <a:extLst>
              <a:ext uri="{FF2B5EF4-FFF2-40B4-BE49-F238E27FC236}">
                <a16:creationId xmlns:a16="http://schemas.microsoft.com/office/drawing/2014/main" id="{E1940E87-889A-4022-973B-285220FDDE96}"/>
              </a:ext>
            </a:extLst>
          </p:cNvPr>
          <p:cNvSpPr>
            <a:spLocks noGrp="1"/>
          </p:cNvSpPr>
          <p:nvPr/>
        </p:nvSpPr>
        <p:spPr>
          <a:xfrm>
            <a:off x="4895850" y="3267075"/>
            <a:ext cx="0" cy="24765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Ricerca di confronto&#10;sociale: modello hurdle">
            <a:extLst>
              <a:ext uri="{FF2B5EF4-FFF2-40B4-BE49-F238E27FC236}">
                <a16:creationId xmlns:a16="http://schemas.microsoft.com/office/drawing/2014/main" id="{ABC4128B-C06A-4F4B-8472-2402355BA131}"/>
              </a:ext>
            </a:extLst>
          </p:cNvPr>
          <p:cNvSpPr>
            <a:spLocks noGrp="1"/>
          </p:cNvSpPr>
          <p:nvPr/>
        </p:nvSpPr>
        <p:spPr>
          <a:xfrm>
            <a:off x="742950" y="3562350"/>
            <a:ext cx="379095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0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Ricerca di confronto</a:t>
            </a:r>
          </a:p>
          <a:p>
            <a:pPr algn="ctr">
              <a:defRPr sz="202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sociale: modello hurdle</a:t>
            </a:r>
          </a:p>
        </p:txBody>
      </p:sp>
      <p:sp>
        <p:nvSpPr>
          <p:cNvPr id="15" name="…">
            <a:extLst>
              <a:ext uri="{FF2B5EF4-FFF2-40B4-BE49-F238E27FC236}">
                <a16:creationId xmlns:a16="http://schemas.microsoft.com/office/drawing/2014/main" id="{2EFA8586-F09B-4BF7-BA77-E5C9842AFF2B}"/>
              </a:ext>
            </a:extLst>
          </p:cNvPr>
          <p:cNvSpPr>
            <a:spLocks noGrp="1"/>
          </p:cNvSpPr>
          <p:nvPr/>
        </p:nvSpPr>
        <p:spPr>
          <a:xfrm>
            <a:off x="4648200" y="3524250"/>
            <a:ext cx="5905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8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…</a:t>
            </a:r>
          </a:p>
        </p:txBody>
      </p:sp>
      <p:sp>
        <p:nvSpPr>
          <p:cNvPr id="16" name="Connettore diritto 15">
            <a:extLst>
              <a:ext uri="{FF2B5EF4-FFF2-40B4-BE49-F238E27FC236}">
                <a16:creationId xmlns:a16="http://schemas.microsoft.com/office/drawing/2014/main" id="{F9080A82-E87F-4AA3-9277-0D6C6FB7CBDE}"/>
              </a:ext>
            </a:extLst>
          </p:cNvPr>
          <p:cNvSpPr>
            <a:spLocks noGrp="1"/>
          </p:cNvSpPr>
          <p:nvPr/>
        </p:nvSpPr>
        <p:spPr>
          <a:xfrm>
            <a:off x="2514600" y="4343400"/>
            <a:ext cx="0" cy="219075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Connettore diritto 16">
            <a:extLst>
              <a:ext uri="{FF2B5EF4-FFF2-40B4-BE49-F238E27FC236}">
                <a16:creationId xmlns:a16="http://schemas.microsoft.com/office/drawing/2014/main" id="{E7D0486E-B0E1-4C28-92A3-4BC2FD158481}"/>
              </a:ext>
            </a:extLst>
          </p:cNvPr>
          <p:cNvSpPr>
            <a:spLocks noGrp="1"/>
          </p:cNvSpPr>
          <p:nvPr/>
        </p:nvSpPr>
        <p:spPr>
          <a:xfrm>
            <a:off x="1657350" y="4562475"/>
            <a:ext cx="2705100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Connettore diritto 17">
            <a:extLst>
              <a:ext uri="{FF2B5EF4-FFF2-40B4-BE49-F238E27FC236}">
                <a16:creationId xmlns:a16="http://schemas.microsoft.com/office/drawing/2014/main" id="{DF6EB342-3F36-4009-9245-65B497E66A9B}"/>
              </a:ext>
            </a:extLst>
          </p:cNvPr>
          <p:cNvSpPr>
            <a:spLocks noGrp="1"/>
          </p:cNvSpPr>
          <p:nvPr/>
        </p:nvSpPr>
        <p:spPr>
          <a:xfrm>
            <a:off x="1657350" y="4562475"/>
            <a:ext cx="0" cy="22860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Connettore diritto 18">
            <a:extLst>
              <a:ext uri="{FF2B5EF4-FFF2-40B4-BE49-F238E27FC236}">
                <a16:creationId xmlns:a16="http://schemas.microsoft.com/office/drawing/2014/main" id="{E8E3094C-BAF6-4D0C-8D65-FEB43F568BBE}"/>
              </a:ext>
            </a:extLst>
          </p:cNvPr>
          <p:cNvSpPr>
            <a:spLocks noGrp="1"/>
          </p:cNvSpPr>
          <p:nvPr/>
        </p:nvSpPr>
        <p:spPr>
          <a:xfrm>
            <a:off x="4362450" y="4562475"/>
            <a:ext cx="0" cy="22860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Inizio">
            <a:extLst>
              <a:ext uri="{FF2B5EF4-FFF2-40B4-BE49-F238E27FC236}">
                <a16:creationId xmlns:a16="http://schemas.microsoft.com/office/drawing/2014/main" id="{D945A570-4C97-47C5-8D2E-AAC571B7B6CD}"/>
              </a:ext>
            </a:extLst>
          </p:cNvPr>
          <p:cNvSpPr>
            <a:spLocks noGrp="1"/>
          </p:cNvSpPr>
          <p:nvPr/>
        </p:nvSpPr>
        <p:spPr>
          <a:xfrm>
            <a:off x="1009650" y="4876800"/>
            <a:ext cx="16192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Inizio</a:t>
            </a:r>
          </a:p>
        </p:txBody>
      </p:sp>
      <p:sp>
        <p:nvSpPr>
          <p:cNvPr id="21" name="Almeno un esito?">
            <a:extLst>
              <a:ext uri="{FF2B5EF4-FFF2-40B4-BE49-F238E27FC236}">
                <a16:creationId xmlns:a16="http://schemas.microsoft.com/office/drawing/2014/main" id="{A28449BB-8E9D-4BEB-8BDB-3F10309266C3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19621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Almeno un esito?</a:t>
            </a:r>
          </a:p>
        </p:txBody>
      </p:sp>
      <p:sp>
        <p:nvSpPr>
          <p:cNvPr id="22" name="Estensione">
            <a:extLst>
              <a:ext uri="{FF2B5EF4-FFF2-40B4-BE49-F238E27FC236}">
                <a16:creationId xmlns:a16="http://schemas.microsoft.com/office/drawing/2014/main" id="{E0DAECEC-C6FD-4461-87BC-083BF343A5DA}"/>
              </a:ext>
            </a:extLst>
          </p:cNvPr>
          <p:cNvSpPr>
            <a:spLocks noGrp="1"/>
          </p:cNvSpPr>
          <p:nvPr/>
        </p:nvSpPr>
        <p:spPr>
          <a:xfrm>
            <a:off x="3257550" y="4876800"/>
            <a:ext cx="2047875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Estensione</a:t>
            </a:r>
          </a:p>
        </p:txBody>
      </p:sp>
      <p:sp>
        <p:nvSpPr>
          <p:cNvPr id="23" name="Quanti esiti,&#10;dopo l’inizio?">
            <a:extLst>
              <a:ext uri="{FF2B5EF4-FFF2-40B4-BE49-F238E27FC236}">
                <a16:creationId xmlns:a16="http://schemas.microsoft.com/office/drawing/2014/main" id="{FA4128BA-36FA-458A-AB9E-A6497B6854FC}"/>
              </a:ext>
            </a:extLst>
          </p:cNvPr>
          <p:cNvSpPr>
            <a:spLocks noGrp="1"/>
          </p:cNvSpPr>
          <p:nvPr/>
        </p:nvSpPr>
        <p:spPr>
          <a:xfrm>
            <a:off x="3219450" y="5305425"/>
            <a:ext cx="2162175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Quanti esiti,</a:t>
            </a:r>
          </a:p>
          <a:p>
            <a:pPr algn="ctr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dopo l’inizio?</a:t>
            </a:r>
          </a:p>
        </p:txBody>
      </p:sp>
    </p:spTree>
    <p:extLst>
      <p:ext uri="{BB962C8B-B14F-4D97-AF65-F5344CB8AC3E}">
        <p14:creationId xmlns:p14="http://schemas.microsoft.com/office/powerpoint/2010/main" val="302444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ezione">
            <a:extLst>
              <a:ext uri="{FF2B5EF4-FFF2-40B4-BE49-F238E27FC236}">
                <a16:creationId xmlns:a16="http://schemas.microsoft.com/office/drawing/2014/main" id="{D3C82D28-804A-400C-A975-1B9600A553A7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Risultati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A6DE9CA4-C91F-4A09-B4A8-5B8156E924EE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Controllo</a:t>
            </a:r>
            <a:r>
              <a:rPr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della </a:t>
            </a:r>
            <a:r>
              <a:rPr sz="2550" b="1" dirty="0" err="1">
                <a:solidFill>
                  <a:srgbClr val="AA0004"/>
                </a:solidFill>
                <a:latin typeface="Arial"/>
                <a:ea typeface="Arial"/>
                <a:cs typeface="Arial"/>
              </a:rPr>
              <a:t>manipolazione</a:t>
            </a:r>
            <a:r>
              <a:rPr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 e H1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83F9F0DE-1AEE-477E-B894-82359FE809E3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12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Felicità momentanea">
            <a:extLst>
              <a:ext uri="{FF2B5EF4-FFF2-40B4-BE49-F238E27FC236}">
                <a16:creationId xmlns:a16="http://schemas.microsoft.com/office/drawing/2014/main" id="{DC0D20EB-535F-4BFF-B3D2-01431ACE771B}"/>
              </a:ext>
            </a:extLst>
          </p:cNvPr>
          <p:cNvSpPr>
            <a:spLocks noGrp="1"/>
          </p:cNvSpPr>
          <p:nvPr/>
        </p:nvSpPr>
        <p:spPr>
          <a:xfrm>
            <a:off x="742950" y="1790700"/>
            <a:ext cx="4572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Felicità momentanea</a:t>
            </a:r>
          </a:p>
        </p:txBody>
      </p:sp>
      <p:sp>
        <p:nvSpPr>
          <p:cNvPr id="5" name="62,24">
            <a:extLst>
              <a:ext uri="{FF2B5EF4-FFF2-40B4-BE49-F238E27FC236}">
                <a16:creationId xmlns:a16="http://schemas.microsoft.com/office/drawing/2014/main" id="{9674B076-A090-41E8-BF7B-D56B7C3F03E5}"/>
              </a:ext>
            </a:extLst>
          </p:cNvPr>
          <p:cNvSpPr>
            <a:spLocks noGrp="1"/>
          </p:cNvSpPr>
          <p:nvPr/>
        </p:nvSpPr>
        <p:spPr>
          <a:xfrm>
            <a:off x="742950" y="2476500"/>
            <a:ext cx="212407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62,24</a:t>
            </a:r>
          </a:p>
        </p:txBody>
      </p:sp>
      <p:sp>
        <p:nvSpPr>
          <p:cNvPr id="6" name="44,57">
            <a:extLst>
              <a:ext uri="{FF2B5EF4-FFF2-40B4-BE49-F238E27FC236}">
                <a16:creationId xmlns:a16="http://schemas.microsoft.com/office/drawing/2014/main" id="{61536122-3677-43A5-9F81-FA640274C9C8}"/>
              </a:ext>
            </a:extLst>
          </p:cNvPr>
          <p:cNvSpPr>
            <a:spLocks noGrp="1"/>
          </p:cNvSpPr>
          <p:nvPr/>
        </p:nvSpPr>
        <p:spPr>
          <a:xfrm>
            <a:off x="3200400" y="2476500"/>
            <a:ext cx="203835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6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6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44,57</a:t>
            </a:r>
          </a:p>
        </p:txBody>
      </p:sp>
      <p:sp>
        <p:nvSpPr>
          <p:cNvPr id="7" name="Guadagno">
            <a:extLst>
              <a:ext uri="{FF2B5EF4-FFF2-40B4-BE49-F238E27FC236}">
                <a16:creationId xmlns:a16="http://schemas.microsoft.com/office/drawing/2014/main" id="{C38395E4-B830-468F-91F0-E572FBBB53FE}"/>
              </a:ext>
            </a:extLst>
          </p:cNvPr>
          <p:cNvSpPr>
            <a:spLocks noGrp="1"/>
          </p:cNvSpPr>
          <p:nvPr/>
        </p:nvSpPr>
        <p:spPr>
          <a:xfrm>
            <a:off x="742950" y="3219450"/>
            <a:ext cx="2095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Guadagno</a:t>
            </a:r>
          </a:p>
        </p:txBody>
      </p:sp>
      <p:sp>
        <p:nvSpPr>
          <p:cNvPr id="8" name="Perdita">
            <a:extLst>
              <a:ext uri="{FF2B5EF4-FFF2-40B4-BE49-F238E27FC236}">
                <a16:creationId xmlns:a16="http://schemas.microsoft.com/office/drawing/2014/main" id="{F3404B24-49E8-4E46-A475-58CF56ED8F2D}"/>
              </a:ext>
            </a:extLst>
          </p:cNvPr>
          <p:cNvSpPr>
            <a:spLocks noGrp="1"/>
          </p:cNvSpPr>
          <p:nvPr/>
        </p:nvSpPr>
        <p:spPr>
          <a:xfrm>
            <a:off x="3200400" y="3219450"/>
            <a:ext cx="20955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Perdita</a:t>
            </a:r>
          </a:p>
        </p:txBody>
      </p:sp>
      <p:sp>
        <p:nvSpPr>
          <p:cNvPr id="9" name="Medie osservate su scala 0–100">
            <a:extLst>
              <a:ext uri="{FF2B5EF4-FFF2-40B4-BE49-F238E27FC236}">
                <a16:creationId xmlns:a16="http://schemas.microsoft.com/office/drawing/2014/main" id="{5E6586C6-56C9-4345-BDAF-D12A5EB5EB62}"/>
              </a:ext>
            </a:extLst>
          </p:cNvPr>
          <p:cNvSpPr>
            <a:spLocks noGrp="1"/>
          </p:cNvSpPr>
          <p:nvPr/>
        </p:nvSpPr>
        <p:spPr>
          <a:xfrm>
            <a:off x="742950" y="3781425"/>
            <a:ext cx="460057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Medie osservate su scala 0–100</a:t>
            </a:r>
          </a:p>
        </p:txBody>
      </p:sp>
      <p:sp>
        <p:nvSpPr>
          <p:cNvPr id="10" name="Perdita meno guadagno&#10;b = −17,68&#10;IC 95% [−21,52, −13,83]&#10;p &lt;">
            <a:extLst>
              <a:ext uri="{FF2B5EF4-FFF2-40B4-BE49-F238E27FC236}">
                <a16:creationId xmlns:a16="http://schemas.microsoft.com/office/drawing/2014/main" id="{6200CA88-7C99-4EB0-A098-8A4B1A98E198}"/>
              </a:ext>
            </a:extLst>
          </p:cNvPr>
          <p:cNvSpPr>
            <a:spLocks noGrp="1"/>
          </p:cNvSpPr>
          <p:nvPr/>
        </p:nvSpPr>
        <p:spPr>
          <a:xfrm>
            <a:off x="742950" y="4362450"/>
            <a:ext cx="4638675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Perdita </a:t>
            </a:r>
            <a:r>
              <a:rPr lang="it-IT" sz="195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&lt;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195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guadagno</a:t>
            </a:r>
            <a:endParaRPr sz="195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i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b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= −17,68</a:t>
            </a: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IC 95% [−21,52, −13,83]</a:t>
            </a: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i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p</a:t>
            </a:r>
            <a:r>
              <a:rPr sz="195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&lt; .001</a:t>
            </a:r>
          </a:p>
        </p:txBody>
      </p:sp>
      <p:sp>
        <p:nvSpPr>
          <p:cNvPr id="11" name="Connettore diritto 10">
            <a:extLst>
              <a:ext uri="{FF2B5EF4-FFF2-40B4-BE49-F238E27FC236}">
                <a16:creationId xmlns:a16="http://schemas.microsoft.com/office/drawing/2014/main" id="{AF48F949-35BD-4EDF-ADE8-214FEDA9BBDB}"/>
              </a:ext>
            </a:extLst>
          </p:cNvPr>
          <p:cNvSpPr>
            <a:spLocks noGrp="1"/>
          </p:cNvSpPr>
          <p:nvPr/>
        </p:nvSpPr>
        <p:spPr>
          <a:xfrm>
            <a:off x="5781675" y="1781175"/>
            <a:ext cx="0" cy="417195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H1 · Ricerca di confronto sociale">
            <a:extLst>
              <a:ext uri="{FF2B5EF4-FFF2-40B4-BE49-F238E27FC236}">
                <a16:creationId xmlns:a16="http://schemas.microsoft.com/office/drawing/2014/main" id="{A4CB9349-6ACD-4C90-A80B-551368D77EFD}"/>
              </a:ext>
            </a:extLst>
          </p:cNvPr>
          <p:cNvSpPr>
            <a:spLocks noGrp="1"/>
          </p:cNvSpPr>
          <p:nvPr/>
        </p:nvSpPr>
        <p:spPr>
          <a:xfrm>
            <a:off x="6229350" y="1790700"/>
            <a:ext cx="52197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H1 · Ricerca di confronto sociale</a:t>
            </a:r>
          </a:p>
        </p:txBody>
      </p:sp>
      <p:sp>
        <p:nvSpPr>
          <p:cNvPr id="13" name="Contrasto: perdita vs guadagno">
            <a:extLst>
              <a:ext uri="{FF2B5EF4-FFF2-40B4-BE49-F238E27FC236}">
                <a16:creationId xmlns:a16="http://schemas.microsoft.com/office/drawing/2014/main" id="{8732786E-AE60-4337-B83E-6E77D82F6AC5}"/>
              </a:ext>
            </a:extLst>
          </p:cNvPr>
          <p:cNvSpPr>
            <a:spLocks noGrp="1"/>
          </p:cNvSpPr>
          <p:nvPr/>
        </p:nvSpPr>
        <p:spPr>
          <a:xfrm>
            <a:off x="6229350" y="2619375"/>
            <a:ext cx="52197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Contrasto: perdita vs guadagno</a:t>
            </a:r>
          </a:p>
        </p:txBody>
      </p:sp>
      <p:graphicFrame>
        <p:nvGraphicFramePr>
          <p:cNvPr id="14" name="Tabella 13">
            <a:extLst>
              <a:ext uri="{FF2B5EF4-FFF2-40B4-BE49-F238E27FC236}">
                <a16:creationId xmlns:a16="http://schemas.microsoft.com/office/drawing/2014/main" id="{8B210A8E-72E0-411E-A4D9-DE73D457E68D}"/>
              </a:ext>
            </a:extLst>
          </p:cNvPr>
          <p:cNvGraphicFramePr/>
          <p:nvPr/>
        </p:nvGraphicFramePr>
        <p:xfrm>
          <a:off x="6229350" y="3124200"/>
          <a:ext cx="5219700" cy="1990726"/>
        </p:xfrm>
        <a:graphic>
          <a:graphicData uri="http://schemas.openxmlformats.org/drawingml/2006/table">
            <a:tbl>
              <a:tblPr/>
              <a:tblGrid>
                <a:gridCol w="158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33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53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Componente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Stima e IC 95%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 i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</a:t>
                      </a:r>
                    </a:p>
                  </a:txBody>
                  <a:tcPr>
                    <a:solidFill>
                      <a:srgbClr val="AA000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77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Inizio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OR = 1,09</a:t>
                      </a:r>
                    </a:p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[0,70, 1,70]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.693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771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Estensione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IRR = 0,97</a:t>
                      </a:r>
                    </a:p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[0,87, 1,08]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414141"/>
                          </a:solidFill>
                          <a:latin typeface="Arial"/>
                          <a:ea typeface="Arial"/>
                          <a:cs typeface="Arial"/>
                        </a:rPr>
                        <a:t>.573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H1 non supportata">
            <a:extLst>
              <a:ext uri="{FF2B5EF4-FFF2-40B4-BE49-F238E27FC236}">
                <a16:creationId xmlns:a16="http://schemas.microsoft.com/office/drawing/2014/main" id="{3BA12D84-5B80-46E8-A02D-9D30AD6156A3}"/>
              </a:ext>
            </a:extLst>
          </p:cNvPr>
          <p:cNvSpPr>
            <a:spLocks noGrp="1"/>
          </p:cNvSpPr>
          <p:nvPr/>
        </p:nvSpPr>
        <p:spPr>
          <a:xfrm>
            <a:off x="6229350" y="536257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40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H1 non supportata</a:t>
            </a:r>
          </a:p>
        </p:txBody>
      </p:sp>
      <p:sp>
        <p:nvSpPr>
          <p:cNvPr id="16" name="Nessuna evidenza della minore ricerca prevista">
            <a:extLst>
              <a:ext uri="{FF2B5EF4-FFF2-40B4-BE49-F238E27FC236}">
                <a16:creationId xmlns:a16="http://schemas.microsoft.com/office/drawing/2014/main" id="{9EDAC5BF-9E84-4A3D-AED1-603FBAAE42CE}"/>
              </a:ext>
            </a:extLst>
          </p:cNvPr>
          <p:cNvSpPr>
            <a:spLocks noGrp="1"/>
          </p:cNvSpPr>
          <p:nvPr/>
        </p:nvSpPr>
        <p:spPr>
          <a:xfrm>
            <a:off x="6229350" y="5791200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Nessuna evidenza della minore ricerca prevista</a:t>
            </a:r>
          </a:p>
        </p:txBody>
      </p:sp>
    </p:spTree>
    <p:extLst>
      <p:ext uri="{BB962C8B-B14F-4D97-AF65-F5344CB8AC3E}">
        <p14:creationId xmlns:p14="http://schemas.microsoft.com/office/powerpoint/2010/main" val="824204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ezione">
            <a:extLst>
              <a:ext uri="{FF2B5EF4-FFF2-40B4-BE49-F238E27FC236}">
                <a16:creationId xmlns:a16="http://schemas.microsoft.com/office/drawing/2014/main" id="{DFD15AB7-4E25-44D7-977D-0F1927585B7C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Risultati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77193886-5BBE-466E-A1B2-75B2822EFD83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H2 · Identificazione e ricerca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35C848F6-FA43-447F-9968-5CB0591D50BB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13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A104E1F-E553-4090-A3D3-A73D5E415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23135" y="2241410"/>
            <a:ext cx="5432181" cy="3880129"/>
          </a:xfrm>
          <a:prstGeom prst="rect">
            <a:avLst/>
          </a:prstGeom>
        </p:spPr>
      </p:pic>
      <p:sp>
        <p:nvSpPr>
          <p:cNvPr id="100" name="H2 heading">
            <a:extLst>
              <a:ext uri="{FF2B5EF4-FFF2-40B4-BE49-F238E27FC236}">
                <a16:creationId xmlns:a16="http://schemas.microsoft.com/office/drawing/2014/main" id="{9A6FBBFD-C01B-472F-9523-A5FBD733BA54}"/>
              </a:ext>
            </a:extLst>
          </p:cNvPr>
          <p:cNvSpPr>
            <a:spLocks noGrp="1"/>
          </p:cNvSpPr>
          <p:nvPr/>
        </p:nvSpPr>
        <p:spPr>
          <a:xfrm>
            <a:off x="742950" y="1762125"/>
            <a:ext cx="609600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00000"/>
                </a:solidFill>
                <a:latin typeface="Arial"/>
                <a:ea typeface="Arial"/>
                <a:cs typeface="Arial"/>
              </a:rPr>
              <a:t>H2 · Mediazione non supportata</a:t>
            </a:r>
          </a:p>
        </p:txBody>
      </p:sp>
      <p:sp>
        <p:nvSpPr>
          <p:cNvPr id="101" name="H2 initiation">
            <a:extLst>
              <a:ext uri="{FF2B5EF4-FFF2-40B4-BE49-F238E27FC236}">
                <a16:creationId xmlns:a16="http://schemas.microsoft.com/office/drawing/2014/main" id="{02B315A1-C6F6-4545-A561-FAF3C0BB075C}"/>
              </a:ext>
            </a:extLst>
          </p:cNvPr>
          <p:cNvSpPr>
            <a:spLocks noGrp="1"/>
          </p:cNvSpPr>
          <p:nvPr/>
        </p:nvSpPr>
        <p:spPr>
          <a:xfrm>
            <a:off x="742950" y="2152650"/>
            <a:ext cx="6096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Effetto indiretto sull’inizio: 0,0050</a:t>
            </a:r>
          </a:p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IC 95% [−0,0051, 0,0179]</a:t>
            </a:r>
          </a:p>
        </p:txBody>
      </p:sp>
      <p:sp>
        <p:nvSpPr>
          <p:cNvPr id="102" name="H2 extent">
            <a:extLst>
              <a:ext uri="{FF2B5EF4-FFF2-40B4-BE49-F238E27FC236}">
                <a16:creationId xmlns:a16="http://schemas.microsoft.com/office/drawing/2014/main" id="{74CC03E4-2E65-44BB-90C0-3E63DABAF714}"/>
              </a:ext>
            </a:extLst>
          </p:cNvPr>
          <p:cNvSpPr>
            <a:spLocks noGrp="1"/>
          </p:cNvSpPr>
          <p:nvPr/>
        </p:nvSpPr>
        <p:spPr>
          <a:xfrm>
            <a:off x="742950" y="2743200"/>
            <a:ext cx="6096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Sull’estensione: −0,0029</a:t>
            </a:r>
          </a:p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IC 95% [−0,0388, 0,0332]</a:t>
            </a:r>
          </a:p>
        </p:txBody>
      </p:sp>
      <p:sp>
        <p:nvSpPr>
          <p:cNvPr id="103" name="H2a heading">
            <a:extLst>
              <a:ext uri="{FF2B5EF4-FFF2-40B4-BE49-F238E27FC236}">
                <a16:creationId xmlns:a16="http://schemas.microsoft.com/office/drawing/2014/main" id="{AF698D66-7954-47D5-B2E0-4AD74699C7A0}"/>
              </a:ext>
            </a:extLst>
          </p:cNvPr>
          <p:cNvSpPr>
            <a:spLocks noGrp="1"/>
          </p:cNvSpPr>
          <p:nvPr/>
        </p:nvSpPr>
        <p:spPr>
          <a:xfrm>
            <a:off x="742950" y="3457575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00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00000"/>
                </a:solidFill>
                <a:latin typeface="Arial"/>
                <a:ea typeface="Arial"/>
                <a:cs typeface="Arial"/>
              </a:rPr>
              <a:t>H2a · Identificazione: differenza non significativa</a:t>
            </a:r>
          </a:p>
        </p:txBody>
      </p:sp>
      <p:sp>
        <p:nvSpPr>
          <p:cNvPr id="104" name="H2a contrast">
            <a:extLst>
              <a:ext uri="{FF2B5EF4-FFF2-40B4-BE49-F238E27FC236}">
                <a16:creationId xmlns:a16="http://schemas.microsoft.com/office/drawing/2014/main" id="{B4CB6B10-9C27-4622-9FA4-9F90ABE0F146}"/>
              </a:ext>
            </a:extLst>
          </p:cNvPr>
          <p:cNvSpPr>
            <a:spLocks noGrp="1"/>
          </p:cNvSpPr>
          <p:nvPr/>
        </p:nvSpPr>
        <p:spPr>
          <a:xfrm>
            <a:off x="742950" y="3800475"/>
            <a:ext cx="60960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Perdita rispetto a guadagno</a:t>
            </a:r>
          </a:p>
        </p:txBody>
      </p:sp>
      <p:sp>
        <p:nvSpPr>
          <p:cNvPr id="105" name="H2a statistics">
            <a:extLst>
              <a:ext uri="{FF2B5EF4-FFF2-40B4-BE49-F238E27FC236}">
                <a16:creationId xmlns:a16="http://schemas.microsoft.com/office/drawing/2014/main" id="{1064F2FB-7A47-4EBD-A1D5-335E13DB3A6B}"/>
              </a:ext>
            </a:extLst>
          </p:cNvPr>
          <p:cNvSpPr>
            <a:spLocks noGrp="1"/>
          </p:cNvSpPr>
          <p:nvPr/>
        </p:nvSpPr>
        <p:spPr>
          <a:xfrm>
            <a:off x="742950" y="4086225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OR = 1,31; IC 95% [0,76, 2,28]; </a:t>
            </a:r>
            <a:r>
              <a:rPr sz="1650" b="0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= .334</a:t>
            </a:r>
          </a:p>
        </p:txBody>
      </p:sp>
      <p:sp>
        <p:nvSpPr>
          <p:cNvPr id="106" name="H2b heading">
            <a:extLst>
              <a:ext uri="{FF2B5EF4-FFF2-40B4-BE49-F238E27FC236}">
                <a16:creationId xmlns:a16="http://schemas.microsoft.com/office/drawing/2014/main" id="{B04CFF51-C003-4C43-B6F4-29C976DD70A5}"/>
              </a:ext>
            </a:extLst>
          </p:cNvPr>
          <p:cNvSpPr>
            <a:spLocks noGrp="1"/>
          </p:cNvSpPr>
          <p:nvPr/>
        </p:nvSpPr>
        <p:spPr>
          <a:xfrm>
            <a:off x="742950" y="4572000"/>
            <a:ext cx="6191250" cy="2952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00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00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00000"/>
                </a:solidFill>
                <a:latin typeface="Arial"/>
                <a:ea typeface="Arial"/>
                <a:cs typeface="Arial"/>
              </a:rPr>
              <a:t>H2b · Associazione opposta alla previsione</a:t>
            </a:r>
          </a:p>
        </p:txBody>
      </p:sp>
      <p:sp>
        <p:nvSpPr>
          <p:cNvPr id="107" name="H2b initiation">
            <a:extLst>
              <a:ext uri="{FF2B5EF4-FFF2-40B4-BE49-F238E27FC236}">
                <a16:creationId xmlns:a16="http://schemas.microsoft.com/office/drawing/2014/main" id="{1B7BBF81-0834-497F-8640-048ED325A471}"/>
              </a:ext>
            </a:extLst>
          </p:cNvPr>
          <p:cNvSpPr>
            <a:spLocks noGrp="1"/>
          </p:cNvSpPr>
          <p:nvPr/>
        </p:nvSpPr>
        <p:spPr>
          <a:xfrm>
            <a:off x="742950" y="491490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Più identificazione, più frequente inizio</a:t>
            </a:r>
          </a:p>
        </p:txBody>
      </p:sp>
      <p:sp>
        <p:nvSpPr>
          <p:cNvPr id="108" name="H2b statistics">
            <a:extLst>
              <a:ext uri="{FF2B5EF4-FFF2-40B4-BE49-F238E27FC236}">
                <a16:creationId xmlns:a16="http://schemas.microsoft.com/office/drawing/2014/main" id="{1DC32726-1459-45C0-A7C9-7AEDCC603C74}"/>
              </a:ext>
            </a:extLst>
          </p:cNvPr>
          <p:cNvSpPr>
            <a:spLocks noGrp="1"/>
          </p:cNvSpPr>
          <p:nvPr/>
        </p:nvSpPr>
        <p:spPr>
          <a:xfrm>
            <a:off x="742950" y="5210175"/>
            <a:ext cx="6191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OR = 1,23; IC 95% [1,07, 1,41]; </a:t>
            </a:r>
            <a:r>
              <a:rPr sz="1650" b="1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650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 = .003</a:t>
            </a:r>
          </a:p>
        </p:txBody>
      </p:sp>
      <p:sp>
        <p:nvSpPr>
          <p:cNvPr id="109" name="H2b extent">
            <a:extLst>
              <a:ext uri="{FF2B5EF4-FFF2-40B4-BE49-F238E27FC236}">
                <a16:creationId xmlns:a16="http://schemas.microsoft.com/office/drawing/2014/main" id="{DCD7FCC1-D95F-44F8-8B3C-FE783BBC0E54}"/>
              </a:ext>
            </a:extLst>
          </p:cNvPr>
          <p:cNvSpPr>
            <a:spLocks noGrp="1"/>
          </p:cNvSpPr>
          <p:nvPr/>
        </p:nvSpPr>
        <p:spPr>
          <a:xfrm>
            <a:off x="742950" y="5619750"/>
            <a:ext cx="6286500" cy="5429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5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Estensione non significativa</a:t>
            </a:r>
          </a:p>
          <a:p>
            <a:pPr>
              <a:defRPr sz="1575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IRR = 0,99; IC 95% [0,94, 1,05]; </a:t>
            </a:r>
            <a:r>
              <a:rPr sz="1575" b="0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575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= .797</a:t>
            </a:r>
          </a:p>
        </p:txBody>
      </p:sp>
      <p:sp>
        <p:nvSpPr>
          <p:cNvPr id="110" name="Chart heading">
            <a:extLst>
              <a:ext uri="{FF2B5EF4-FFF2-40B4-BE49-F238E27FC236}">
                <a16:creationId xmlns:a16="http://schemas.microsoft.com/office/drawing/2014/main" id="{FCF035EB-7E4C-422F-ACCF-84C609F1A934}"/>
              </a:ext>
            </a:extLst>
          </p:cNvPr>
          <p:cNvSpPr>
            <a:spLocks noGrp="1"/>
          </p:cNvSpPr>
          <p:nvPr/>
        </p:nvSpPr>
        <p:spPr>
          <a:xfrm>
            <a:off x="6696075" y="1762125"/>
            <a:ext cx="4543425" cy="5429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H2b · Identificazione e inizio della ricerca</a:t>
            </a:r>
          </a:p>
        </p:txBody>
      </p:sp>
    </p:spTree>
    <p:extLst>
      <p:ext uri="{BB962C8B-B14F-4D97-AF65-F5344CB8AC3E}">
        <p14:creationId xmlns:p14="http://schemas.microsoft.com/office/powerpoint/2010/main" val="6688222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ezione">
            <a:extLst>
              <a:ext uri="{FF2B5EF4-FFF2-40B4-BE49-F238E27FC236}">
                <a16:creationId xmlns:a16="http://schemas.microsoft.com/office/drawing/2014/main" id="{248851A2-6F18-4014-9891-DCB89EB62542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Risultati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D9CEFFF6-F434-4848-8374-5BB921313712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H3 · </a:t>
            </a:r>
            <a:r>
              <a:rPr lang="it-IT"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Confronto verso l’alto e inizio della ricerca</a:t>
            </a:r>
            <a:endParaRPr sz="2550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1E6A5314-F298-4A3B-8C67-AF33F0396BC4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14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BD6C1C5-5451-4DE7-A0BA-F685555E7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01028" y="1809750"/>
            <a:ext cx="6427470" cy="4591050"/>
          </a:xfrm>
          <a:prstGeom prst="rect">
            <a:avLst/>
          </a:prstGeom>
        </p:spPr>
      </p:pic>
      <p:sp>
        <p:nvSpPr>
          <p:cNvPr id="5" name="Probabilità osservate">
            <a:extLst>
              <a:ext uri="{FF2B5EF4-FFF2-40B4-BE49-F238E27FC236}">
                <a16:creationId xmlns:a16="http://schemas.microsoft.com/office/drawing/2014/main" id="{74FED0E3-E8AF-427B-9B8D-755AC8F5E6C3}"/>
              </a:ext>
            </a:extLst>
          </p:cNvPr>
          <p:cNvSpPr>
            <a:spLocks noGrp="1"/>
          </p:cNvSpPr>
          <p:nvPr/>
        </p:nvSpPr>
        <p:spPr>
          <a:xfrm>
            <a:off x="7467600" y="1800225"/>
            <a:ext cx="40005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Probabilità osservate</a:t>
            </a:r>
          </a:p>
        </p:txBody>
      </p:sp>
      <p:sp>
        <p:nvSpPr>
          <p:cNvPr id="6" name="60,8%: esito peggiore&#10;52,8%: esito migliore">
            <a:extLst>
              <a:ext uri="{FF2B5EF4-FFF2-40B4-BE49-F238E27FC236}">
                <a16:creationId xmlns:a16="http://schemas.microsoft.com/office/drawing/2014/main" id="{B674969A-4ACA-4B0A-BC0B-FFF3A9515E9D}"/>
              </a:ext>
            </a:extLst>
          </p:cNvPr>
          <p:cNvSpPr>
            <a:spLocks noGrp="1"/>
          </p:cNvSpPr>
          <p:nvPr/>
        </p:nvSpPr>
        <p:spPr>
          <a:xfrm>
            <a:off x="7467600" y="2257425"/>
            <a:ext cx="40005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60,8%: esito peggiore</a:t>
            </a:r>
          </a:p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52,8%: esito migliore</a:t>
            </a:r>
          </a:p>
        </p:txBody>
      </p:sp>
      <p:sp>
        <p:nvSpPr>
          <p:cNvPr id="7" name="OR = 1,65">
            <a:extLst>
              <a:ext uri="{FF2B5EF4-FFF2-40B4-BE49-F238E27FC236}">
                <a16:creationId xmlns:a16="http://schemas.microsoft.com/office/drawing/2014/main" id="{EB8538AF-EE95-4BCB-8D97-5954E78F65BF}"/>
              </a:ext>
            </a:extLst>
          </p:cNvPr>
          <p:cNvSpPr>
            <a:spLocks noGrp="1"/>
          </p:cNvSpPr>
          <p:nvPr/>
        </p:nvSpPr>
        <p:spPr>
          <a:xfrm>
            <a:off x="7467600" y="3209925"/>
            <a:ext cx="400050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1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OR = 1,65</a:t>
            </a:r>
          </a:p>
        </p:txBody>
      </p:sp>
      <p:sp>
        <p:nvSpPr>
          <p:cNvPr id="8" name="Esito peggiore vs migliore&#10;IC 95% [1,13, 2,40]&#10;p = .009">
            <a:extLst>
              <a:ext uri="{FF2B5EF4-FFF2-40B4-BE49-F238E27FC236}">
                <a16:creationId xmlns:a16="http://schemas.microsoft.com/office/drawing/2014/main" id="{491AAEE0-304E-4BB7-961A-8192F5C1DD16}"/>
              </a:ext>
            </a:extLst>
          </p:cNvPr>
          <p:cNvSpPr>
            <a:spLocks noGrp="1"/>
          </p:cNvSpPr>
          <p:nvPr/>
        </p:nvSpPr>
        <p:spPr>
          <a:xfrm>
            <a:off x="7467600" y="3810000"/>
            <a:ext cx="4000500" cy="1028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Esito peggiore vs migliore</a:t>
            </a: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IC 95% [1,13, 2,40]</a:t>
            </a:r>
          </a:p>
          <a:p>
            <a:pPr algn="l">
              <a:defRPr sz="195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950" b="0" i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</a:t>
            </a:r>
            <a:r>
              <a:rPr sz="1950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= .009</a:t>
            </a:r>
          </a:p>
        </p:txBody>
      </p:sp>
      <p:sp>
        <p:nvSpPr>
          <p:cNvPr id="9" name="H3: supporto per l’inizio">
            <a:extLst>
              <a:ext uri="{FF2B5EF4-FFF2-40B4-BE49-F238E27FC236}">
                <a16:creationId xmlns:a16="http://schemas.microsoft.com/office/drawing/2014/main" id="{11A6E908-BD4D-41A9-AF82-6925F6293E48}"/>
              </a:ext>
            </a:extLst>
          </p:cNvPr>
          <p:cNvSpPr>
            <a:spLocks noGrp="1"/>
          </p:cNvSpPr>
          <p:nvPr/>
        </p:nvSpPr>
        <p:spPr>
          <a:xfrm>
            <a:off x="7467600" y="4972050"/>
            <a:ext cx="4000500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H3: supporto per l’inizio</a:t>
            </a:r>
          </a:p>
        </p:txBody>
      </p:sp>
      <p:sp>
        <p:nvSpPr>
          <p:cNvPr id="10" name="Estensione: nessuna evidenza&#10;IRR = 1,06; IC 95% [0,96, 1,17]">
            <a:extLst>
              <a:ext uri="{FF2B5EF4-FFF2-40B4-BE49-F238E27FC236}">
                <a16:creationId xmlns:a16="http://schemas.microsoft.com/office/drawing/2014/main" id="{E5C87FA6-C551-4526-B10E-AABF0A7F93B9}"/>
              </a:ext>
            </a:extLst>
          </p:cNvPr>
          <p:cNvSpPr>
            <a:spLocks noGrp="1"/>
          </p:cNvSpPr>
          <p:nvPr/>
        </p:nvSpPr>
        <p:spPr>
          <a:xfrm>
            <a:off x="7467600" y="5448300"/>
            <a:ext cx="4000500" cy="866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Estensione: nessuna evidenza</a:t>
            </a:r>
          </a:p>
          <a:p>
            <a: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IRR = 1,06; IC 95% [0,96, 1,17]</a:t>
            </a:r>
          </a:p>
          <a:p>
            <a: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725" b="0" i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</a:t>
            </a:r>
            <a:r>
              <a:rPr sz="172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= .262</a:t>
            </a:r>
          </a:p>
        </p:txBody>
      </p:sp>
      <p:sp>
        <p:nvSpPr>
          <p:cNvPr id="11" name="Descrittive: medie per partecipante e IC 95%">
            <a:extLst>
              <a:ext uri="{FF2B5EF4-FFF2-40B4-BE49-F238E27FC236}">
                <a16:creationId xmlns:a16="http://schemas.microsoft.com/office/drawing/2014/main" id="{509525C6-14F1-4035-B02A-1B794578CFA3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59626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Descrittive: medie per partecipante e IC 95%</a:t>
            </a:r>
          </a:p>
        </p:txBody>
      </p:sp>
    </p:spTree>
    <p:extLst>
      <p:ext uri="{BB962C8B-B14F-4D97-AF65-F5344CB8AC3E}">
        <p14:creationId xmlns:p14="http://schemas.microsoft.com/office/powerpoint/2010/main" val="1178612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Sezione">
            <a:extLst>
              <a:ext uri="{FF2B5EF4-FFF2-40B4-BE49-F238E27FC236}">
                <a16:creationId xmlns:a16="http://schemas.microsoft.com/office/drawing/2014/main" id="{7E40A048-8312-4566-BC23-BEA5314B6405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Discussione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38783444-B412-4BFB-9177-ABCE98E118DE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lang="it-IT" sz="2550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Sintesi dei risultati</a:t>
            </a:r>
            <a:endParaRPr sz="2550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C227AC1E-C8E2-4141-A7A8-1536E457775A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15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Dominio">
            <a:extLst>
              <a:ext uri="{FF2B5EF4-FFF2-40B4-BE49-F238E27FC236}">
                <a16:creationId xmlns:a16="http://schemas.microsoft.com/office/drawing/2014/main" id="{8D09415C-68C2-43E6-A6AC-B08162257786}"/>
              </a:ext>
            </a:extLst>
          </p:cNvPr>
          <p:cNvSpPr>
            <a:spLocks noGrp="1"/>
          </p:cNvSpPr>
          <p:nvPr/>
        </p:nvSpPr>
        <p:spPr>
          <a:xfrm>
            <a:off x="742950" y="1838325"/>
            <a:ext cx="29813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Dominio</a:t>
            </a:r>
          </a:p>
        </p:txBody>
      </p:sp>
      <p:sp>
        <p:nvSpPr>
          <p:cNvPr id="5" name="La felicità cambia, ma non emerge la differenza&#10;prevista nel">
            <a:extLst>
              <a:ext uri="{FF2B5EF4-FFF2-40B4-BE49-F238E27FC236}">
                <a16:creationId xmlns:a16="http://schemas.microsoft.com/office/drawing/2014/main" id="{4527AFA6-5BF3-4E84-AEFC-F143E9938842}"/>
              </a:ext>
            </a:extLst>
          </p:cNvPr>
          <p:cNvSpPr>
            <a:spLocks noGrp="1"/>
          </p:cNvSpPr>
          <p:nvPr/>
        </p:nvSpPr>
        <p:spPr>
          <a:xfrm>
            <a:off x="4076700" y="1838325"/>
            <a:ext cx="737235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La felicità cambia, ma non emerge la differenza</a:t>
            </a:r>
          </a:p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prevista nella ricerca.</a:t>
            </a:r>
          </a:p>
        </p:txBody>
      </p:sp>
      <p:sp>
        <p:nvSpPr>
          <p:cNvPr id="6" name="Connettore diritto 5">
            <a:extLst>
              <a:ext uri="{FF2B5EF4-FFF2-40B4-BE49-F238E27FC236}">
                <a16:creationId xmlns:a16="http://schemas.microsoft.com/office/drawing/2014/main" id="{F2BAE508-47E2-4346-93E1-8EFAA9C0AC04}"/>
              </a:ext>
            </a:extLst>
          </p:cNvPr>
          <p:cNvSpPr>
            <a:spLocks noGrp="1"/>
          </p:cNvSpPr>
          <p:nvPr/>
        </p:nvSpPr>
        <p:spPr>
          <a:xfrm>
            <a:off x="742950" y="2828925"/>
            <a:ext cx="10706100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Identificazione">
            <a:extLst>
              <a:ext uri="{FF2B5EF4-FFF2-40B4-BE49-F238E27FC236}">
                <a16:creationId xmlns:a16="http://schemas.microsoft.com/office/drawing/2014/main" id="{DC5B619E-25EE-4C28-B8CB-D622FA557E1A}"/>
              </a:ext>
            </a:extLst>
          </p:cNvPr>
          <p:cNvSpPr>
            <a:spLocks noGrp="1"/>
          </p:cNvSpPr>
          <p:nvPr/>
        </p:nvSpPr>
        <p:spPr>
          <a:xfrm>
            <a:off x="742950" y="3028950"/>
            <a:ext cx="29813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Identificazione</a:t>
            </a:r>
          </a:p>
        </p:txBody>
      </p:sp>
      <p:sp>
        <p:nvSpPr>
          <p:cNvPr id="8" name="Associazione positiva con l’avvio, contraria a H2b.&#10;Il mecca">
            <a:extLst>
              <a:ext uri="{FF2B5EF4-FFF2-40B4-BE49-F238E27FC236}">
                <a16:creationId xmlns:a16="http://schemas.microsoft.com/office/drawing/2014/main" id="{CC2AAD06-0A56-4152-BBA7-61074803BED2}"/>
              </a:ext>
            </a:extLst>
          </p:cNvPr>
          <p:cNvSpPr>
            <a:spLocks noGrp="1"/>
          </p:cNvSpPr>
          <p:nvPr/>
        </p:nvSpPr>
        <p:spPr>
          <a:xfrm>
            <a:off x="4076700" y="3028950"/>
            <a:ext cx="737235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Associazione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positiva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con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l’avvio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,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contraria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a H2b.</a:t>
            </a:r>
          </a:p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10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Direzione causale?</a:t>
            </a:r>
            <a:endParaRPr sz="210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Connettore diritto 8">
            <a:extLst>
              <a:ext uri="{FF2B5EF4-FFF2-40B4-BE49-F238E27FC236}">
                <a16:creationId xmlns:a16="http://schemas.microsoft.com/office/drawing/2014/main" id="{07F8D114-D5F7-47A6-B20B-ECD6F4715507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10706100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Direzione possibile">
            <a:extLst>
              <a:ext uri="{FF2B5EF4-FFF2-40B4-BE49-F238E27FC236}">
                <a16:creationId xmlns:a16="http://schemas.microsoft.com/office/drawing/2014/main" id="{F96A419B-DB5D-460C-BCEA-98CD82FB6396}"/>
              </a:ext>
            </a:extLst>
          </p:cNvPr>
          <p:cNvSpPr>
            <a:spLocks noGrp="1"/>
          </p:cNvSpPr>
          <p:nvPr/>
        </p:nvSpPr>
        <p:spPr>
          <a:xfrm>
            <a:off x="742950" y="4219575"/>
            <a:ext cx="298132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lang="it-IT" sz="217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Confronto verso l’alto</a:t>
            </a:r>
            <a:endParaRPr sz="2175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Avvio più frequente quando è possibile il confronto&#10;verso l’">
            <a:extLst>
              <a:ext uri="{FF2B5EF4-FFF2-40B4-BE49-F238E27FC236}">
                <a16:creationId xmlns:a16="http://schemas.microsoft.com/office/drawing/2014/main" id="{9465FC33-36EB-49AE-973A-1A3A4492E1F5}"/>
              </a:ext>
            </a:extLst>
          </p:cNvPr>
          <p:cNvSpPr>
            <a:spLocks noGrp="1"/>
          </p:cNvSpPr>
          <p:nvPr/>
        </p:nvSpPr>
        <p:spPr>
          <a:xfrm>
            <a:off x="4076700" y="4219575"/>
            <a:ext cx="737235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Avvio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più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frequente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quando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è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possibile</a:t>
            </a: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il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confronto</a:t>
            </a:r>
            <a:endParaRPr sz="210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  <a:p>
            <a:pPr algn="l">
              <a:defRPr sz="2100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00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verso </a:t>
            </a:r>
            <a:r>
              <a:rPr sz="2100" b="0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l’alto</a:t>
            </a:r>
            <a:r>
              <a:rPr lang="it-IT" sz="210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. Possibile differenza tra avvio ed estensione.</a:t>
            </a:r>
            <a:endParaRPr sz="2100" b="0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Connettore diritto 11">
            <a:extLst>
              <a:ext uri="{FF2B5EF4-FFF2-40B4-BE49-F238E27FC236}">
                <a16:creationId xmlns:a16="http://schemas.microsoft.com/office/drawing/2014/main" id="{25DF92C3-88F6-428E-B679-2BFDB6F9FA02}"/>
              </a:ext>
            </a:extLst>
          </p:cNvPr>
          <p:cNvSpPr>
            <a:spLocks noGrp="1"/>
          </p:cNvSpPr>
          <p:nvPr/>
        </p:nvSpPr>
        <p:spPr>
          <a:xfrm>
            <a:off x="742950" y="5562600"/>
            <a:ext cx="10706100" cy="0"/>
          </a:xfrm>
          <a:prstGeom prst="line">
            <a:avLst/>
          </a:prstGeom>
          <a:noFill/>
          <a:ln w="19050">
            <a:solidFill>
              <a:srgbClr val="AA000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69721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ezione">
            <a:extLst>
              <a:ext uri="{FF2B5EF4-FFF2-40B4-BE49-F238E27FC236}">
                <a16:creationId xmlns:a16="http://schemas.microsoft.com/office/drawing/2014/main" id="{657B1097-403B-47BF-B7EB-A919021A853A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Discussione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5BB91A0A-ECE1-45C5-AECC-20C428338232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Limiti dello studio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273592D8-E7D1-45E3-B411-EA1574A1536E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16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01">
            <a:extLst>
              <a:ext uri="{FF2B5EF4-FFF2-40B4-BE49-F238E27FC236}">
                <a16:creationId xmlns:a16="http://schemas.microsoft.com/office/drawing/2014/main" id="{9E3BE505-E1C7-45CD-A6E1-BCE748163970}"/>
              </a:ext>
            </a:extLst>
          </p:cNvPr>
          <p:cNvSpPr>
            <a:spLocks noGrp="1"/>
          </p:cNvSpPr>
          <p:nvPr/>
        </p:nvSpPr>
        <p:spPr>
          <a:xfrm>
            <a:off x="742950" y="1752600"/>
            <a:ext cx="419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5" name="H2 · Presupposti non verificati">
            <a:extLst>
              <a:ext uri="{FF2B5EF4-FFF2-40B4-BE49-F238E27FC236}">
                <a16:creationId xmlns:a16="http://schemas.microsoft.com/office/drawing/2014/main" id="{C9893923-ABC4-4C4A-9D45-E2D3ACD3F5C2}"/>
              </a:ext>
            </a:extLst>
          </p:cNvPr>
          <p:cNvSpPr>
            <a:spLocks noGrp="1"/>
          </p:cNvSpPr>
          <p:nvPr/>
        </p:nvSpPr>
        <p:spPr>
          <a:xfrm>
            <a:off x="1362075" y="278130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H2 · </a:t>
            </a:r>
            <a:r>
              <a:rPr lang="it-IT"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Supposizione troppo forte</a:t>
            </a:r>
            <a:endParaRPr sz="2025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Evitamento previsto solo con disagio avversivo sufficiente. ">
            <a:extLst>
              <a:ext uri="{FF2B5EF4-FFF2-40B4-BE49-F238E27FC236}">
                <a16:creationId xmlns:a16="http://schemas.microsoft.com/office/drawing/2014/main" id="{B339F85E-4A04-4457-928A-9AB3F8E88294}"/>
              </a:ext>
            </a:extLst>
          </p:cNvPr>
          <p:cNvSpPr>
            <a:spLocks noGrp="1"/>
          </p:cNvSpPr>
          <p:nvPr/>
        </p:nvSpPr>
        <p:spPr>
          <a:xfrm>
            <a:off x="5076825" y="2781300"/>
            <a:ext cx="63722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Evitamento previsto solo con disagio avversivo sufficiente. Risposta empatica, disagio e intenzione di evitare non misurati.</a:t>
            </a:r>
          </a:p>
        </p:txBody>
      </p:sp>
      <p:sp>
        <p:nvSpPr>
          <p:cNvPr id="7" name="Connettore diritto 6">
            <a:extLst>
              <a:ext uri="{FF2B5EF4-FFF2-40B4-BE49-F238E27FC236}">
                <a16:creationId xmlns:a16="http://schemas.microsoft.com/office/drawing/2014/main" id="{EFD33D5C-A78E-45F6-96FD-43D4C8923BFB}"/>
              </a:ext>
            </a:extLst>
          </p:cNvPr>
          <p:cNvSpPr>
            <a:spLocks noGrp="1"/>
          </p:cNvSpPr>
          <p:nvPr/>
        </p:nvSpPr>
        <p:spPr>
          <a:xfrm>
            <a:off x="1362075" y="2695575"/>
            <a:ext cx="10086975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02">
            <a:extLst>
              <a:ext uri="{FF2B5EF4-FFF2-40B4-BE49-F238E27FC236}">
                <a16:creationId xmlns:a16="http://schemas.microsoft.com/office/drawing/2014/main" id="{A380F860-5B46-4ABA-8D0E-F680C40502FF}"/>
              </a:ext>
            </a:extLst>
          </p:cNvPr>
          <p:cNvSpPr>
            <a:spLocks noGrp="1"/>
          </p:cNvSpPr>
          <p:nvPr/>
        </p:nvSpPr>
        <p:spPr>
          <a:xfrm>
            <a:off x="742950" y="2781300"/>
            <a:ext cx="419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H3 · Fattori inseparabili">
            <a:extLst>
              <a:ext uri="{FF2B5EF4-FFF2-40B4-BE49-F238E27FC236}">
                <a16:creationId xmlns:a16="http://schemas.microsoft.com/office/drawing/2014/main" id="{718DC4DA-0895-4A81-BE53-0006FC72B192}"/>
              </a:ext>
            </a:extLst>
          </p:cNvPr>
          <p:cNvSpPr>
            <a:spLocks noGrp="1"/>
          </p:cNvSpPr>
          <p:nvPr/>
        </p:nvSpPr>
        <p:spPr>
          <a:xfrm>
            <a:off x="1362075" y="1752600"/>
            <a:ext cx="3381375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H3 · </a:t>
            </a:r>
            <a:r>
              <a:rPr lang="it-IT" sz="2025" b="1" dirty="0">
                <a:solidFill>
                  <a:srgbClr val="AA0004"/>
                </a:solidFill>
                <a:latin typeface="Arial"/>
                <a:ea typeface="Arial"/>
                <a:cs typeface="Arial"/>
              </a:rPr>
              <a:t>Fattore confondente</a:t>
            </a:r>
            <a:endParaRPr sz="2025" b="1" dirty="0">
              <a:solidFill>
                <a:srgbClr val="AA000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Esito proprio peggiore e possibilità di confronto verso l’al">
            <a:extLst>
              <a:ext uri="{FF2B5EF4-FFF2-40B4-BE49-F238E27FC236}">
                <a16:creationId xmlns:a16="http://schemas.microsoft.com/office/drawing/2014/main" id="{ABCC0CD7-8C37-406B-989C-349110CC68AD}"/>
              </a:ext>
            </a:extLst>
          </p:cNvPr>
          <p:cNvSpPr>
            <a:spLocks noGrp="1"/>
          </p:cNvSpPr>
          <p:nvPr/>
        </p:nvSpPr>
        <p:spPr>
          <a:xfrm>
            <a:off x="5076825" y="1752600"/>
            <a:ext cx="63722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414141"/>
                </a:solidFill>
                <a:latin typeface="Arial"/>
                <a:ea typeface="Arial"/>
                <a:cs typeface="Arial"/>
              </a:rPr>
              <a:t>Esito proprio peggiore e possibilità di confronto verso l’alto coincidono. Il risultato può riflettere l’uno, l’altra o entrambi.</a:t>
            </a:r>
          </a:p>
        </p:txBody>
      </p:sp>
      <p:sp>
        <p:nvSpPr>
          <p:cNvPr id="13" name="Richiesta e comparazione">
            <a:extLst>
              <a:ext uri="{FF2B5EF4-FFF2-40B4-BE49-F238E27FC236}">
                <a16:creationId xmlns:a16="http://schemas.microsoft.com/office/drawing/2014/main" id="{5684A6ED-284F-4ED0-B6DE-289A2C8B2799}"/>
              </a:ext>
            </a:extLst>
          </p:cNvPr>
          <p:cNvSpPr>
            <a:spLocks noGrp="1"/>
          </p:cNvSpPr>
          <p:nvPr/>
        </p:nvSpPr>
        <p:spPr>
          <a:xfrm>
            <a:off x="1362075" y="4060541"/>
            <a:ext cx="3381375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Vincolo del disegno</a:t>
            </a:r>
          </a:p>
        </p:txBody>
      </p:sp>
      <p:sp>
        <p:nvSpPr>
          <p:cNvPr id="14" name="Si misura la richiesta di esiti, non se siano stati confront">
            <a:extLst>
              <a:ext uri="{FF2B5EF4-FFF2-40B4-BE49-F238E27FC236}">
                <a16:creationId xmlns:a16="http://schemas.microsoft.com/office/drawing/2014/main" id="{FDAF3621-ED48-4E73-A6D8-EA27E782E2D1}"/>
              </a:ext>
            </a:extLst>
          </p:cNvPr>
          <p:cNvSpPr>
            <a:spLocks noGrp="1"/>
          </p:cNvSpPr>
          <p:nvPr/>
        </p:nvSpPr>
        <p:spPr>
          <a:xfrm>
            <a:off x="5076825" y="4060541"/>
            <a:ext cx="63722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1725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Solo roulette corrente e stesso dominio: nessuna scelta tra contesti.</a:t>
            </a:r>
          </a:p>
        </p:txBody>
      </p:sp>
      <p:sp>
        <p:nvSpPr>
          <p:cNvPr id="16" name="04">
            <a:extLst>
              <a:ext uri="{FF2B5EF4-FFF2-40B4-BE49-F238E27FC236}">
                <a16:creationId xmlns:a16="http://schemas.microsoft.com/office/drawing/2014/main" id="{009035B0-1062-4906-8D14-51E805AFFF80}"/>
              </a:ext>
            </a:extLst>
          </p:cNvPr>
          <p:cNvSpPr>
            <a:spLocks noGrp="1"/>
          </p:cNvSpPr>
          <p:nvPr/>
        </p:nvSpPr>
        <p:spPr>
          <a:xfrm>
            <a:off x="742950" y="4060541"/>
            <a:ext cx="419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Connettore diritto 18">
            <a:extLst>
              <a:ext uri="{FF2B5EF4-FFF2-40B4-BE49-F238E27FC236}">
                <a16:creationId xmlns:a16="http://schemas.microsoft.com/office/drawing/2014/main" id="{200EC09F-0B2E-4AAF-8CF8-0A1C344E2A68}"/>
              </a:ext>
            </a:extLst>
          </p:cNvPr>
          <p:cNvSpPr>
            <a:spLocks noGrp="1"/>
          </p:cNvSpPr>
          <p:nvPr/>
        </p:nvSpPr>
        <p:spPr>
          <a:xfrm>
            <a:off x="1373187" y="4751470"/>
            <a:ext cx="10086975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05">
            <a:extLst>
              <a:ext uri="{FF2B5EF4-FFF2-40B4-BE49-F238E27FC236}">
                <a16:creationId xmlns:a16="http://schemas.microsoft.com/office/drawing/2014/main" id="{7ED9A6B1-3189-481D-9684-C9B3C951F9A5}"/>
              </a:ext>
            </a:extLst>
          </p:cNvPr>
          <p:cNvSpPr>
            <a:spLocks noGrp="1"/>
          </p:cNvSpPr>
          <p:nvPr/>
        </p:nvSpPr>
        <p:spPr>
          <a:xfrm>
            <a:off x="742950" y="4867967"/>
            <a:ext cx="419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7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1" name="Rilevanza dello standard">
            <a:extLst>
              <a:ext uri="{FF2B5EF4-FFF2-40B4-BE49-F238E27FC236}">
                <a16:creationId xmlns:a16="http://schemas.microsoft.com/office/drawing/2014/main" id="{8633E384-CCBB-446F-A735-0F2E151DAE10}"/>
              </a:ext>
            </a:extLst>
          </p:cNvPr>
          <p:cNvSpPr>
            <a:spLocks noGrp="1"/>
          </p:cNvSpPr>
          <p:nvPr/>
        </p:nvSpPr>
        <p:spPr>
          <a:xfrm>
            <a:off x="1362075" y="4867967"/>
            <a:ext cx="3381375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0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Controllo non sociale assente</a:t>
            </a:r>
          </a:p>
        </p:txBody>
      </p:sp>
      <p:sp>
        <p:nvSpPr>
          <p:cNvPr id="22" name="Sconosciuti, un nome e un esito casuale: rilevanza personale">
            <a:extLst>
              <a:ext uri="{FF2B5EF4-FFF2-40B4-BE49-F238E27FC236}">
                <a16:creationId xmlns:a16="http://schemas.microsoft.com/office/drawing/2014/main" id="{5E41F450-5BE2-4512-935F-50290A193A59}"/>
              </a:ext>
            </a:extLst>
          </p:cNvPr>
          <p:cNvSpPr>
            <a:spLocks noGrp="1"/>
          </p:cNvSpPr>
          <p:nvPr/>
        </p:nvSpPr>
        <p:spPr>
          <a:xfrm>
            <a:off x="5076825" y="4867967"/>
            <a:ext cx="63722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1725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Manca un confronto con informazioni equivalenti da una fonte non sociale.</a:t>
            </a:r>
          </a:p>
        </p:txBody>
      </p:sp>
      <p:sp>
        <p:nvSpPr>
          <p:cNvPr id="23" name="Connettore diritto 22">
            <a:extLst>
              <a:ext uri="{FF2B5EF4-FFF2-40B4-BE49-F238E27FC236}">
                <a16:creationId xmlns:a16="http://schemas.microsoft.com/office/drawing/2014/main" id="{D5181579-71D0-CA2F-EFB5-FF28ADF5878B}"/>
              </a:ext>
            </a:extLst>
          </p:cNvPr>
          <p:cNvSpPr>
            <a:spLocks noGrp="1"/>
          </p:cNvSpPr>
          <p:nvPr/>
        </p:nvSpPr>
        <p:spPr>
          <a:xfrm>
            <a:off x="1373187" y="3934637"/>
            <a:ext cx="10086975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3370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ezione">
            <a:extLst>
              <a:ext uri="{FF2B5EF4-FFF2-40B4-BE49-F238E27FC236}">
                <a16:creationId xmlns:a16="http://schemas.microsoft.com/office/drawing/2014/main" id="{E7CA2E5B-1E81-48D8-B299-9AC7EDA431E3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Conclusioni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7EEFE198-2F60-453B-871F-A76C09218D75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Conclusioni e sviluppi futuri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EFA5E3E-7AE6-40CE-BC7F-98DB49DBC926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17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Differenza tra domini non supportata&#10;nelle condizioni studia">
            <a:extLst>
              <a:ext uri="{FF2B5EF4-FFF2-40B4-BE49-F238E27FC236}">
                <a16:creationId xmlns:a16="http://schemas.microsoft.com/office/drawing/2014/main" id="{54870F67-04B5-489F-AFB9-7F3265C2BB4B}"/>
              </a:ext>
            </a:extLst>
          </p:cNvPr>
          <p:cNvSpPr>
            <a:spLocks noGrp="1"/>
          </p:cNvSpPr>
          <p:nvPr/>
        </p:nvSpPr>
        <p:spPr>
          <a:xfrm>
            <a:off x="742950" y="1809750"/>
            <a:ext cx="1070610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9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9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Differenza tra domini non supportata</a:t>
            </a:r>
          </a:p>
          <a:p>
            <a:pPr algn="l">
              <a:defRPr sz="2925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nelle condizioni studiate</a:t>
            </a:r>
          </a:p>
        </p:txBody>
      </p:sp>
      <p:sp>
        <p:nvSpPr>
          <p:cNvPr id="5" name="La felicità differiva tra i blocchi">
            <a:extLst>
              <a:ext uri="{FF2B5EF4-FFF2-40B4-BE49-F238E27FC236}">
                <a16:creationId xmlns:a16="http://schemas.microsoft.com/office/drawing/2014/main" id="{69B9578F-F413-4596-982D-ECB0553782C8}"/>
              </a:ext>
            </a:extLst>
          </p:cNvPr>
          <p:cNvSpPr>
            <a:spLocks noGrp="1"/>
          </p:cNvSpPr>
          <p:nvPr/>
        </p:nvSpPr>
        <p:spPr>
          <a:xfrm>
            <a:off x="742950" y="3161240"/>
            <a:ext cx="107061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175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Possibili direzioni future:</a:t>
            </a:r>
            <a:endParaRPr sz="2175" b="1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Connettore diritto 5">
            <a:extLst>
              <a:ext uri="{FF2B5EF4-FFF2-40B4-BE49-F238E27FC236}">
                <a16:creationId xmlns:a16="http://schemas.microsoft.com/office/drawing/2014/main" id="{BD9E7FED-EFF1-4F22-8367-D2DB6A1953B8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10706100" cy="0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tessa domanda">
            <a:extLst>
              <a:ext uri="{FF2B5EF4-FFF2-40B4-BE49-F238E27FC236}">
                <a16:creationId xmlns:a16="http://schemas.microsoft.com/office/drawing/2014/main" id="{0CDC2A0A-3F47-4E1C-89DF-B221B5D35B17}"/>
              </a:ext>
            </a:extLst>
          </p:cNvPr>
          <p:cNvSpPr>
            <a:spLocks noGrp="1"/>
          </p:cNvSpPr>
          <p:nvPr/>
        </p:nvSpPr>
        <p:spPr>
          <a:xfrm>
            <a:off x="742950" y="3952875"/>
            <a:ext cx="501967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25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Stessa</a:t>
            </a:r>
            <a:r>
              <a:rPr sz="2250" b="1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1" dirty="0" err="1">
                <a:solidFill>
                  <a:srgbClr val="414141"/>
                </a:solidFill>
                <a:latin typeface="Arial"/>
                <a:ea typeface="Arial"/>
                <a:cs typeface="Arial"/>
              </a:rPr>
              <a:t>domanda</a:t>
            </a:r>
            <a:endParaRPr sz="2250" b="1" dirty="0">
              <a:solidFill>
                <a:srgbClr val="41414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tandard più personalizzati&#10;e rilevanti per il sé&#10;&#10;Maggiore ">
            <a:extLst>
              <a:ext uri="{FF2B5EF4-FFF2-40B4-BE49-F238E27FC236}">
                <a16:creationId xmlns:a16="http://schemas.microsoft.com/office/drawing/2014/main" id="{A443107E-62B2-4E63-9BA8-5D20942EEA51}"/>
              </a:ext>
            </a:extLst>
          </p:cNvPr>
          <p:cNvSpPr>
            <a:spLocks noGrp="1"/>
          </p:cNvSpPr>
          <p:nvPr/>
        </p:nvSpPr>
        <p:spPr>
          <a:xfrm>
            <a:off x="742950" y="4514851"/>
            <a:ext cx="5019675" cy="159079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02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Affrontare i limiti del disegno</a:t>
            </a:r>
            <a:endParaRPr lang="it-IT" sz="2025" b="0" dirty="0"/>
          </a:p>
          <a:p>
            <a:pPr algn="l">
              <a:defRPr sz="202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lang="it-IT" sz="202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e approfondire il fondamento teorico.</a:t>
            </a:r>
            <a:endParaRPr lang="it-IT" sz="2025" b="0" dirty="0"/>
          </a:p>
        </p:txBody>
      </p:sp>
      <p:sp>
        <p:nvSpPr>
          <p:cNvPr id="9" name="Connettore diritto 8">
            <a:extLst>
              <a:ext uri="{FF2B5EF4-FFF2-40B4-BE49-F238E27FC236}">
                <a16:creationId xmlns:a16="http://schemas.microsoft.com/office/drawing/2014/main" id="{8D556CD6-4A4B-4E5F-83D0-39374A9D38B5}"/>
              </a:ext>
            </a:extLst>
          </p:cNvPr>
          <p:cNvSpPr>
            <a:spLocks noGrp="1"/>
          </p:cNvSpPr>
          <p:nvPr/>
        </p:nvSpPr>
        <p:spPr>
          <a:xfrm>
            <a:off x="6096000" y="3981450"/>
            <a:ext cx="0" cy="2047875"/>
          </a:xfrm>
          <a:prstGeom prst="line">
            <a:avLst/>
          </a:prstGeom>
          <a:noFill/>
          <a:ln w="14288">
            <a:solidFill>
              <a:srgbClr val="C4C4C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Altre domande">
            <a:extLst>
              <a:ext uri="{FF2B5EF4-FFF2-40B4-BE49-F238E27FC236}">
                <a16:creationId xmlns:a16="http://schemas.microsoft.com/office/drawing/2014/main" id="{3A209900-F5FB-4D42-B7C5-CCA7DB33B590}"/>
              </a:ext>
            </a:extLst>
          </p:cNvPr>
          <p:cNvSpPr>
            <a:spLocks noGrp="1"/>
          </p:cNvSpPr>
          <p:nvPr/>
        </p:nvSpPr>
        <p:spPr>
          <a:xfrm>
            <a:off x="6572250" y="3952875"/>
            <a:ext cx="48768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50" b="1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414141"/>
                </a:solidFill>
                <a:latin typeface="Arial"/>
                <a:ea typeface="Arial"/>
                <a:cs typeface="Arial"/>
              </a:rPr>
              <a:t>Altre domande</a:t>
            </a:r>
          </a:p>
        </p:txBody>
      </p:sp>
      <p:sp>
        <p:nvSpPr>
          <p:cNvPr id="11" name="Il dominio riguarda altre&#10;componenti del confronto sociale,&#10;">
            <a:extLst>
              <a:ext uri="{FF2B5EF4-FFF2-40B4-BE49-F238E27FC236}">
                <a16:creationId xmlns:a16="http://schemas.microsoft.com/office/drawing/2014/main" id="{BDF50F86-9F63-4010-B7C0-FDD3DBAFF8F7}"/>
              </a:ext>
            </a:extLst>
          </p:cNvPr>
          <p:cNvSpPr>
            <a:spLocks noGrp="1"/>
          </p:cNvSpPr>
          <p:nvPr/>
        </p:nvSpPr>
        <p:spPr>
          <a:xfrm>
            <a:off x="6572250" y="4514850"/>
            <a:ext cx="48768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1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Il dominio influenza anche</a:t>
            </a:r>
            <a:endParaRPr sz="2175" b="0" dirty="0"/>
          </a:p>
          <a:p>
            <a:pPr algn="l">
              <a:defRPr sz="21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le altre componenti del</a:t>
            </a:r>
            <a:endParaRPr sz="2175" b="0" dirty="0"/>
          </a:p>
          <a:p>
            <a:pPr algn="l">
              <a:defRPr sz="2175" b="0">
                <a:solidFill>
                  <a:srgbClr val="414141"/>
                </a:solidFill>
                <a:latin typeface="Arial"/>
                <a:ea typeface="Arial"/>
                <a:cs typeface="Arial"/>
              </a:defRPr>
            </a:pPr>
            <a:r>
              <a:rPr sz="2175" b="0" dirty="0">
                <a:solidFill>
                  <a:srgbClr val="414141"/>
                </a:solidFill>
                <a:latin typeface="Arial"/>
                <a:ea typeface="Arial"/>
                <a:cs typeface="Arial"/>
              </a:rPr>
              <a:t>confronto sociale?</a:t>
            </a:r>
            <a:endParaRPr sz="2175" b="0" dirty="0"/>
          </a:p>
        </p:txBody>
      </p:sp>
    </p:spTree>
    <p:extLst>
      <p:ext uri="{BB962C8B-B14F-4D97-AF65-F5344CB8AC3E}">
        <p14:creationId xmlns:p14="http://schemas.microsoft.com/office/powerpoint/2010/main" val="1074365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ezione">
            <a:extLst>
              <a:ext uri="{FF2B5EF4-FFF2-40B4-BE49-F238E27FC236}">
                <a16:creationId xmlns:a16="http://schemas.microsoft.com/office/drawing/2014/main" id="{143CE1B3-5F41-4913-936C-6AB6FEC42A97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Riferimenti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69600E01-C819-45A2-811C-85CCC3F189F8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Bibliografia · 1 / 2</a:t>
            </a:r>
          </a:p>
        </p:txBody>
      </p:sp>
      <p:sp>
        <p:nvSpPr>
          <p:cNvPr id="3" name="20">
            <a:extLst>
              <a:ext uri="{FF2B5EF4-FFF2-40B4-BE49-F238E27FC236}">
                <a16:creationId xmlns:a16="http://schemas.microsoft.com/office/drawing/2014/main" id="{F0BD42A5-335A-43F5-BDDC-6C0CFFFED1EE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18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Reference 1">
            <a:extLst>
              <a:ext uri="{FF2B5EF4-FFF2-40B4-BE49-F238E27FC236}">
                <a16:creationId xmlns:a16="http://schemas.microsoft.com/office/drawing/2014/main" id="{BF700620-9076-45A1-9E18-51D392DD99ED}"/>
              </a:ext>
            </a:extLst>
          </p:cNvPr>
          <p:cNvSpPr>
            <a:spLocks noGrp="1"/>
          </p:cNvSpPr>
          <p:nvPr/>
        </p:nvSpPr>
        <p:spPr>
          <a:xfrm>
            <a:off x="742950" y="17526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Gerber, J. P., Wheeler, L., &amp; Suls, J. (2018). A social comparison theory meta-analysis 60+ years on. Psychological Bulletin, 144(2), 177–197.</a:t>
            </a:r>
          </a:p>
        </p:txBody>
      </p:sp>
      <p:sp>
        <p:nvSpPr>
          <p:cNvPr id="101" name="Reference 2">
            <a:extLst>
              <a:ext uri="{FF2B5EF4-FFF2-40B4-BE49-F238E27FC236}">
                <a16:creationId xmlns:a16="http://schemas.microsoft.com/office/drawing/2014/main" id="{8A39F103-0B84-438D-AA74-ACA9AE92F3AE}"/>
              </a:ext>
            </a:extLst>
          </p:cNvPr>
          <p:cNvSpPr>
            <a:spLocks noGrp="1"/>
          </p:cNvSpPr>
          <p:nvPr/>
        </p:nvSpPr>
        <p:spPr>
          <a:xfrm>
            <a:off x="742950" y="238125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Hein, G., Silani, G., Preuschoff, K., Batson, C. D., &amp; Singer, T. (2010). Neural responses to ingroup and outgroup members’ suffering predict individual differences in costly helping. Neuron, 68(1), 149–160.</a:t>
            </a:r>
          </a:p>
        </p:txBody>
      </p:sp>
      <p:sp>
        <p:nvSpPr>
          <p:cNvPr id="102" name="Reference 3">
            <a:extLst>
              <a:ext uri="{FF2B5EF4-FFF2-40B4-BE49-F238E27FC236}">
                <a16:creationId xmlns:a16="http://schemas.microsoft.com/office/drawing/2014/main" id="{EA6C9B88-4090-4162-AD8B-2FEE2A2FB014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Kahneman, D., &amp; Tversky, A. (1979). Prospect theory: An analysis of decision under risk. Econometrica, 47(2), 263–291.</a:t>
            </a:r>
          </a:p>
        </p:txBody>
      </p:sp>
      <p:sp>
        <p:nvSpPr>
          <p:cNvPr id="103" name="Reference 4">
            <a:extLst>
              <a:ext uri="{FF2B5EF4-FFF2-40B4-BE49-F238E27FC236}">
                <a16:creationId xmlns:a16="http://schemas.microsoft.com/office/drawing/2014/main" id="{C8C37088-CCAF-4320-B7CB-B2C4941F1B30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Möller, J. (2016). The generalized internal/external frame of reference model: An extension to dimensional comparison theory. Frontline Learning Research, 4, 1–11.</a:t>
            </a:r>
          </a:p>
        </p:txBody>
      </p:sp>
      <p:sp>
        <p:nvSpPr>
          <p:cNvPr id="104" name="Reference 5">
            <a:extLst>
              <a:ext uri="{FF2B5EF4-FFF2-40B4-BE49-F238E27FC236}">
                <a16:creationId xmlns:a16="http://schemas.microsoft.com/office/drawing/2014/main" id="{EDA76DAC-4007-4F02-BF75-56507D8BE031}"/>
              </a:ext>
            </a:extLst>
          </p:cNvPr>
          <p:cNvSpPr>
            <a:spLocks noGrp="1"/>
          </p:cNvSpPr>
          <p:nvPr/>
        </p:nvSpPr>
        <p:spPr>
          <a:xfrm>
            <a:off x="742950" y="42672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Mussweiler, T. (2003). Comparison processes in social judgment: Mechanisms and consequences. Psychological Review, 110(3), 472–489.</a:t>
            </a:r>
          </a:p>
        </p:txBody>
      </p:sp>
      <p:sp>
        <p:nvSpPr>
          <p:cNvPr id="105" name="Reference 6">
            <a:extLst>
              <a:ext uri="{FF2B5EF4-FFF2-40B4-BE49-F238E27FC236}">
                <a16:creationId xmlns:a16="http://schemas.microsoft.com/office/drawing/2014/main" id="{2B3809AB-A117-450F-B88D-4995CF7460AB}"/>
              </a:ext>
            </a:extLst>
          </p:cNvPr>
          <p:cNvSpPr>
            <a:spLocks noGrp="1"/>
          </p:cNvSpPr>
          <p:nvPr/>
        </p:nvSpPr>
        <p:spPr>
          <a:xfrm>
            <a:off x="742950" y="489585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Nabi, R. L., Walter, N., Oshidary, N., Endacott, C. G., Love-Nichols, J., Lew, Z. J., &amp; Aune, A. (2020). Can emotions capture the elusive gain-loss framing effect? A meta-analysis. Communication Research, 47(8), 1107–1130.</a:t>
            </a:r>
          </a:p>
        </p:txBody>
      </p:sp>
      <p:sp>
        <p:nvSpPr>
          <p:cNvPr id="106" name="Reference 7">
            <a:extLst>
              <a:ext uri="{FF2B5EF4-FFF2-40B4-BE49-F238E27FC236}">
                <a16:creationId xmlns:a16="http://schemas.microsoft.com/office/drawing/2014/main" id="{6035A5BF-C5AF-404F-B4A3-7DC3EB59504E}"/>
              </a:ext>
            </a:extLst>
          </p:cNvPr>
          <p:cNvSpPr>
            <a:spLocks noGrp="1"/>
          </p:cNvSpPr>
          <p:nvPr/>
        </p:nvSpPr>
        <p:spPr>
          <a:xfrm>
            <a:off x="742950" y="55245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Postmes, T., Haslam, S. A., &amp; Jans, L. (2013). A single-item measure of social identification: Reliability, validity, and utility. British Journal of Social Psychology, 52(4), 597–617.</a:t>
            </a:r>
          </a:p>
        </p:txBody>
      </p:sp>
    </p:spTree>
    <p:extLst>
      <p:ext uri="{BB962C8B-B14F-4D97-AF65-F5344CB8AC3E}">
        <p14:creationId xmlns:p14="http://schemas.microsoft.com/office/powerpoint/2010/main" val="18589702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Sezione">
            <a:extLst>
              <a:ext uri="{FF2B5EF4-FFF2-40B4-BE49-F238E27FC236}">
                <a16:creationId xmlns:a16="http://schemas.microsoft.com/office/drawing/2014/main" id="{F09EDDA5-AB7A-44E4-BC42-B9E215FB2492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Riferimenti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4F247CF8-5AAB-42E0-B71A-0AAB7129A7C1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Bibliografia · 2 / 2</a:t>
            </a:r>
          </a:p>
        </p:txBody>
      </p:sp>
      <p:sp>
        <p:nvSpPr>
          <p:cNvPr id="3" name="21">
            <a:extLst>
              <a:ext uri="{FF2B5EF4-FFF2-40B4-BE49-F238E27FC236}">
                <a16:creationId xmlns:a16="http://schemas.microsoft.com/office/drawing/2014/main" id="{41FC9AFF-DB50-491F-9990-D413FA88ACFE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19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Reference 1">
            <a:extLst>
              <a:ext uri="{FF2B5EF4-FFF2-40B4-BE49-F238E27FC236}">
                <a16:creationId xmlns:a16="http://schemas.microsoft.com/office/drawing/2014/main" id="{A51F9C8A-4B4F-42B7-9ACE-69EEE8737028}"/>
              </a:ext>
            </a:extLst>
          </p:cNvPr>
          <p:cNvSpPr>
            <a:spLocks noGrp="1"/>
          </p:cNvSpPr>
          <p:nvPr/>
        </p:nvSpPr>
        <p:spPr>
          <a:xfrm>
            <a:off x="742950" y="17526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Pyszczynski, T., Greenberg, J., &amp; LaPrelle, J. (1985). Social comparison after success and failure: Biased search for information consistent with a self-serving conclusion. Journal of Experimental Social Psychology, 21(2), 195–211.</a:t>
            </a:r>
          </a:p>
        </p:txBody>
      </p:sp>
      <p:sp>
        <p:nvSpPr>
          <p:cNvPr id="101" name="Reference 2">
            <a:extLst>
              <a:ext uri="{FF2B5EF4-FFF2-40B4-BE49-F238E27FC236}">
                <a16:creationId xmlns:a16="http://schemas.microsoft.com/office/drawing/2014/main" id="{D5720466-17E0-4928-BF59-425AE98ADBAA}"/>
              </a:ext>
            </a:extLst>
          </p:cNvPr>
          <p:cNvSpPr>
            <a:spLocks noGrp="1"/>
          </p:cNvSpPr>
          <p:nvPr/>
        </p:nvSpPr>
        <p:spPr>
          <a:xfrm>
            <a:off x="742950" y="238125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Rutledge, R. B., de Berker, A. O., Espenhahn, S., Dayan, P., &amp; Dolan, R. J. (2016). The social contingency of momentary subjective well-being. Nature Communications, 7(1), 11825.</a:t>
            </a:r>
          </a:p>
        </p:txBody>
      </p:sp>
      <p:sp>
        <p:nvSpPr>
          <p:cNvPr id="102" name="Reference 3">
            <a:extLst>
              <a:ext uri="{FF2B5EF4-FFF2-40B4-BE49-F238E27FC236}">
                <a16:creationId xmlns:a16="http://schemas.microsoft.com/office/drawing/2014/main" id="{E79D6C76-0844-4BE7-986D-5AA1D1071D49}"/>
              </a:ext>
            </a:extLst>
          </p:cNvPr>
          <p:cNvSpPr>
            <a:spLocks noGrp="1"/>
          </p:cNvSpPr>
          <p:nvPr/>
        </p:nvSpPr>
        <p:spPr>
          <a:xfrm>
            <a:off x="742950" y="30099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Singer, T., &amp; Klimecki, O. M. (2014). Empathy and compassion. Current Biology, 24(18), R875–R878.</a:t>
            </a:r>
          </a:p>
        </p:txBody>
      </p:sp>
      <p:sp>
        <p:nvSpPr>
          <p:cNvPr id="103" name="Reference 4">
            <a:extLst>
              <a:ext uri="{FF2B5EF4-FFF2-40B4-BE49-F238E27FC236}">
                <a16:creationId xmlns:a16="http://schemas.microsoft.com/office/drawing/2014/main" id="{DCEB4F79-5049-42BD-AE47-37675BD55A29}"/>
              </a:ext>
            </a:extLst>
          </p:cNvPr>
          <p:cNvSpPr>
            <a:spLocks noGrp="1"/>
          </p:cNvSpPr>
          <p:nvPr/>
        </p:nvSpPr>
        <p:spPr>
          <a:xfrm>
            <a:off x="742950" y="363855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van Lieshout, L. L. F., de Lange, F. P., &amp; Cools, R. (2021). Uncertainty increases curiosity, but decreases happiness. Scientific Reports, 11, 14014.</a:t>
            </a:r>
          </a:p>
        </p:txBody>
      </p:sp>
      <p:sp>
        <p:nvSpPr>
          <p:cNvPr id="104" name="Reference 5">
            <a:extLst>
              <a:ext uri="{FF2B5EF4-FFF2-40B4-BE49-F238E27FC236}">
                <a16:creationId xmlns:a16="http://schemas.microsoft.com/office/drawing/2014/main" id="{EA6E535E-57E9-447B-984B-239D745D526C}"/>
              </a:ext>
            </a:extLst>
          </p:cNvPr>
          <p:cNvSpPr>
            <a:spLocks noGrp="1"/>
          </p:cNvSpPr>
          <p:nvPr/>
        </p:nvSpPr>
        <p:spPr>
          <a:xfrm>
            <a:off x="742950" y="426720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White, K., &amp; Lehman, D. R. (2005). Culture and social comparison seeking: The role of self-motives. Personality and Social Psychology Bulletin, 31(2), 232–242.</a:t>
            </a:r>
          </a:p>
        </p:txBody>
      </p:sp>
      <p:sp>
        <p:nvSpPr>
          <p:cNvPr id="105" name="Reference 6">
            <a:extLst>
              <a:ext uri="{FF2B5EF4-FFF2-40B4-BE49-F238E27FC236}">
                <a16:creationId xmlns:a16="http://schemas.microsoft.com/office/drawing/2014/main" id="{B48CFE17-6E8B-4C4D-A9AF-474360907779}"/>
              </a:ext>
            </a:extLst>
          </p:cNvPr>
          <p:cNvSpPr>
            <a:spLocks noGrp="1"/>
          </p:cNvSpPr>
          <p:nvPr/>
        </p:nvSpPr>
        <p:spPr>
          <a:xfrm>
            <a:off x="742950" y="4895850"/>
            <a:ext cx="1070610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448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448">
                <a:solidFill>
                  <a:srgbClr val="444444"/>
                </a:solidFill>
                <a:latin typeface="Arial"/>
                <a:ea typeface="Arial"/>
                <a:cs typeface="Arial"/>
              </a:rPr>
              <a:t>Young, N. A., Shuster, M. M., &amp; Mikels, J. A. (2019). The sure thing: The role of integral affect in risky choice framing. Emotion, 19(6), 1035–1043.</a:t>
            </a:r>
          </a:p>
        </p:txBody>
      </p:sp>
    </p:spTree>
    <p:extLst>
      <p:ext uri="{BB962C8B-B14F-4D97-AF65-F5344CB8AC3E}">
        <p14:creationId xmlns:p14="http://schemas.microsoft.com/office/powerpoint/2010/main" val="18930566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A00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B5777DB5-A478-469E-BCF6-1661FBE696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733675" y="2363365"/>
            <a:ext cx="6724650" cy="2178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861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Figura a mano libera 6">
            <a:extLst>
              <a:ext uri="{FF2B5EF4-FFF2-40B4-BE49-F238E27FC236}">
                <a16:creationId xmlns:a16="http://schemas.microsoft.com/office/drawing/2014/main" id="{8F0410C2-8E9F-1D61-455D-ED792EC4FE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2989"/>
          </a:xfrm>
          <a:custGeom>
            <a:avLst/>
            <a:gdLst>
              <a:gd name="connsiteX0" fmla="*/ 76200 w 12268200"/>
              <a:gd name="connsiteY0" fmla="*/ 0 h 6979920"/>
              <a:gd name="connsiteX1" fmla="*/ 12268200 w 12268200"/>
              <a:gd name="connsiteY1" fmla="*/ 30480 h 6979920"/>
              <a:gd name="connsiteX2" fmla="*/ 12252960 w 12268200"/>
              <a:gd name="connsiteY2" fmla="*/ 6979920 h 6979920"/>
              <a:gd name="connsiteX3" fmla="*/ 0 w 12268200"/>
              <a:gd name="connsiteY3" fmla="*/ 6903720 h 6979920"/>
              <a:gd name="connsiteX4" fmla="*/ 76200 w 12268200"/>
              <a:gd name="connsiteY4" fmla="*/ 0 h 6979920"/>
              <a:gd name="connsiteX0" fmla="*/ 365760 w 12268200"/>
              <a:gd name="connsiteY0" fmla="*/ 41148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65760 w 12268200"/>
              <a:gd name="connsiteY4" fmla="*/ 411480 h 6949440"/>
              <a:gd name="connsiteX0" fmla="*/ 30480 w 12268200"/>
              <a:gd name="connsiteY0" fmla="*/ 0 h 6949440"/>
              <a:gd name="connsiteX1" fmla="*/ 12268200 w 12268200"/>
              <a:gd name="connsiteY1" fmla="*/ 0 h 6949440"/>
              <a:gd name="connsiteX2" fmla="*/ 12252960 w 12268200"/>
              <a:gd name="connsiteY2" fmla="*/ 6949440 h 6949440"/>
              <a:gd name="connsiteX3" fmla="*/ 0 w 12268200"/>
              <a:gd name="connsiteY3" fmla="*/ 6873240 h 6949440"/>
              <a:gd name="connsiteX4" fmla="*/ 30480 w 1226820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365760 w 12237720"/>
              <a:gd name="connsiteY3" fmla="*/ 6431280 h 6949440"/>
              <a:gd name="connsiteX4" fmla="*/ 0 w 12237720"/>
              <a:gd name="connsiteY4" fmla="*/ 0 h 6949440"/>
              <a:gd name="connsiteX0" fmla="*/ 0 w 12237720"/>
              <a:gd name="connsiteY0" fmla="*/ 0 h 6949440"/>
              <a:gd name="connsiteX1" fmla="*/ 12237720 w 12237720"/>
              <a:gd name="connsiteY1" fmla="*/ 0 h 6949440"/>
              <a:gd name="connsiteX2" fmla="*/ 12222480 w 12237720"/>
              <a:gd name="connsiteY2" fmla="*/ 6949440 h 6949440"/>
              <a:gd name="connsiteX3" fmla="*/ 15240 w 12237720"/>
              <a:gd name="connsiteY3" fmla="*/ 6888480 h 6949440"/>
              <a:gd name="connsiteX4" fmla="*/ 0 w 12237720"/>
              <a:gd name="connsiteY4" fmla="*/ 0 h 694944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039600 w 12237720"/>
              <a:gd name="connsiteY2" fmla="*/ 638556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37720"/>
              <a:gd name="connsiteY0" fmla="*/ 0 h 6888480"/>
              <a:gd name="connsiteX1" fmla="*/ 12237720 w 12237720"/>
              <a:gd name="connsiteY1" fmla="*/ 0 h 6888480"/>
              <a:gd name="connsiteX2" fmla="*/ 12222480 w 12237720"/>
              <a:gd name="connsiteY2" fmla="*/ 6873240 h 6888480"/>
              <a:gd name="connsiteX3" fmla="*/ 15240 w 12237720"/>
              <a:gd name="connsiteY3" fmla="*/ 6888480 h 6888480"/>
              <a:gd name="connsiteX4" fmla="*/ 0 w 12237720"/>
              <a:gd name="connsiteY4" fmla="*/ 0 h 6888480"/>
              <a:gd name="connsiteX0" fmla="*/ 0 w 12222480"/>
              <a:gd name="connsiteY0" fmla="*/ 0 h 6888480"/>
              <a:gd name="connsiteX1" fmla="*/ 11780520 w 12222480"/>
              <a:gd name="connsiteY1" fmla="*/ 487680 h 6888480"/>
              <a:gd name="connsiteX2" fmla="*/ 12222480 w 12222480"/>
              <a:gd name="connsiteY2" fmla="*/ 6873240 h 6888480"/>
              <a:gd name="connsiteX3" fmla="*/ 15240 w 12222480"/>
              <a:gd name="connsiteY3" fmla="*/ 6888480 h 6888480"/>
              <a:gd name="connsiteX4" fmla="*/ 0 w 12222480"/>
              <a:gd name="connsiteY4" fmla="*/ 0 h 6888480"/>
              <a:gd name="connsiteX0" fmla="*/ 0 w 12237720"/>
              <a:gd name="connsiteY0" fmla="*/ 15240 h 6903720"/>
              <a:gd name="connsiteX1" fmla="*/ 12237720 w 12237720"/>
              <a:gd name="connsiteY1" fmla="*/ 0 h 6903720"/>
              <a:gd name="connsiteX2" fmla="*/ 12222480 w 12237720"/>
              <a:gd name="connsiteY2" fmla="*/ 6888480 h 6903720"/>
              <a:gd name="connsiteX3" fmla="*/ 15240 w 12237720"/>
              <a:gd name="connsiteY3" fmla="*/ 6903720 h 6903720"/>
              <a:gd name="connsiteX4" fmla="*/ 0 w 12237720"/>
              <a:gd name="connsiteY4" fmla="*/ 15240 h 6903720"/>
              <a:gd name="connsiteX0" fmla="*/ 0 w 12237720"/>
              <a:gd name="connsiteY0" fmla="*/ 15240 h 6888482"/>
              <a:gd name="connsiteX1" fmla="*/ 12237720 w 12237720"/>
              <a:gd name="connsiteY1" fmla="*/ 0 h 6888482"/>
              <a:gd name="connsiteX2" fmla="*/ 12222480 w 12237720"/>
              <a:gd name="connsiteY2" fmla="*/ 6888480 h 6888482"/>
              <a:gd name="connsiteX3" fmla="*/ 746760 w 12237720"/>
              <a:gd name="connsiteY3" fmla="*/ 6756832 h 6888482"/>
              <a:gd name="connsiteX4" fmla="*/ 0 w 12237720"/>
              <a:gd name="connsiteY4" fmla="*/ 15240 h 6888482"/>
              <a:gd name="connsiteX0" fmla="*/ 0 w 12329160"/>
              <a:gd name="connsiteY0" fmla="*/ 15240 h 6756832"/>
              <a:gd name="connsiteX1" fmla="*/ 12237720 w 12329160"/>
              <a:gd name="connsiteY1" fmla="*/ 0 h 6756832"/>
              <a:gd name="connsiteX2" fmla="*/ 12329160 w 12329160"/>
              <a:gd name="connsiteY2" fmla="*/ 6741594 h 6756832"/>
              <a:gd name="connsiteX3" fmla="*/ 746760 w 12329160"/>
              <a:gd name="connsiteY3" fmla="*/ 6756832 h 6756832"/>
              <a:gd name="connsiteX4" fmla="*/ 0 w 12329160"/>
              <a:gd name="connsiteY4" fmla="*/ 15240 h 6756832"/>
              <a:gd name="connsiteX0" fmla="*/ 0 w 12237720"/>
              <a:gd name="connsiteY0" fmla="*/ 15240 h 6835952"/>
              <a:gd name="connsiteX1" fmla="*/ 12237720 w 12237720"/>
              <a:gd name="connsiteY1" fmla="*/ 0 h 6835952"/>
              <a:gd name="connsiteX2" fmla="*/ 12234892 w 12237720"/>
              <a:gd name="connsiteY2" fmla="*/ 6835952 h 6835952"/>
              <a:gd name="connsiteX3" fmla="*/ 746760 w 12237720"/>
              <a:gd name="connsiteY3" fmla="*/ 6756832 h 6835952"/>
              <a:gd name="connsiteX4" fmla="*/ 0 w 12237720"/>
              <a:gd name="connsiteY4" fmla="*/ 15240 h 68359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37720" h="6835952">
                <a:moveTo>
                  <a:pt x="0" y="15240"/>
                </a:moveTo>
                <a:lnTo>
                  <a:pt x="12237720" y="0"/>
                </a:lnTo>
                <a:cubicBezTo>
                  <a:pt x="12236777" y="2278651"/>
                  <a:pt x="12235835" y="4557301"/>
                  <a:pt x="12234892" y="6835952"/>
                </a:cubicBezTo>
                <a:lnTo>
                  <a:pt x="746760" y="6756832"/>
                </a:lnTo>
                <a:lnTo>
                  <a:pt x="0" y="15240"/>
                </a:lnTo>
                <a:close/>
              </a:path>
            </a:pathLst>
          </a:custGeom>
          <a:solidFill>
            <a:srgbClr val="AA00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b="0" i="0" dirty="0">
              <a:latin typeface="Arial" panose="020B0604020202020204" pitchFamily="34" charset="0"/>
            </a:endParaRPr>
          </a:p>
        </p:txBody>
      </p:sp>
      <p:pic>
        <p:nvPicPr>
          <p:cNvPr id="9001" name="Immagine 7">
            <a:extLst>
              <a:ext uri="{FF2B5EF4-FFF2-40B4-BE49-F238E27FC236}">
                <a16:creationId xmlns:a16="http://schemas.microsoft.com/office/drawing/2014/main" id="{AC9E0989-ECD6-0D73-B60E-A0C129A07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14960" y="185430"/>
            <a:ext cx="3324180" cy="215506"/>
          </a:xfrm>
          <a:prstGeom prst="rect">
            <a:avLst/>
          </a:prstGeom>
        </p:spPr>
      </p:pic>
      <p:sp>
        <p:nvSpPr>
          <p:cNvPr id="9002" name="Segnaposto testo 9">
            <a:extLst>
              <a:ext uri="{FF2B5EF4-FFF2-40B4-BE49-F238E27FC236}">
                <a16:creationId xmlns:a16="http://schemas.microsoft.com/office/drawing/2014/main" id="{1E7C8F36-E602-7E89-BA2B-08DE9262AE81}"/>
              </a:ext>
            </a:extLst>
          </p:cNvPr>
          <p:cNvSpPr>
            <a:spLocks noGrp="1"/>
          </p:cNvSpPr>
          <p:nvPr/>
        </p:nvSpPr>
        <p:spPr>
          <a:xfrm>
            <a:off x="0" y="6480587"/>
            <a:ext cx="11460162" cy="377413"/>
          </a:xfrm>
        </p:spPr>
        <p:txBody>
          <a:bodyPr wrap="none" lIns="827999">
            <a:noAutofit/>
          </a:bodyPr>
          <a:lstStyle>
            <a:lvl1pPr>
              <a:buNone/>
              <a:defRPr sz="1000" b="0" i="0" baseline="0">
                <a:solidFill>
                  <a:schemeClr val="bg1">
                    <a:lumMod val="50000"/>
                  </a:schemeClr>
                </a:solidFill>
                <a:latin typeface="Arial"/>
                <a:cs typeface="Arial" panose="020B0604020202020204" pitchFamily="34" charset="0"/>
              </a:defRPr>
            </a:lvl1pPr>
          </a:lstStyle>
          <a:p>
            <a:r>
              <a:rPr lang="it-IT" sz="1600" dirty="0">
                <a:solidFill>
                  <a:schemeClr val="bg1">
                    <a:lumMod val="50000"/>
                  </a:schemeClr>
                </a:solidFill>
                <a:latin typeface="Arial"/>
              </a:rPr>
              <a:t>Scuola di Psicologia – Dipartimento FISPPA</a:t>
            </a:r>
          </a:p>
        </p:txBody>
      </p:sp>
      <p:cxnSp>
        <p:nvCxnSpPr>
          <p:cNvPr id="9003" name="Connettore dritto 2">
            <a:extLst>
              <a:ext uri="{FF2B5EF4-FFF2-40B4-BE49-F238E27FC236}">
                <a16:creationId xmlns:a16="http://schemas.microsoft.com/office/drawing/2014/main" id="{1C104274-6D6C-B8DE-EC1F-841559392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1152" y="6458642"/>
            <a:ext cx="11529697" cy="0"/>
          </a:xfrm>
          <a:prstGeom prst="line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ezione">
            <a:extLst>
              <a:ext uri="{FF2B5EF4-FFF2-40B4-BE49-F238E27FC236}">
                <a16:creationId xmlns:a16="http://schemas.microsoft.com/office/drawing/2014/main" id="{FC6B2976-2829-43D5-B200-6BA0DDA55015}"/>
              </a:ext>
            </a:extLst>
          </p:cNvPr>
          <p:cNvSpPr>
            <a:spLocks noGrp="1"/>
          </p:cNvSpPr>
          <p:nvPr/>
        </p:nvSpPr>
        <p:spPr>
          <a:xfrm>
            <a:off x="5619750" y="114300"/>
            <a:ext cx="61912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>
            <a:def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9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Slide supplementari</a:t>
            </a:r>
          </a:p>
        </p:txBody>
      </p:sp>
      <p:sp>
        <p:nvSpPr>
          <p:cNvPr id="2" name="Titolo">
            <a:extLst>
              <a:ext uri="{FF2B5EF4-FFF2-40B4-BE49-F238E27FC236}">
                <a16:creationId xmlns:a16="http://schemas.microsoft.com/office/drawing/2014/main" id="{0DD71C9A-50AC-4A37-A4DC-552DE487AF6A}"/>
              </a:ext>
            </a:extLst>
          </p:cNvPr>
          <p:cNvSpPr>
            <a:spLocks noGrp="1"/>
          </p:cNvSpPr>
          <p:nvPr/>
        </p:nvSpPr>
        <p:spPr>
          <a:xfrm>
            <a:off x="742950" y="1066800"/>
            <a:ext cx="10706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550" b="1">
                <a:solidFill>
                  <a:srgbClr val="AA000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AA0004"/>
                </a:solidFill>
                <a:latin typeface="Arial"/>
                <a:ea typeface="Arial"/>
                <a:cs typeface="Arial"/>
              </a:rPr>
              <a:t>Supplemento · Effetto d’ordine</a:t>
            </a:r>
          </a:p>
        </p:txBody>
      </p:sp>
      <p:sp>
        <p:nvSpPr>
          <p:cNvPr id="3" name="23">
            <a:extLst>
              <a:ext uri="{FF2B5EF4-FFF2-40B4-BE49-F238E27FC236}">
                <a16:creationId xmlns:a16="http://schemas.microsoft.com/office/drawing/2014/main" id="{AA560BFE-DDAC-4462-8D6D-6404CC60499E}"/>
              </a:ext>
            </a:extLst>
          </p:cNvPr>
          <p:cNvSpPr>
            <a:spLocks noGrp="1"/>
          </p:cNvSpPr>
          <p:nvPr/>
        </p:nvSpPr>
        <p:spPr>
          <a:xfrm>
            <a:off x="11239500" y="6486525"/>
            <a:ext cx="5334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25" b="0">
                <a:solidFill>
                  <a:srgbClr val="707070"/>
                </a:solidFill>
                <a:latin typeface="Arial"/>
                <a:ea typeface="Arial"/>
                <a:cs typeface="Arial"/>
              </a:defRPr>
            </a:pPr>
            <a:r>
              <a:rPr lang="it-IT" sz="1425" b="0">
                <a:solidFill>
                  <a:srgbClr val="707070"/>
                </a:solidFill>
                <a:latin typeface="Arial"/>
                <a:ea typeface="Arial"/>
                <a:cs typeface="Arial"/>
              </a:rPr>
              <a:t>21</a:t>
            </a:r>
            <a:endParaRPr sz="1425" b="0">
              <a:solidFill>
                <a:srgbClr val="70707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2" name="initiation heading">
            <a:extLst>
              <a:ext uri="{FF2B5EF4-FFF2-40B4-BE49-F238E27FC236}">
                <a16:creationId xmlns:a16="http://schemas.microsoft.com/office/drawing/2014/main" id="{BDB33BB6-4C59-4809-AD5B-B398E4540C2A}"/>
              </a:ext>
            </a:extLst>
          </p:cNvPr>
          <p:cNvSpPr>
            <a:spLocks noGrp="1"/>
          </p:cNvSpPr>
          <p:nvPr/>
        </p:nvSpPr>
        <p:spPr>
          <a:xfrm>
            <a:off x="742950" y="1714500"/>
            <a:ext cx="52197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00000"/>
                </a:solidFill>
                <a:latin typeface="Arial"/>
                <a:ea typeface="Arial"/>
                <a:cs typeface="Arial"/>
              </a:rPr>
              <a:t>Inizio · almeno un esito</a:t>
            </a:r>
          </a:p>
        </p:txBody>
      </p:sp>
      <p:pic>
        <p:nvPicPr>
          <p:cNvPr id="501" name="Immagine 500">
            <a:extLst>
              <a:ext uri="{FF2B5EF4-FFF2-40B4-BE49-F238E27FC236}">
                <a16:creationId xmlns:a16="http://schemas.microsoft.com/office/drawing/2014/main" id="{A7D3FF4C-543D-41DD-99E4-0C0D8AE074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838200" y="2047875"/>
            <a:ext cx="5029200" cy="2381250"/>
          </a:xfrm>
          <a:prstGeom prst="rect">
            <a:avLst/>
          </a:prstGeom>
        </p:spPr>
      </p:pic>
      <p:sp>
        <p:nvSpPr>
          <p:cNvPr id="104" name="initiation order label">
            <a:extLst>
              <a:ext uri="{FF2B5EF4-FFF2-40B4-BE49-F238E27FC236}">
                <a16:creationId xmlns:a16="http://schemas.microsoft.com/office/drawing/2014/main" id="{1124DD20-206E-49EB-8183-6D685400AA4E}"/>
              </a:ext>
            </a:extLst>
          </p:cNvPr>
          <p:cNvSpPr>
            <a:spLocks noGrp="1"/>
          </p:cNvSpPr>
          <p:nvPr/>
        </p:nvSpPr>
        <p:spPr>
          <a:xfrm>
            <a:off x="742950" y="4438650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Secondo vs primo blocco</a:t>
            </a:r>
          </a:p>
        </p:txBody>
      </p:sp>
      <p:sp>
        <p:nvSpPr>
          <p:cNvPr id="105" name="initiation order result">
            <a:extLst>
              <a:ext uri="{FF2B5EF4-FFF2-40B4-BE49-F238E27FC236}">
                <a16:creationId xmlns:a16="http://schemas.microsoft.com/office/drawing/2014/main" id="{4A2AA38C-0EE3-4DDC-8BD9-EBFA9B480E29}"/>
              </a:ext>
            </a:extLst>
          </p:cNvPr>
          <p:cNvSpPr>
            <a:spLocks noGrp="1"/>
          </p:cNvSpPr>
          <p:nvPr/>
        </p:nvSpPr>
        <p:spPr>
          <a:xfrm>
            <a:off x="742950" y="4752975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OR = 2,27; IC 95% [1,57, 3,27]; </a:t>
            </a:r>
            <a:r>
              <a:rPr sz="1613" b="0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&lt; .001</a:t>
            </a:r>
          </a:p>
        </p:txBody>
      </p:sp>
      <p:sp>
        <p:nvSpPr>
          <p:cNvPr id="106" name="initiation interaction label">
            <a:extLst>
              <a:ext uri="{FF2B5EF4-FFF2-40B4-BE49-F238E27FC236}">
                <a16:creationId xmlns:a16="http://schemas.microsoft.com/office/drawing/2014/main" id="{A1B92CF5-1221-42B4-831C-001187573545}"/>
              </a:ext>
            </a:extLst>
          </p:cNvPr>
          <p:cNvSpPr>
            <a:spLocks noGrp="1"/>
          </p:cNvSpPr>
          <p:nvPr/>
        </p:nvSpPr>
        <p:spPr>
          <a:xfrm>
            <a:off x="742950" y="5133975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Interazione posizione × dominio</a:t>
            </a:r>
          </a:p>
        </p:txBody>
      </p:sp>
      <p:sp>
        <p:nvSpPr>
          <p:cNvPr id="107" name="initiation interaction result">
            <a:extLst>
              <a:ext uri="{FF2B5EF4-FFF2-40B4-BE49-F238E27FC236}">
                <a16:creationId xmlns:a16="http://schemas.microsoft.com/office/drawing/2014/main" id="{AC175F57-959C-4BAD-8B37-0184DD1FFFE5}"/>
              </a:ext>
            </a:extLst>
          </p:cNvPr>
          <p:cNvSpPr>
            <a:spLocks noGrp="1"/>
          </p:cNvSpPr>
          <p:nvPr/>
        </p:nvSpPr>
        <p:spPr>
          <a:xfrm>
            <a:off x="742950" y="5448300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OR = 1,10; IC 95% [0,23, 5,26]; </a:t>
            </a:r>
            <a:r>
              <a:rPr sz="1613" b="0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= .905</a:t>
            </a:r>
          </a:p>
        </p:txBody>
      </p:sp>
      <p:sp>
        <p:nvSpPr>
          <p:cNvPr id="108" name="extent heading">
            <a:extLst>
              <a:ext uri="{FF2B5EF4-FFF2-40B4-BE49-F238E27FC236}">
                <a16:creationId xmlns:a16="http://schemas.microsoft.com/office/drawing/2014/main" id="{9E6E269A-21A6-46E0-8951-E0E68D0BD353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521970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875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00000"/>
                </a:solidFill>
                <a:latin typeface="Arial"/>
                <a:ea typeface="Arial"/>
                <a:cs typeface="Arial"/>
              </a:rPr>
              <a:t>Estensione · dopo l’inizio</a:t>
            </a:r>
          </a:p>
        </p:txBody>
      </p:sp>
      <p:pic>
        <p:nvPicPr>
          <p:cNvPr id="502" name="Immagine 501">
            <a:extLst>
              <a:ext uri="{FF2B5EF4-FFF2-40B4-BE49-F238E27FC236}">
                <a16:creationId xmlns:a16="http://schemas.microsoft.com/office/drawing/2014/main" id="{2F534D7B-0FC9-4FED-A827-4F781F62B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6343650" y="2047875"/>
            <a:ext cx="5029200" cy="2381250"/>
          </a:xfrm>
          <a:prstGeom prst="rect">
            <a:avLst/>
          </a:prstGeom>
        </p:spPr>
      </p:pic>
      <p:sp>
        <p:nvSpPr>
          <p:cNvPr id="110" name="extent order label">
            <a:extLst>
              <a:ext uri="{FF2B5EF4-FFF2-40B4-BE49-F238E27FC236}">
                <a16:creationId xmlns:a16="http://schemas.microsoft.com/office/drawing/2014/main" id="{6106DD49-FA50-4FAC-90F5-5984080B4195}"/>
              </a:ext>
            </a:extLst>
          </p:cNvPr>
          <p:cNvSpPr>
            <a:spLocks noGrp="1"/>
          </p:cNvSpPr>
          <p:nvPr/>
        </p:nvSpPr>
        <p:spPr>
          <a:xfrm>
            <a:off x="6248400" y="4438650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444444"/>
                </a:solidFill>
                <a:latin typeface="Arial"/>
                <a:ea typeface="Arial"/>
                <a:cs typeface="Arial"/>
              </a:rPr>
              <a:t>Secondo vs primo blocco</a:t>
            </a:r>
          </a:p>
        </p:txBody>
      </p:sp>
      <p:sp>
        <p:nvSpPr>
          <p:cNvPr id="111" name="extent order result">
            <a:extLst>
              <a:ext uri="{FF2B5EF4-FFF2-40B4-BE49-F238E27FC236}">
                <a16:creationId xmlns:a16="http://schemas.microsoft.com/office/drawing/2014/main" id="{77A5D1CF-528F-4481-9AA3-79033C57C6EA}"/>
              </a:ext>
            </a:extLst>
          </p:cNvPr>
          <p:cNvSpPr>
            <a:spLocks noGrp="1"/>
          </p:cNvSpPr>
          <p:nvPr/>
        </p:nvSpPr>
        <p:spPr>
          <a:xfrm>
            <a:off x="6248400" y="4752975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IRR = 1,01; IC 95% [0,91, 1,11]; </a:t>
            </a:r>
            <a:r>
              <a:rPr sz="1613" b="0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= .872</a:t>
            </a:r>
          </a:p>
        </p:txBody>
      </p:sp>
      <p:sp>
        <p:nvSpPr>
          <p:cNvPr id="112" name="extent interaction label">
            <a:extLst>
              <a:ext uri="{FF2B5EF4-FFF2-40B4-BE49-F238E27FC236}">
                <a16:creationId xmlns:a16="http://schemas.microsoft.com/office/drawing/2014/main" id="{F443177C-88BC-469B-9602-6DB8F3114109}"/>
              </a:ext>
            </a:extLst>
          </p:cNvPr>
          <p:cNvSpPr>
            <a:spLocks noGrp="1"/>
          </p:cNvSpPr>
          <p:nvPr/>
        </p:nvSpPr>
        <p:spPr>
          <a:xfrm>
            <a:off x="6248400" y="5133975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725" b="1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725" b="1" dirty="0" err="1">
                <a:solidFill>
                  <a:srgbClr val="444444"/>
                </a:solidFill>
                <a:latin typeface="Arial"/>
                <a:ea typeface="Arial"/>
                <a:cs typeface="Arial"/>
              </a:rPr>
              <a:t>Interazione</a:t>
            </a:r>
            <a:r>
              <a:rPr sz="1725" b="1" dirty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</a:t>
            </a:r>
            <a:r>
              <a:rPr sz="1725" b="1" dirty="0" err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posizione</a:t>
            </a:r>
            <a:r>
              <a:rPr sz="1725" b="1" dirty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× </a:t>
            </a:r>
            <a:r>
              <a:rPr sz="1725" b="1" dirty="0" err="1">
                <a:solidFill>
                  <a:srgbClr val="444444"/>
                </a:solidFill>
                <a:latin typeface="Arial"/>
                <a:ea typeface="Arial"/>
                <a:cs typeface="Arial"/>
              </a:rPr>
              <a:t>dominio</a:t>
            </a:r>
            <a:endParaRPr sz="1725" b="1" dirty="0">
              <a:solidFill>
                <a:srgbClr val="444444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3" name="extent interaction result">
            <a:extLst>
              <a:ext uri="{FF2B5EF4-FFF2-40B4-BE49-F238E27FC236}">
                <a16:creationId xmlns:a16="http://schemas.microsoft.com/office/drawing/2014/main" id="{8AF14E54-1377-4B73-A6EB-A780FC575AEE}"/>
              </a:ext>
            </a:extLst>
          </p:cNvPr>
          <p:cNvSpPr>
            <a:spLocks noGrp="1"/>
          </p:cNvSpPr>
          <p:nvPr/>
        </p:nvSpPr>
        <p:spPr>
          <a:xfrm>
            <a:off x="6248400" y="5448300"/>
            <a:ext cx="52197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13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IRR = 0,83; IC 95% [0,55, 1,26]; </a:t>
            </a:r>
            <a:r>
              <a:rPr sz="1613" b="0" i="1">
                <a:solidFill>
                  <a:srgbClr val="444444"/>
                </a:solidFill>
                <a:latin typeface="Arial"/>
                <a:ea typeface="Arial"/>
                <a:cs typeface="Arial"/>
              </a:rPr>
              <a:t>p</a:t>
            </a:r>
            <a:r>
              <a:rPr sz="1613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 = .385</a:t>
            </a:r>
          </a:p>
        </p:txBody>
      </p:sp>
      <p:sp>
        <p:nvSpPr>
          <p:cNvPr id="114" name="Conclusion">
            <a:extLst>
              <a:ext uri="{FF2B5EF4-FFF2-40B4-BE49-F238E27FC236}">
                <a16:creationId xmlns:a16="http://schemas.microsoft.com/office/drawing/2014/main" id="{1B0D9E7E-02F1-4D47-BD30-925E0BABCC02}"/>
              </a:ext>
            </a:extLst>
          </p:cNvPr>
          <p:cNvSpPr>
            <a:spLocks noGrp="1"/>
          </p:cNvSpPr>
          <p:nvPr/>
        </p:nvSpPr>
        <p:spPr>
          <a:xfrm>
            <a:off x="742950" y="5838825"/>
            <a:ext cx="107632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650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1">
                <a:solidFill>
                  <a:srgbClr val="B000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00000"/>
                </a:solidFill>
                <a:latin typeface="Arial"/>
                <a:ea typeface="Arial"/>
                <a:cs typeface="Arial"/>
              </a:rPr>
              <a:t>Avvio più frequente nel secondo blocco; interazione con il dominio non significativa.</a:t>
            </a:r>
          </a:p>
        </p:txBody>
      </p:sp>
      <p:sp>
        <p:nvSpPr>
          <p:cNvPr id="115" name="Figure note">
            <a:extLst>
              <a:ext uri="{FF2B5EF4-FFF2-40B4-BE49-F238E27FC236}">
                <a16:creationId xmlns:a16="http://schemas.microsoft.com/office/drawing/2014/main" id="{7528632C-C728-4620-9CEA-834CDC27BAF5}"/>
              </a:ext>
            </a:extLst>
          </p:cNvPr>
          <p:cNvSpPr>
            <a:spLocks noGrp="1"/>
          </p:cNvSpPr>
          <p:nvPr/>
        </p:nvSpPr>
        <p:spPr>
          <a:xfrm>
            <a:off x="742950" y="6143625"/>
            <a:ext cx="1076325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defPPr>
              <a:defRPr sz="127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75" b="0">
                <a:solidFill>
                  <a:srgbClr val="777777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777777"/>
                </a:solidFill>
                <a:latin typeface="Arial"/>
                <a:ea typeface="Arial"/>
                <a:cs typeface="Arial"/>
              </a:rPr>
              <a:t>Grafici: medie osservate e IC 95%. Analisi: 840 trial, 140 partecipanti.</a:t>
            </a:r>
          </a:p>
        </p:txBody>
      </p:sp>
    </p:spTree>
    <p:extLst>
      <p:ext uri="{BB962C8B-B14F-4D97-AF65-F5344CB8AC3E}">
        <p14:creationId xmlns:p14="http://schemas.microsoft.com/office/powerpoint/2010/main" val="54564517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1447</TotalTime>
  <Words>5306</Words>
  <Application>Microsoft Office PowerPoint</Application>
  <DocSecurity>0</DocSecurity>
  <PresentationFormat>Widescreen</PresentationFormat>
  <Paragraphs>446</Paragraphs>
  <Slides>21</Slides>
  <Notes>21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21</vt:i4>
      </vt:variant>
    </vt:vector>
  </HeadingPairs>
  <TitlesOfParts>
    <vt:vector size="24" baseType="lpstr">
      <vt:lpstr>Aptos</vt:lpstr>
      <vt:lpstr>Arial</vt:lpstr>
      <vt:lpstr>ChatGPT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Michele Garbelotto</cp:lastModifiedBy>
  <cp:revision>36</cp:revision>
  <dcterms:created xsi:type="dcterms:W3CDTF">2026-10-09T20:26:56Z</dcterms:created>
  <dcterms:modified xsi:type="dcterms:W3CDTF">2026-10-14T15:48:07Z</dcterms:modified>
</cp:coreProperties>
</file>