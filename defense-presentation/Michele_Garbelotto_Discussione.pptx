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2" r:id="rId7"/>
    <p:sldId id="264" r:id="rId8"/>
    <p:sldId id="265" r:id="rId9"/>
    <p:sldId id="267" r:id="rId10"/>
    <p:sldId id="266" r:id="rId11"/>
    <p:sldId id="268" r:id="rId12"/>
    <p:sldId id="269" r:id="rId13"/>
    <p:sldId id="270" r:id="rId14"/>
    <p:sldId id="271" r:id="rId15"/>
    <p:sldId id="272" r:id="rId16"/>
    <p:sldId id="279" r:id="rId17"/>
    <p:sldId id="274" r:id="rId18"/>
    <p:sldId id="275" r:id="rId19"/>
    <p:sldId id="276" r:id="rId20"/>
    <p:sldId id="277" r:id="rId21"/>
    <p:sldId id="278" r:id="rId2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00" y="108"/>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col"/>
        <c:grouping val="clustered"/>
        <c:varyColors val="0"/>
        <c:ser>
          <c:idx val="0"/>
          <c:order val="0"/>
          <c:tx>
            <c:v>Percentuale di trial</c:v>
          </c:tx>
          <c:spPr>
            <a:solidFill>
              <a:srgbClr val="6C9BC1"/>
            </a:solidFill>
          </c:spPr>
          <c:invertIfNegative val="1"/>
          <c:dPt>
            <c:idx val="0"/>
            <c:invertIfNegative val="0"/>
            <c:bubble3D val="0"/>
            <c:spPr>
              <a:solidFill>
                <a:srgbClr val="C16C6F"/>
              </a:solidFill>
            </c:spPr>
            <c:extLst>
              <c:ext xmlns:c16="http://schemas.microsoft.com/office/drawing/2014/chart" uri="{C3380CC4-5D6E-409C-BE32-E72D297353CC}">
                <c16:uniqueId val="{00000001-44DC-4C7E-8DCD-84DE1E389FD9}"/>
              </c:ext>
            </c:extLst>
          </c:dPt>
          <c:cat>
            <c:numRef>
              <c:f>'Chart Data'!$A$2:$A$24</c:f>
              <c:numCache>
                <c:formatCode>General</c:formatCode>
                <c:ptCount val="2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numCache>
            </c:numRef>
          </c:cat>
          <c:val>
            <c:numRef>
              <c:f>'Chart Data'!$B$2:$B$24</c:f>
              <c:numCache>
                <c:formatCode>0%</c:formatCode>
                <c:ptCount val="23"/>
                <c:pt idx="0">
                  <c:v>0.43809524</c:v>
                </c:pt>
                <c:pt idx="1">
                  <c:v>5.7142859999999997E-2</c:v>
                </c:pt>
                <c:pt idx="2">
                  <c:v>5.9523810000000003E-2</c:v>
                </c:pt>
                <c:pt idx="3">
                  <c:v>0.16547619</c:v>
                </c:pt>
                <c:pt idx="4">
                  <c:v>0.10476190000000001</c:v>
                </c:pt>
                <c:pt idx="5">
                  <c:v>6.3095239999999997E-2</c:v>
                </c:pt>
                <c:pt idx="6">
                  <c:v>4.4047620000000003E-2</c:v>
                </c:pt>
                <c:pt idx="7">
                  <c:v>2.0238099999999998E-2</c:v>
                </c:pt>
                <c:pt idx="8">
                  <c:v>9.5238100000000006E-3</c:v>
                </c:pt>
                <c:pt idx="9">
                  <c:v>7.14286E-3</c:v>
                </c:pt>
                <c:pt idx="10">
                  <c:v>1.6666670000000001E-2</c:v>
                </c:pt>
                <c:pt idx="11">
                  <c:v>3.57143E-3</c:v>
                </c:pt>
                <c:pt idx="12">
                  <c:v>1.1904800000000001E-3</c:v>
                </c:pt>
                <c:pt idx="13">
                  <c:v>7.14286E-3</c:v>
                </c:pt>
                <c:pt idx="14">
                  <c:v>0</c:v>
                </c:pt>
                <c:pt idx="15">
                  <c:v>0</c:v>
                </c:pt>
                <c:pt idx="16">
                  <c:v>0</c:v>
                </c:pt>
                <c:pt idx="17">
                  <c:v>0</c:v>
                </c:pt>
                <c:pt idx="18">
                  <c:v>0</c:v>
                </c:pt>
                <c:pt idx="19">
                  <c:v>1.1904800000000001E-3</c:v>
                </c:pt>
                <c:pt idx="20">
                  <c:v>0</c:v>
                </c:pt>
                <c:pt idx="21">
                  <c:v>0</c:v>
                </c:pt>
                <c:pt idx="22">
                  <c:v>1.1904800000000001E-3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4DC-4C7E-8DCD-84DE1E389FD9}"/>
            </c:ext>
          </c:extLst>
        </c:ser>
        <c:dLbls>
          <c:showLegendKey val="0"/>
          <c:showVal val="0"/>
          <c:showCatName val="0"/>
          <c:showSerName val="0"/>
          <c:showPercent val="0"/>
          <c:showBubbleSize val="0"/>
        </c:dLbls>
        <c:gapWidth val="18"/>
        <c:axId val="48650112"/>
        <c:axId val="48672768"/>
      </c:barChart>
      <c:catAx>
        <c:axId val="48650112"/>
        <c:scaling>
          <c:orientation val="minMax"/>
        </c:scaling>
        <c:delete val="0"/>
        <c:axPos val="b"/>
        <c:title>
          <c:tx>
            <c:rich>
              <a:bodyPr/>
              <a:lstStyle/>
              <a:p>
                <a:pPr>
                  <a:defRPr>
                    <a:latin typeface="Arial"/>
                  </a:defRPr>
                </a:pPr>
                <a:r>
                  <a:rPr lang="it-IT"/>
                  <a:t>Numero di esiti richiesti per trial</a:t>
                </a:r>
              </a:p>
            </c:rich>
          </c:tx>
          <c:overlay val="0"/>
        </c:title>
        <c:numFmt formatCode="General" sourceLinked="1"/>
        <c:majorTickMark val="none"/>
        <c:minorTickMark val="none"/>
        <c:tickLblPos val="nextTo"/>
        <c:spPr>
          <a:ln w="9525">
            <a:solidFill>
              <a:srgbClr val="414141"/>
            </a:solidFill>
          </a:ln>
        </c:spPr>
        <c:txPr>
          <a:bodyPr anchorCtr="1"/>
          <a:lstStyle/>
          <a:p>
            <a:pPr>
              <a:defRPr sz="1275">
                <a:solidFill>
                  <a:srgbClr val="414141"/>
                </a:solidFill>
                <a:latin typeface="Arial"/>
              </a:defRPr>
            </a:pPr>
            <a:endParaRPr lang="it-IT"/>
          </a:p>
        </c:txPr>
        <c:crossAx val="48672768"/>
        <c:crosses val="autoZero"/>
        <c:auto val="1"/>
        <c:lblAlgn val="ctr"/>
        <c:lblOffset val="100"/>
        <c:noMultiLvlLbl val="1"/>
      </c:catAx>
      <c:valAx>
        <c:axId val="48672768"/>
        <c:scaling>
          <c:orientation val="minMax"/>
          <c:max val="0.5"/>
          <c:min val="0"/>
        </c:scaling>
        <c:delete val="0"/>
        <c:axPos val="l"/>
        <c:title>
          <c:tx>
            <c:rich>
              <a:bodyPr/>
              <a:lstStyle/>
              <a:p>
                <a:pPr>
                  <a:defRPr>
                    <a:latin typeface="Arial"/>
                  </a:defRPr>
                </a:pPr>
                <a:r>
                  <a:rPr lang="it-IT"/>
                  <a:t>Percentuale di trial</a:t>
                </a:r>
              </a:p>
            </c:rich>
          </c:tx>
          <c:overlay val="0"/>
        </c:title>
        <c:numFmt formatCode="0%" sourceLinked="1"/>
        <c:majorTickMark val="none"/>
        <c:minorTickMark val="none"/>
        <c:tickLblPos val="nextTo"/>
        <c:spPr>
          <a:ln w="9525">
            <a:solidFill>
              <a:srgbClr val="414141"/>
            </a:solidFill>
          </a:ln>
        </c:spPr>
        <c:txPr>
          <a:bodyPr anchorCtr="1"/>
          <a:lstStyle/>
          <a:p>
            <a:pPr>
              <a:defRPr sz="1350">
                <a:solidFill>
                  <a:srgbClr val="414141"/>
                </a:solidFill>
                <a:latin typeface="Arial"/>
              </a:defRPr>
            </a:pPr>
            <a:endParaRPr lang="it-IT"/>
          </a:p>
        </c:txPr>
        <c:crossAx val="48650112"/>
        <c:crosses val="autoZero"/>
        <c:crossBetween val="between"/>
        <c:majorUnit val="0.1"/>
      </c:valAx>
      <c:spPr>
        <a:solidFill>
          <a:srgbClr val="FAFAFA"/>
        </a:solidFill>
      </c:spPr>
    </c:plotArea>
    <c:plotVisOnly val="1"/>
    <c:dispBlanksAs val="zero"/>
    <c:showDLblsOverMax val="1"/>
  </c:chart>
  <c:spPr>
    <a:solidFill>
      <a:srgbClr val="FAFAFA"/>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Tempo </a:t>
            </a:r>
            <a:r>
              <a:rPr dirty="0" err="1"/>
              <a:t>guida</a:t>
            </a:r>
            <a:r>
              <a:rPr dirty="0"/>
              <a:t>: 20 secondi.</a:t>
            </a:r>
          </a:p>
          <a:p>
            <a:r>
              <a:rPr dirty="0"/>
              <a:t>Lo studio </a:t>
            </a:r>
            <a:r>
              <a:rPr dirty="0" err="1"/>
              <a:t>si</a:t>
            </a:r>
            <a:r>
              <a:rPr dirty="0"/>
              <a:t> </a:t>
            </a:r>
            <a:r>
              <a:rPr dirty="0" err="1"/>
              <a:t>chiede</a:t>
            </a:r>
            <a:r>
              <a:rPr dirty="0"/>
              <a:t> se </a:t>
            </a:r>
            <a:r>
              <a:rPr dirty="0" err="1"/>
              <a:t>i</a:t>
            </a:r>
            <a:r>
              <a:rPr dirty="0"/>
              <a:t> domini di </a:t>
            </a:r>
            <a:r>
              <a:rPr dirty="0" err="1"/>
              <a:t>guadagno</a:t>
            </a:r>
            <a:r>
              <a:rPr dirty="0"/>
              <a:t> e di </a:t>
            </a:r>
            <a:r>
              <a:rPr dirty="0" err="1"/>
              <a:t>perdita</a:t>
            </a:r>
            <a:r>
              <a:rPr dirty="0"/>
              <a:t> </a:t>
            </a:r>
            <a:r>
              <a:rPr dirty="0" err="1"/>
              <a:t>influenzino</a:t>
            </a:r>
            <a:r>
              <a:rPr dirty="0"/>
              <a:t> la </a:t>
            </a:r>
            <a:r>
              <a:rPr dirty="0" err="1"/>
              <a:t>ricerca</a:t>
            </a:r>
            <a:r>
              <a:rPr dirty="0"/>
              <a:t> di </a:t>
            </a:r>
            <a:r>
              <a:rPr dirty="0" err="1"/>
              <a:t>confronto</a:t>
            </a:r>
            <a:r>
              <a:rPr dirty="0"/>
              <a:t> </a:t>
            </a:r>
            <a:r>
              <a:rPr dirty="0" err="1"/>
              <a:t>sociale</a:t>
            </a:r>
            <a:r>
              <a:rPr dirty="0"/>
              <a:t>. La </a:t>
            </a:r>
            <a:r>
              <a:rPr dirty="0" err="1"/>
              <a:t>domanda</a:t>
            </a:r>
            <a:r>
              <a:rPr dirty="0"/>
              <a:t> </a:t>
            </a:r>
            <a:r>
              <a:rPr dirty="0" err="1"/>
              <a:t>riguarda</a:t>
            </a:r>
            <a:r>
              <a:rPr dirty="0"/>
              <a:t> la </a:t>
            </a:r>
            <a:r>
              <a:rPr dirty="0" err="1"/>
              <a:t>scelta</a:t>
            </a:r>
            <a:r>
              <a:rPr dirty="0"/>
              <a:t> </a:t>
            </a:r>
            <a:r>
              <a:rPr dirty="0" err="1"/>
              <a:t>volontaria</a:t>
            </a:r>
            <a:r>
              <a:rPr dirty="0"/>
              <a:t> di </a:t>
            </a:r>
            <a:r>
              <a:rPr dirty="0" err="1"/>
              <a:t>cercare</a:t>
            </a:r>
            <a:r>
              <a:rPr dirty="0"/>
              <a:t> </a:t>
            </a:r>
            <a:r>
              <a:rPr dirty="0" err="1"/>
              <a:t>informazioni</a:t>
            </a:r>
            <a:r>
              <a:rPr dirty="0"/>
              <a:t> </a:t>
            </a:r>
            <a:r>
              <a:rPr dirty="0" err="1"/>
              <a:t>sugli</a:t>
            </a:r>
            <a:r>
              <a:rPr dirty="0"/>
              <a:t> </a:t>
            </a:r>
            <a:r>
              <a:rPr dirty="0" err="1"/>
              <a:t>esiti</a:t>
            </a:r>
            <a:r>
              <a:rPr dirty="0"/>
              <a:t> </a:t>
            </a:r>
            <a:r>
              <a:rPr dirty="0" err="1"/>
              <a:t>altrui</a:t>
            </a:r>
            <a:r>
              <a:rPr dirty="0"/>
              <a:t> ed è </a:t>
            </a:r>
            <a:r>
              <a:rPr dirty="0" err="1"/>
              <a:t>presentata</a:t>
            </a:r>
            <a:r>
              <a:rPr dirty="0"/>
              <a:t> come </a:t>
            </a:r>
            <a:r>
              <a:rPr dirty="0" err="1"/>
              <a:t>aperta</a:t>
            </a:r>
            <a:r>
              <a:rPr dirty="0"/>
              <a:t> </a:t>
            </a:r>
            <a:r>
              <a:rPr dirty="0" err="1"/>
              <a:t>nella</a:t>
            </a:r>
            <a:r>
              <a:rPr dirty="0"/>
              <a:t> </a:t>
            </a:r>
            <a:r>
              <a:rPr dirty="0" err="1"/>
              <a:t>letteratura</a:t>
            </a:r>
            <a:r>
              <a:rPr dirty="0"/>
              <a:t> </a:t>
            </a:r>
            <a:r>
              <a:rPr dirty="0" err="1"/>
              <a:t>considerata</a:t>
            </a:r>
            <a:r>
              <a:rPr dirty="0"/>
              <a:t> </a:t>
            </a:r>
            <a:r>
              <a:rPr dirty="0" err="1"/>
              <a:t>dalla</a:t>
            </a:r>
            <a:r>
              <a:rPr dirty="0"/>
              <a:t> </a:t>
            </a:r>
            <a:r>
              <a:rPr dirty="0" err="1"/>
              <a:t>tesi</a:t>
            </a:r>
            <a:r>
              <a:rPr dirty="0"/>
              <a:t>.</a:t>
            </a:r>
          </a:p>
          <a:p>
            <a:r>
              <a:rPr dirty="0" err="1"/>
              <a:t>Riferimento</a:t>
            </a:r>
            <a:r>
              <a:rPr dirty="0"/>
              <a:t> per il </a:t>
            </a:r>
            <a:r>
              <a:rPr dirty="0" err="1"/>
              <a:t>razionale</a:t>
            </a:r>
            <a:r>
              <a:rPr dirty="0"/>
              <a:t>: </a:t>
            </a:r>
            <a:r>
              <a:rPr dirty="0" err="1"/>
              <a:t>MasterThesis</a:t>
            </a:r>
            <a:r>
              <a:rPr dirty="0"/>
              <a:t>/</a:t>
            </a:r>
            <a:r>
              <a:rPr dirty="0" err="1"/>
              <a:t>empirical_study.qmd</a:t>
            </a:r>
            <a:r>
              <a:rPr dirty="0"/>
              <a:t>, Study Rationale and Hypotheses. Il gap </a:t>
            </a:r>
            <a:r>
              <a:rPr dirty="0" err="1"/>
              <a:t>riguarda</a:t>
            </a:r>
            <a:r>
              <a:rPr dirty="0"/>
              <a:t> la </a:t>
            </a:r>
            <a:r>
              <a:rPr dirty="0" err="1"/>
              <a:t>ricerca</a:t>
            </a:r>
            <a:r>
              <a:rPr dirty="0"/>
              <a:t> </a:t>
            </a:r>
            <a:r>
              <a:rPr dirty="0" err="1"/>
              <a:t>attiva</a:t>
            </a:r>
            <a:r>
              <a:rPr dirty="0"/>
              <a:t> di </a:t>
            </a:r>
            <a:r>
              <a:rPr dirty="0" err="1"/>
              <a:t>informazioni</a:t>
            </a:r>
            <a:r>
              <a:rPr dirty="0"/>
              <a:t> di </a:t>
            </a:r>
            <a:r>
              <a:rPr dirty="0" err="1"/>
              <a:t>confronto</a:t>
            </a:r>
            <a:r>
              <a:rPr dirty="0"/>
              <a:t>, non ogni </a:t>
            </a:r>
            <a:r>
              <a:rPr dirty="0" err="1"/>
              <a:t>relazione</a:t>
            </a:r>
            <a:r>
              <a:rPr dirty="0"/>
              <a:t> </a:t>
            </a:r>
            <a:r>
              <a:rPr dirty="0" err="1"/>
              <a:t>tra</a:t>
            </a:r>
            <a:r>
              <a:rPr dirty="0"/>
              <a:t> domini e </a:t>
            </a:r>
            <a:r>
              <a:rPr dirty="0" err="1"/>
              <a:t>confronto</a:t>
            </a:r>
            <a:r>
              <a:rPr dirty="0"/>
              <a:t> </a:t>
            </a:r>
            <a:r>
              <a:rPr dirty="0" err="1"/>
              <a:t>sociale</a:t>
            </a:r>
            <a:r>
              <a:rPr dirty="0"/>
              <a:t>. Non </a:t>
            </a:r>
            <a:r>
              <a:rPr dirty="0" err="1"/>
              <a:t>si</a:t>
            </a:r>
            <a:r>
              <a:rPr dirty="0"/>
              <a:t> </a:t>
            </a:r>
            <a:r>
              <a:rPr dirty="0" err="1"/>
              <a:t>afferma</a:t>
            </a:r>
            <a:r>
              <a:rPr dirty="0"/>
              <a:t> </a:t>
            </a:r>
            <a:r>
              <a:rPr dirty="0" err="1"/>
              <a:t>un’assenza</a:t>
            </a:r>
            <a:r>
              <a:rPr dirty="0"/>
              <a:t> assoluta di </a:t>
            </a:r>
            <a:r>
              <a:rPr dirty="0" err="1"/>
              <a:t>studi</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40 secondi.</a:t>
            </a:r>
          </a:p>
          <a:p>
            <a:endParaRPr/>
          </a:p>
          <a:p>
            <a:r>
              <a:t>Per confronto sociale intendiamo considerare informazioni sugli altri in relazione al sé. Possiamo distinguere quattro componenti: scegliere il target di valutazione, selezionare uno standard, comparare e valutare. Sono componenti concettuali che possono sovrapporsi, non una sequenza obbligata. Il focus è la ricerca attiva dello standard. Separatamente, guadagno e perdita dipendono dal riferimento: arrivare a trenta euro partendo da zero o da sessanta significa raggiungere lo stesso importo finale con variazioni opposte. Il punto grande indica sempre il riferimento, quello piccolo l’esito.</a:t>
            </a:r>
          </a:p>
          <a:p>
            <a:r>
              <a:t>Fonti: theoretical_background.qmd, Comparison as a Process e Prospect Theory.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25 secondi.</a:t>
            </a:r>
          </a:p>
          <a:p>
            <a:endParaRPr/>
          </a:p>
          <a:p>
            <a:r>
              <a:t>La prima ipotesi prevedeva una minore ricerca di confronto sociale nel dominio di perdita rispetto al dominio di guadagno. La direzione attesa riguarda la richiesta di informazioni. La differenza nella felicità tra i blocchi viene invece esaminata separatamente come controllo della manipolazione.</a:t>
            </a:r>
          </a:p>
          <a:p>
            <a:r>
              <a:t>Fonte: empirical_study.qmd, H1, righe 27–29.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circa 60 secondi.</a:t>
            </a:r>
          </a:p>
          <a:p>
            <a:endParaRPr/>
          </a:p>
          <a:p>
            <a:r>
              <a:t>H2 proponeva l’identificazione come possibile mediatore. H2a prevedeva maggiore identificazione nella perdita rispetto al guadagno. H2b prevedeva minore ricerca di confronto sociale al crescere dell’identificazione.</a:t>
            </a:r>
          </a:p>
          <a:p>
            <a:endParaRPr/>
          </a:p>
          <a:p>
            <a:r>
              <a:t>Spiegazione del razionale di H2b: una maggiore identificazione avrebbe potuto favorire una risposta empatica agli esiti altrui. Se questa risposta avesse assunto la forma di un disagio personale sufficientemente avversivo, evitare ulteriori informazioni avrebbe potuto essere un modo per ridurre il proprio disagio. Da qui la previsione di minore ricerca di confronto sociale. Questa è la sequenza ipotizzata per motivare H2b, non una catena causale verificata nel compito.</a:t>
            </a:r>
          </a:p>
          <a:p>
            <a:endParaRPr/>
          </a:p>
          <a:p>
            <a:r>
              <a:t>Promemoria teorico per il relatore: risposta empatica è un termine generale. La preoccupazione empatica orientata all’altro può accompagnarsi ad avvicinamento e aiuto; il disagio personale è orientato alla riduzione della propria attivazione avversiva. Non si assume che la preoccupazione empatica si trasformi nel disagio personale. Il razionale qui presentato riguarda soltanto la possibilità che la risposta assuma la forma di disagio personale.</a:t>
            </a:r>
          </a:p>
          <a:p>
            <a:endParaRPr/>
          </a:p>
          <a:p>
            <a:r>
              <a:t>Risposta empatica, disagio personale e intenzione di evitare non erano misurati direttamente. Una minore ricerca sarebbe compatibile con l’evitamento ipotizzato, ma non lo dimostrerebbe. Il riferimento alla perdita condivisa riguarda il razionale di H2a e rimane un’analogia con studi sull’avversità condivisa.</a:t>
            </a:r>
          </a:p>
          <a:p>
            <a:endParaRPr/>
          </a:p>
          <a:p>
            <a:r>
              <a:t>Fonti: MasterThesis/empirical_study.qmd, Hypotheses, paragrafi di H2; DefensePresentation/fonti-razionale-h2-risposta-empatica.md. Maki et al. (2019) e Drury et al. (2016): avversità condivisa e identificazione; Hein et al. (2010): risposta empatica relativa all’ingroup e aiuto, non verifica di identificazione individuale → evitamento; Batson et al. (1987) e Singer &amp; Klimecki (2014): distinzione tra risposte orientate all’altro e disagio personale. Nessuna di queste fonti dimostra l’intera catena nel compito della tesi.</a:t>
            </a:r>
          </a:p>
          <a:p>
            <a:endParaRPr/>
          </a:p>
          <a:p>
            <a:r>
              <a:t>Hein et al. (2010): https://doi.org/10.1016/j.neuron.2010.09.003</a:t>
            </a:r>
          </a:p>
          <a:p>
            <a:r>
              <a:t>Batson et al. (1987): https://doi.org/10.1111/j.1467-6494.1987.tb00426.x</a:t>
            </a:r>
          </a:p>
          <a:p>
            <a:r>
              <a:t>Singer &amp; Klimecki (2014): https://doi.org/10.1016/j.cub.2014.06.054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25 secondi.</a:t>
            </a:r>
          </a:p>
          <a:p>
            <a:endParaRPr/>
          </a:p>
          <a:p>
            <a:r>
              <a:t>La terza ipotesi prevedeva una maggiore ricerca quando era possibile un confronto verso l’alto rispetto a quando era possibile un confronto verso il basso. La letteratura richiamata suggerisce una tendenza a preferire standard superiori, con limiti legati alle alternative disponibili. Qui la previsione riguarda la direzione resa disponibile dal compito. Non implica che le persone scelgano direttamente un target migliore.</a:t>
            </a:r>
          </a:p>
          <a:p>
            <a:r>
              <a:t>Fonti: empirical_study.qmd, H3, righe 37–39.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35 secondi.</a:t>
            </a:r>
          </a:p>
          <a:p>
            <a:endParaRPr/>
          </a:p>
          <a:p>
            <a:r>
              <a:t>Il disegno era entro soggetti: ciascuna persona completava un blocco di guadagno e uno di perdita, in ordine randomizzato. Ogni blocco comprendeva tre roulette. Nel guadagno si partiva da zero dollari; nella perdita da sessanta. Le variazioni differivano tra domini, ma gli importi finali possibili erano abbinati. Per esempio, più dieci e più cinquanta partendo da zero corrispondevano a meno cinquanta e meno dieci partendo da sessanta. Peggiore e migliore si riferiscono sempre alle due alternative della singola roulette.</a:t>
            </a:r>
          </a:p>
          <a:p>
            <a:r>
              <a:t>Fonte: empirical_study.qmd, Design and Materials, righe 49–60.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45 secondi.</a:t>
            </a:r>
          </a:p>
          <a:p>
            <a:endParaRPr/>
          </a:p>
          <a:p>
            <a:r>
              <a:t>Prima del compito: consenso, istruzioni e tutorial, verifica di comprensione. In ogni trial il partecipante fa girare la roulette e osserva il proprio esito. Può quindi richiedere gli esiti attribuiti ad altre persone: ogni pressione di J mostra un nome e un esito alla volta. Nome ed esito sono casuali e relativi alla roulette corrente. La richiesta può essere ripetuta oppure interrotta: con F si passa alla roulette successiva anche senza avere chiesto alcuna informazione. Le informazioni non modificano la vincita. La schermata mostra un esempio dopo tre richieste, non un limite al numero di richieste. Dopo ciascun blocco vengono rilevate felicità e identificazione; dopo i blocchi sono previsti attention check e debriefing.</a:t>
            </a:r>
          </a:p>
          <a:p>
            <a:r>
              <a:t>Schermata fornita dall’autore: Screenshot 2026-10-10 175545.png, demo https://michelegarbelotto.github.io/CV/Experiment.html?cv_section=task. La demo è collegata nella precedente slide sul disegno sperimentale.</a:t>
            </a:r>
          </a:p>
          <a:p>
            <a:r>
              <a:t>Fonte della procedura: MasterThesis/empirical_study.qmd, Procedure.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35 secondi.</a:t>
            </a:r>
          </a:p>
          <a:p>
            <a:endParaRPr/>
          </a:p>
          <a:p>
            <a:r>
              <a:t>La misura primaria è il numero di esiti richiesti per roulette. Consente di distinguere l’inizio, cioè almeno una richiesta, dall’estensione una volta iniziata la ricerca. I lavori citati sono precedenti metodologici, non la stessa misura. Dopo ciascun blocco si rilevavano felicità momentanea e identificazione, entrambe con un singolo item adattato. La felicità era registrata su uno slider da zero a cento, l’identificazione su sette categorie. Non sono state somministrate le intere scale originali.</a:t>
            </a:r>
          </a:p>
          <a:p>
            <a:r>
              <a:t>Fonte: empirical_study.qmd, Materials and Measures, righe 61–69.</a:t>
            </a:r>
          </a:p>
          <a:p>
            <a:r>
              <a:t>Razionale aggiunto per il controllo della manipolazione. La previsione dello studio è minore felicità momentanea dopo il blocco di perdita rispetto al guadagno. Le fonti seguenti offrono evidenze complementari, con misure e tempi diversi dalla rilevazione post-blocco della tesi.</a:t>
            </a:r>
          </a:p>
          <a:p>
            <a:endParaRPr/>
          </a:p>
          <a:p>
            <a:r>
              <a:t>Nabi et al. (2020): meta-analisi di 25 studi sui messaggi persuasivi. Il frame di guadagno elicita più emozioni positive, quello di perdita più emozioni negative. Sostegno indiretto per un compito monetario. Locator: abstract del testo dell’editore. https://doi.org/10.1177/0093650219861256</a:t>
            </a:r>
          </a:p>
          <a:p>
            <a:endParaRPr/>
          </a:p>
          <a:p>
            <a:r>
              <a:t>Young et al. (2019): due esperimenti di framing monetario con esiti finali equivalenti. L’opzione certa evoca reazioni immediate più negative quando è presentata come perdita. La misura riguarda l’opzione prima della scelta, non la felicità generale dopo l’esito. Locator: Experiment 1, Method e Results; Experiment 2, Results, pp. 3–4 e 6 della versione online. https://doi.org/10.1037/emo0000505 ; PDF dell’autore: https://emocoglab.depaul.edu/publications/journals/Young_Shuster_Mikels_2018.pdf</a:t>
            </a:r>
          </a:p>
          <a:p>
            <a:endParaRPr/>
          </a:p>
          <a:p>
            <a:r>
              <a:t>van Lieshout et al. (2021): nell’esperimento 1 la felicità è maggiore per le lotterie con guadagni rispetto a quelle con perdite monetarie. Il giudizio riguarda la lotteria che verrà giocata, prima di conoscere l’esito. Gli esiti finali non sono equivalenti fra domini: non è una manipolazione pura di framing. Locator: Methods, Procedure; Results, Experiment 1; Figure 2A. https://doi.org/10.1038/s41598-021-93464-6</a:t>
            </a:r>
          </a:p>
          <a:p>
            <a:endParaRPr/>
          </a:p>
          <a:p>
            <a:r>
              <a:t>La previsione post-blocco è quindi un’estensione al disegno della tesi, non un risultato già dimostrato da queste fonti con la stessa manipolazione. Un effetto sulla felicità non dimostra, da solo, l’adozione del riferimento monetario previsto o l’avversione alla perdita. Rutledge et al. (2016) resta la fonte di adattamento dell’item, distinta dalle fonti della previsione. Felicità e identificazione restano singoli item adattati.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40 secondi.</a:t>
            </a:r>
          </a:p>
          <a:p>
            <a:endParaRPr/>
          </a:p>
          <a:p>
            <a:r>
              <a:t>Questa roulette chiarisce come il compito rende possibile la comparazione verso l’alto o verso il basso. Se ottengo dieci dollari, l’esito peggiore, posso osservare un esito uguale oppure cinquanta dollari, quindi migliore. Se ottengo cinquanta, posso osservare un esito uguale oppure dieci, quindi peggiore. In entrambi i casi l’esito richiesto è casuale. Il partecipante decide se chiedere informazioni, non la persona o la direzione del confronto. Per questo la direzione disponibile e l’esito proprio coincidono nel disegno.</a:t>
            </a:r>
          </a:p>
          <a:p>
            <a:r>
              <a:t>Fonte: slide 21 originale; empirical_study.qmd:21 e metodo.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35 secondi.</a:t>
            </a:r>
          </a:p>
          <a:p>
            <a:endParaRPr/>
          </a:p>
          <a:p>
            <a:r>
              <a:t>La distribuzione mostra che in 368 trial su 840, il 43,8 per cento, non viene richiesto alcun esito. Per la ricerca abbiamo utilizzato un modello hurdle entro la famiglia dei modelli a effetti misti, che tengono conto delle osservazioni ripetute. Una componente riguarda se iniziare e l’altra quanti esiti richiedere dopo l’inizio. Questa distinzione era motivata dai due aspetti osservabili del comportamento. La distribuzione ne mostra la pertinenza descrittiva, senza dimostrare zeri in eccesso rispetto a un modello alternativo o due meccanismi psicologici distinti.</a:t>
            </a:r>
          </a:p>
          <a:p>
            <a:r>
              <a:t>Fonti: empirical_study.qmd:85–107,151–198; overall_trial_sampling_frequency.csv.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40 secondi.</a:t>
            </a:r>
          </a:p>
          <a:p>
            <a:endParaRPr/>
          </a:p>
          <a:p>
            <a:r>
              <a:t>La manipolazione ha prodotto la differenza affettiva attesa: la felicità media era circa sessantadue nel guadagno e quarantacinque nella perdita. Il contrasto stimato è di meno diciassette virgola sessantotto punti. Per H1, invece, non emerge evidenza della minore ricerca prevista nella perdita: né per la probabilità di iniziare, né per l’estensione condizionata all’inizio. Gli intervalli comprendono il valore uno. Questo non dimostra che i domini siano equivalenti o che non possa esistere alcun effetto.</a:t>
            </a:r>
          </a:p>
          <a:p>
            <a:r>
              <a:t>Fonti: empirical_study.qmd:287–295; docs/context/provenance.md, Happiness manipulation check e H1.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50 secondi.</a:t>
            </a:r>
          </a:p>
          <a:p>
            <a:endParaRPr/>
          </a:p>
          <a:p>
            <a:r>
              <a:t>Il grafico descrittivo mostra la probabilità osservata di iniziare la ricerca ai diversi punteggi di identificazione: i punti sono medie per partecipante con intervalli al 95 per cento. Nel modello, aggiustato per dominio, un punto in più di identificazione è associato a odds di inizio maggiori del 23 per cento. La direzione è quindi opposta a H2b. Non emerge evidenza per l’estensione. Anche H2a e la mediazione non ricevono supporto. L’identificazione è misurata dopo il blocco: stiamo descrivendo un’associazione nello stesso blocco, non una direzione causale dimostrata.</a:t>
            </a:r>
          </a:p>
          <a:p>
            <a:r>
              <a:t>Fonti: empirical_study.qmd:297–348; grafico originale slide 31. Campione H2b: 633 trial, 211 blocchi campionati, 119 persone. I trial con zero richieste all’interno di quei blocchi restano inclusi.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45 secondi.</a:t>
            </a:r>
          </a:p>
          <a:p>
            <a:endParaRPr/>
          </a:p>
          <a:p>
            <a:r>
              <a:t>Dopo l’esito peggiore, quando erano possibili confronti laterali o verso l’alto, la probabilità osservata di almeno una richiesta era il 60,8 per cento. Dopo l’esito migliore era il 52,8 per cento. Il modello stima un odds ratio di 1,65 e l’intervallo non comprende uno. H3 riceve quindi supporto per l’inizio della ricerca. Per l’estensione non emerge evidenza di associazione. Il confronto riguarda condizioni di disponibilità della direzione, non la scelta volontaria di target superiori.</a:t>
            </a:r>
          </a:p>
          <a:p>
            <a:r>
              <a:t>Fonti: empirical_study.qmd:350–352; grafico originale slide 30. 840 trial, 140 partecipanti. Le probabilità del grafico sono descrittive, mediate a livello di partecipante, non predizioni modellistiche.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Tempo </a:t>
            </a:r>
            <a:r>
              <a:rPr dirty="0" err="1"/>
              <a:t>guida</a:t>
            </a:r>
            <a:r>
              <a:rPr dirty="0"/>
              <a:t>: 40 secondi.</a:t>
            </a:r>
          </a:p>
          <a:p>
            <a:endParaRPr dirty="0"/>
          </a:p>
          <a:p>
            <a:r>
              <a:rPr dirty="0"/>
              <a:t>Il </a:t>
            </a:r>
            <a:r>
              <a:rPr dirty="0" err="1"/>
              <a:t>quadro</a:t>
            </a:r>
            <a:r>
              <a:rPr dirty="0"/>
              <a:t> </a:t>
            </a:r>
            <a:r>
              <a:rPr dirty="0" err="1"/>
              <a:t>complessivo</a:t>
            </a:r>
            <a:r>
              <a:rPr dirty="0"/>
              <a:t> </a:t>
            </a:r>
            <a:r>
              <a:rPr dirty="0" err="1"/>
              <a:t>presenta</a:t>
            </a:r>
            <a:r>
              <a:rPr dirty="0"/>
              <a:t> </a:t>
            </a:r>
            <a:r>
              <a:rPr dirty="0" err="1"/>
              <a:t>tre</a:t>
            </a:r>
            <a:r>
              <a:rPr dirty="0"/>
              <a:t> </a:t>
            </a:r>
            <a:r>
              <a:rPr dirty="0" err="1"/>
              <a:t>aspetti</a:t>
            </a:r>
            <a:r>
              <a:rPr dirty="0"/>
              <a:t>. Primo: il </a:t>
            </a:r>
            <a:r>
              <a:rPr dirty="0" err="1"/>
              <a:t>dominio</a:t>
            </a:r>
            <a:r>
              <a:rPr dirty="0"/>
              <a:t> ha </a:t>
            </a:r>
            <a:r>
              <a:rPr dirty="0" err="1"/>
              <a:t>modificato</a:t>
            </a:r>
            <a:r>
              <a:rPr dirty="0"/>
              <a:t> la </a:t>
            </a:r>
            <a:r>
              <a:rPr dirty="0" err="1"/>
              <a:t>felicità</a:t>
            </a:r>
            <a:r>
              <a:rPr dirty="0"/>
              <a:t>, ma non </a:t>
            </a:r>
            <a:r>
              <a:rPr dirty="0" err="1"/>
              <a:t>abbiamo</a:t>
            </a:r>
            <a:r>
              <a:rPr dirty="0"/>
              <a:t> </a:t>
            </a:r>
            <a:r>
              <a:rPr dirty="0" err="1"/>
              <a:t>osservato</a:t>
            </a:r>
            <a:r>
              <a:rPr dirty="0"/>
              <a:t> la </a:t>
            </a:r>
            <a:r>
              <a:rPr dirty="0" err="1"/>
              <a:t>differenza</a:t>
            </a:r>
            <a:r>
              <a:rPr dirty="0"/>
              <a:t> </a:t>
            </a:r>
            <a:r>
              <a:rPr dirty="0" err="1"/>
              <a:t>prevista</a:t>
            </a:r>
            <a:r>
              <a:rPr dirty="0"/>
              <a:t> </a:t>
            </a:r>
            <a:r>
              <a:rPr dirty="0" err="1"/>
              <a:t>nella</a:t>
            </a:r>
            <a:r>
              <a:rPr dirty="0"/>
              <a:t> </a:t>
            </a:r>
            <a:r>
              <a:rPr dirty="0" err="1"/>
              <a:t>ricerca</a:t>
            </a:r>
            <a:r>
              <a:rPr dirty="0"/>
              <a:t>. Secondo: </a:t>
            </a:r>
            <a:r>
              <a:rPr dirty="0" err="1"/>
              <a:t>una</a:t>
            </a:r>
            <a:r>
              <a:rPr dirty="0"/>
              <a:t> </a:t>
            </a:r>
            <a:r>
              <a:rPr dirty="0" err="1"/>
              <a:t>maggiore</a:t>
            </a:r>
            <a:r>
              <a:rPr dirty="0"/>
              <a:t> </a:t>
            </a:r>
            <a:r>
              <a:rPr dirty="0" err="1"/>
              <a:t>identificazione</a:t>
            </a:r>
            <a:r>
              <a:rPr dirty="0"/>
              <a:t> </a:t>
            </a:r>
            <a:r>
              <a:rPr dirty="0" err="1"/>
              <a:t>si</a:t>
            </a:r>
            <a:r>
              <a:rPr dirty="0"/>
              <a:t> </a:t>
            </a:r>
            <a:r>
              <a:rPr dirty="0" err="1"/>
              <a:t>associa</a:t>
            </a:r>
            <a:r>
              <a:rPr dirty="0"/>
              <a:t> a un </a:t>
            </a:r>
            <a:r>
              <a:rPr dirty="0" err="1"/>
              <a:t>avvio</a:t>
            </a:r>
            <a:r>
              <a:rPr dirty="0"/>
              <a:t> </a:t>
            </a:r>
            <a:r>
              <a:rPr dirty="0" err="1"/>
              <a:t>più</a:t>
            </a:r>
            <a:r>
              <a:rPr dirty="0"/>
              <a:t> </a:t>
            </a:r>
            <a:r>
              <a:rPr dirty="0" err="1"/>
              <a:t>frequente</a:t>
            </a:r>
            <a:r>
              <a:rPr dirty="0"/>
              <a:t>, in </a:t>
            </a:r>
            <a:r>
              <a:rPr dirty="0" err="1"/>
              <a:t>direzione</a:t>
            </a:r>
            <a:r>
              <a:rPr dirty="0"/>
              <a:t> </a:t>
            </a:r>
            <a:r>
              <a:rPr dirty="0" err="1"/>
              <a:t>contraria</a:t>
            </a:r>
            <a:r>
              <a:rPr dirty="0"/>
              <a:t> alla </a:t>
            </a:r>
            <a:r>
              <a:rPr dirty="0" err="1"/>
              <a:t>previsione</a:t>
            </a:r>
            <a:r>
              <a:rPr dirty="0"/>
              <a:t> e senza </a:t>
            </a:r>
            <a:r>
              <a:rPr dirty="0" err="1"/>
              <a:t>identificare</a:t>
            </a:r>
            <a:r>
              <a:rPr dirty="0"/>
              <a:t> il </a:t>
            </a:r>
            <a:r>
              <a:rPr dirty="0" err="1"/>
              <a:t>meccanismo</a:t>
            </a:r>
            <a:r>
              <a:rPr dirty="0"/>
              <a:t>. Terzo: </a:t>
            </a:r>
            <a:r>
              <a:rPr dirty="0" err="1"/>
              <a:t>l’avvio</a:t>
            </a:r>
            <a:r>
              <a:rPr dirty="0"/>
              <a:t> è </a:t>
            </a:r>
            <a:r>
              <a:rPr dirty="0" err="1"/>
              <a:t>più</a:t>
            </a:r>
            <a:r>
              <a:rPr dirty="0"/>
              <a:t> </a:t>
            </a:r>
            <a:r>
              <a:rPr dirty="0" err="1"/>
              <a:t>frequente</a:t>
            </a:r>
            <a:r>
              <a:rPr dirty="0"/>
              <a:t> </a:t>
            </a:r>
            <a:r>
              <a:rPr dirty="0" err="1"/>
              <a:t>quando</a:t>
            </a:r>
            <a:r>
              <a:rPr dirty="0"/>
              <a:t> è </a:t>
            </a:r>
            <a:r>
              <a:rPr dirty="0" err="1"/>
              <a:t>disponibile</a:t>
            </a:r>
            <a:r>
              <a:rPr dirty="0"/>
              <a:t> il </a:t>
            </a:r>
            <a:r>
              <a:rPr dirty="0" err="1"/>
              <a:t>confronto</a:t>
            </a:r>
            <a:r>
              <a:rPr dirty="0"/>
              <a:t> verso </a:t>
            </a:r>
            <a:r>
              <a:rPr dirty="0" err="1"/>
              <a:t>l’alto</a:t>
            </a:r>
            <a:r>
              <a:rPr dirty="0"/>
              <a:t>, ma </a:t>
            </a:r>
            <a:r>
              <a:rPr dirty="0" err="1"/>
              <a:t>questa</a:t>
            </a:r>
            <a:r>
              <a:rPr dirty="0"/>
              <a:t> </a:t>
            </a:r>
            <a:r>
              <a:rPr dirty="0" err="1"/>
              <a:t>condizione</a:t>
            </a:r>
            <a:r>
              <a:rPr dirty="0"/>
              <a:t> coincide con </a:t>
            </a:r>
            <a:r>
              <a:rPr dirty="0" err="1"/>
              <a:t>l’esito</a:t>
            </a:r>
            <a:r>
              <a:rPr dirty="0"/>
              <a:t> proprio </a:t>
            </a:r>
            <a:r>
              <a:rPr dirty="0" err="1"/>
              <a:t>peggiore</a:t>
            </a:r>
            <a:r>
              <a:rPr dirty="0"/>
              <a:t>. </a:t>
            </a:r>
            <a:r>
              <a:rPr dirty="0" err="1"/>
              <a:t>Separare</a:t>
            </a:r>
            <a:r>
              <a:rPr dirty="0"/>
              <a:t> </a:t>
            </a:r>
            <a:r>
              <a:rPr dirty="0" err="1"/>
              <a:t>inizio</a:t>
            </a:r>
            <a:r>
              <a:rPr dirty="0"/>
              <a:t> ed </a:t>
            </a:r>
            <a:r>
              <a:rPr dirty="0" err="1"/>
              <a:t>estensione</a:t>
            </a:r>
            <a:r>
              <a:rPr dirty="0"/>
              <a:t> </a:t>
            </a:r>
            <a:r>
              <a:rPr dirty="0" err="1"/>
              <a:t>aiuta</a:t>
            </a:r>
            <a:r>
              <a:rPr dirty="0"/>
              <a:t> a </a:t>
            </a:r>
            <a:r>
              <a:rPr dirty="0" err="1"/>
              <a:t>descrivere</a:t>
            </a:r>
            <a:r>
              <a:rPr dirty="0"/>
              <a:t> il </a:t>
            </a:r>
            <a:r>
              <a:rPr dirty="0" err="1"/>
              <a:t>comportamento</a:t>
            </a:r>
            <a:r>
              <a:rPr dirty="0"/>
              <a:t>; la </a:t>
            </a:r>
            <a:r>
              <a:rPr dirty="0" err="1"/>
              <a:t>diversa</a:t>
            </a:r>
            <a:r>
              <a:rPr dirty="0"/>
              <a:t> </a:t>
            </a:r>
            <a:r>
              <a:rPr dirty="0" err="1"/>
              <a:t>significatività</a:t>
            </a:r>
            <a:r>
              <a:rPr dirty="0"/>
              <a:t> non </a:t>
            </a:r>
            <a:r>
              <a:rPr dirty="0" err="1"/>
              <a:t>dimostra</a:t>
            </a:r>
            <a:r>
              <a:rPr dirty="0"/>
              <a:t> </a:t>
            </a:r>
            <a:r>
              <a:rPr dirty="0" err="1"/>
              <a:t>però</a:t>
            </a:r>
            <a:r>
              <a:rPr dirty="0"/>
              <a:t> </a:t>
            </a:r>
            <a:r>
              <a:rPr dirty="0" err="1"/>
              <a:t>che</a:t>
            </a:r>
            <a:r>
              <a:rPr dirty="0"/>
              <a:t> </a:t>
            </a:r>
            <a:r>
              <a:rPr dirty="0" err="1"/>
              <a:t>i</a:t>
            </a:r>
            <a:r>
              <a:rPr dirty="0"/>
              <a:t> </a:t>
            </a:r>
            <a:r>
              <a:rPr dirty="0" err="1"/>
              <a:t>coefficienti</a:t>
            </a:r>
            <a:r>
              <a:rPr dirty="0"/>
              <a:t> o </a:t>
            </a:r>
            <a:r>
              <a:rPr dirty="0" err="1"/>
              <a:t>i</a:t>
            </a:r>
            <a:r>
              <a:rPr dirty="0"/>
              <a:t> </a:t>
            </a:r>
            <a:r>
              <a:rPr dirty="0" err="1"/>
              <a:t>meccanismi</a:t>
            </a:r>
            <a:r>
              <a:rPr dirty="0"/>
              <a:t> </a:t>
            </a:r>
            <a:r>
              <a:rPr dirty="0" err="1"/>
              <a:t>siano</a:t>
            </a:r>
            <a:r>
              <a:rPr dirty="0"/>
              <a:t> </a:t>
            </a:r>
            <a:r>
              <a:rPr dirty="0" err="1"/>
              <a:t>diversi</a:t>
            </a:r>
            <a:r>
              <a:rPr dirty="0"/>
              <a:t>.</a:t>
            </a:r>
          </a:p>
          <a:p>
            <a:r>
              <a:rPr dirty="0"/>
              <a:t>Fonte: </a:t>
            </a:r>
            <a:r>
              <a:rPr dirty="0" err="1"/>
              <a:t>empirical_study.qmd</a:t>
            </a:r>
            <a:r>
              <a:rPr dirty="0"/>
              <a:t>, </a:t>
            </a:r>
            <a:r>
              <a:rPr dirty="0" err="1"/>
              <a:t>risultati</a:t>
            </a:r>
            <a:r>
              <a:rPr dirty="0"/>
              <a:t> e </a:t>
            </a:r>
            <a:r>
              <a:rPr dirty="0" err="1"/>
              <a:t>discussione</a:t>
            </a:r>
            <a:r>
              <a:rPr dirty="0"/>
              <a: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92823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55 secondi.</a:t>
            </a:r>
          </a:p>
          <a:p>
            <a:endParaRPr/>
          </a:p>
          <a:p>
            <a:r>
              <a:t>I primi due limiti riguardano direttamente le ipotesi. Per H2, il disagio necessario a prevedere evitamento era un presupposto non misurato. Per H3, ricevere l’esito peggiore coincideva con la possibilità di confronto verso l’alto: non possiamo separare questi fattori. Inoltre, registriamo la richiesta di esiti, ma non se la comparazione sia poi avvenuta. Il disegno limita la scelta alla roulette corrente e allo stesso dominio. Gli standard erano sconosciuti, identificati da un nome e da un esito casuale, e la loro rilevanza personale potrebbe essere ridotta. Infine manca una condizione con informazioni equivalenti attribuite a una fonte non sociale.</a:t>
            </a:r>
          </a:p>
          <a:p>
            <a:r>
              <a:t>Fonti: empirical_study.qmd:451–463 e scelte redazionali nel piano esecutivo.</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751685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Tempo guida: 45 secondi.</a:t>
            </a:r>
          </a:p>
          <a:p>
            <a:endParaRPr/>
          </a:p>
          <a:p>
            <a:r>
              <a:t>Nelle condizioni studiate non è stata supportata la differenza prevista nella ricerca tra guadagno e perdita, benché la felicità differisse. Per proseguire la stessa domanda si potrebbero utilizzare standard più personalizzati e rilevanti per il sé, e lasciare una maggiore libertà di scelta tra roulette e domini. Un’altra strada è chiedersi se il dominio riguardi altre componenti del confronto sociale, oltre alla ricerca attiva qui esaminata. Sono proposte per studi futuri, non risultati già dimostrati.</a:t>
            </a:r>
          </a:p>
          <a:p>
            <a:r>
              <a:t>Fonte: slide 27 originale e empirical_study.qmd, Limitations and Future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Gerber, J. P., Wheeler, L., &amp; Suls, J. (2018). A social comparison theory meta-analysis 60+ years on. Psychological Bulletin, 144(2), 177–197.</a:t>
            </a:r>
          </a:p>
          <a:p>
            <a:r>
              <a:t>https://doi.org/10.1037/bul0000127</a:t>
            </a:r>
          </a:p>
          <a:p>
            <a:r>
              <a:t>Hein, G., Silani, G., Preuschoff, K., Batson, C. D., &amp; Singer, T. (2010). Neural responses to ingroup and outgroup members’ suffering predict individual differences in costly helping. Neuron, 68(1), 149–160.</a:t>
            </a:r>
          </a:p>
          <a:p>
            <a:r>
              <a:t>https://doi.org/10.1016/j.neuron.2010.09.003</a:t>
            </a:r>
          </a:p>
          <a:p>
            <a:r>
              <a:t>Kahneman, D., &amp; Tversky, A. (1979). Prospect theory: An analysis of decision under risk. Econometrica, 47(2), 263–291.</a:t>
            </a:r>
          </a:p>
          <a:p>
            <a:r>
              <a:t>https://doi.org/10.2307/1914185</a:t>
            </a:r>
          </a:p>
          <a:p>
            <a:r>
              <a:t>Möller, J. (2016). The generalized internal/external frame of reference model: An extension to dimensional comparison theory. Frontline Learning Research, 4, 1–11.</a:t>
            </a:r>
          </a:p>
          <a:p>
            <a:r>
              <a:t>https://doi.org/10.14786/flr.v4i2.169</a:t>
            </a:r>
          </a:p>
          <a:p>
            <a:r>
              <a:t>Mussweiler, T. (2003). Comparison processes in social judgment: Mechanisms and consequences. Psychological Review, 110(3), 472–489.</a:t>
            </a:r>
          </a:p>
          <a:p>
            <a:r>
              <a:t>https://doi.org/10.1037/0033-295X.110.3.472</a:t>
            </a:r>
          </a:p>
          <a:p>
            <a:r>
              <a:t>Nabi, R. L., Walter, N., Oshidary, N., Endacott, C. G., Love-Nichols, J., Lew, Z. J., &amp; Aune, A. (2020). Can emotions capture the elusive gain-loss framing effect? A meta-analysis. Communication Research, 47(8), 1107–1130.</a:t>
            </a:r>
          </a:p>
          <a:p>
            <a:r>
              <a:t>https://doi.org/10.1177/0093650219861256</a:t>
            </a:r>
          </a:p>
          <a:p>
            <a:r>
              <a:t>Postmes, T., Haslam, S. A., &amp; Jans, L. (2013). A single-item measure of social identification: Reliability, validity, and utility. British Journal of Social Psychology, 52(4), 597–617.</a:t>
            </a:r>
          </a:p>
          <a:p>
            <a:r>
              <a:t>https://doi.org/10.1111/bjso.12006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Pyszczynski, T., Greenberg, J., &amp; LaPrelle, J. (1985). Social comparison after success and failure: Biased search for information consistent with a self-serving conclusion. Journal of Experimental Social Psychology, 21(2), 195–211.</a:t>
            </a:r>
          </a:p>
          <a:p>
            <a:r>
              <a:t>https://doi.org/10.1016/0022-1031(85)90015-0</a:t>
            </a:r>
          </a:p>
          <a:p>
            <a:r>
              <a:t>Rutledge, R. B., de Berker, A. O., Espenhahn, S., Dayan, P., &amp; Dolan, R. J. (2016). The social contingency of momentary subjective well-being. Nature Communications, 7(1), 11825.</a:t>
            </a:r>
          </a:p>
          <a:p>
            <a:r>
              <a:t>https://doi.org/10.1038/ncomms11825</a:t>
            </a:r>
          </a:p>
          <a:p>
            <a:r>
              <a:t>Singer, T., &amp; Klimecki, O. M. (2014). Empathy and compassion. Current Biology, 24(18), R875–R878.</a:t>
            </a:r>
          </a:p>
          <a:p>
            <a:r>
              <a:t>https://doi.org/10.1016/j.cub.2014.06.054</a:t>
            </a:r>
          </a:p>
          <a:p>
            <a:r>
              <a:t>van Lieshout, L. L. F., de Lange, F. P., &amp; Cools, R. (2021). Uncertainty increases curiosity, but decreases happiness. Scientific Reports, 11, 14014.</a:t>
            </a:r>
          </a:p>
          <a:p>
            <a:r>
              <a:t>https://doi.org/10.1038/s41598-021-93464-6</a:t>
            </a:r>
          </a:p>
          <a:p>
            <a:r>
              <a:t>White, K., &amp; Lehman, D. R. (2005). Culture and social comparison seeking: The role of self-motives. Personality and Social Psychology Bulletin, 31(2), 232–242.</a:t>
            </a:r>
          </a:p>
          <a:p>
            <a:r>
              <a:t>https://doi.org/10.1177/0146167204271326</a:t>
            </a:r>
          </a:p>
          <a:p>
            <a:r>
              <a:t>Young, N. A., Shuster, M. M., &amp; Mikels, J. A. (2019). The sure thing: The role of integral affect in risky choice framing. Emotion, 19(6), 1035–1043.</a:t>
            </a:r>
          </a:p>
          <a:p>
            <a:r>
              <a:t>https://doi.org/10.1037/emo0000505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Chiusura istituzionale. Le due slide successive sono supplementari e fuori dal percorso di 12 minuti.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Effetto d’ordine: analisi preliminare, 840 trial da 140 partecipanti.</a:t>
            </a:r>
          </a:p>
          <a:p>
            <a:r>
              <a:t>Grafici descrittivi: medie per partecipante nelle celle dominio per posizione e IC 95%; estensione limitata ai trial con richieste. I grafici non rappresentano predizioni del modello. Grafici rigenerati dalla funzione plot_preliminary_carryover del sorgente della tesi; cambiate soltanto le etichette, omesso il titolo interno ripetuto nelle intestazioni della slide e adattate le dimensioni alla slide. Stesse scale, colori, punti circolari, separazione orizzontale dei domini e IC della tesi. Immagini statiche ad alta risoluzione richieste per fedeltà alle figure originali.</a:t>
            </a:r>
          </a:p>
          <a:p>
            <a:r>
              <a:t>Risultati: modello misto hurdle-Poisson; secondo rispetto al primo blocco. Coefficiente zero invertito per descrivere le odds di almeno una richiesta.</a:t>
            </a:r>
          </a:p>
          <a:p>
            <a:r>
              <a:t>L’interazione non significativa non dimostra equivalenza tra domini o assenza di carryover; IC dell’interazione ampio. Sequenze: 73 guadagno-perdita, 67 perdita-guadagno.</a:t>
            </a:r>
          </a:p>
          <a:p>
            <a:r>
              <a:t>Fonti tesi: MasterThesis/empirical_study.qmd, Preliminary analysis; MasterThesis/appendix_preliminary_analyses.qmd.</a:t>
            </a:r>
          </a:p>
          <a:p>
            <a:r>
              <a:t>Output: C:/Users/LG/Documents/SC_Project/SocialComparison_Analysis/outputs/glmm_analysis/carryover_check/any_sampling_by_block_position_and_domain_summary.csv; sampling_amount_by_block_position_and_domain_summary.csv; domain_block_order_model_fixed_effects.csv.</a:t>
            </a:r>
          </a:p>
          <a:p>
            <a:r>
              <a:t>Valori verificati sugli output salvati, senza rifit.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67053C3-7BA9-418F-811B-B0B268EB00C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2BCB7A01-8CC4-4FEE-AD3D-43FBB6FECAF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456497C-E6C2-4014-95BD-C0229C3440F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17AA587-EC22-4715-AA08-68BB15A76A2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D82E8C5F-F97B-44E5-85DD-6A35FF44156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72688BF-F481-4625-A000-B59BD15BD25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C5430F4-463E-45EE-9EE0-7FE6424F5A4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83B432EE-297B-480B-BA41-EFA8400568B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00B582B-CB16-43C9-AA8A-1A11B090F8C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EAAAF1F3-C444-4158-A80E-B4C46B85D56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hyperlink" Target="https://michelegarbelotto.github.io/CV/Experiment.html?cv_section=task"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A0004"/>
        </a:solidFill>
        <a:effectLst/>
      </p:bgPr>
    </p:bg>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A791A541-90FC-44A0-A3BA-56097F4DFF97}"/>
              </a:ext>
            </a:extLst>
          </p:cNvPr>
          <p:cNvPicPr>
            <a:picLocks noChangeAspect="1"/>
          </p:cNvPicPr>
          <p:nvPr/>
        </p:nvPicPr>
        <p:blipFill>
          <a:blip r:embed="rId3"/>
          <a:stretch/>
        </p:blipFill>
        <p:spPr>
          <a:xfrm>
            <a:off x="3600450" y="439177"/>
            <a:ext cx="4991100" cy="1617196"/>
          </a:xfrm>
          <a:prstGeom prst="rect">
            <a:avLst/>
          </a:prstGeom>
        </p:spPr>
      </p:pic>
      <p:sp>
        <p:nvSpPr>
          <p:cNvPr id="2" name="Ricerca di informazioni per il confronto sociale:&#10;come si di">
            <a:extLst>
              <a:ext uri="{FF2B5EF4-FFF2-40B4-BE49-F238E27FC236}">
                <a16:creationId xmlns:a16="http://schemas.microsoft.com/office/drawing/2014/main" id="{FD4E0491-F1DA-4928-9218-9488BDCFA5D1}"/>
              </a:ext>
            </a:extLst>
          </p:cNvPr>
          <p:cNvSpPr>
            <a:spLocks noGrp="1"/>
          </p:cNvSpPr>
          <p:nvPr/>
        </p:nvSpPr>
        <p:spPr>
          <a:xfrm>
            <a:off x="914400" y="2457450"/>
            <a:ext cx="10363200" cy="1543050"/>
          </a:xfrm>
          <a:prstGeom prst="rect">
            <a:avLst/>
          </a:prstGeom>
          <a:noFill/>
          <a:ln w="0">
            <a:noFill/>
          </a:ln>
        </p:spPr>
        <p:txBody>
          <a:bodyPr wrap="square" lIns="0" tIns="0" rIns="0" bIns="0" anchor="t">
            <a:noAutofit/>
          </a:bodyPr>
          <a:lstStyle>
            <a:defPPr algn="ctr">
              <a:defRPr sz="3000" b="0">
                <a:solidFill>
                  <a:srgbClr val="FFFFFF"/>
                </a:solidFill>
                <a:latin typeface="Arial"/>
                <a:ea typeface="Arial"/>
                <a:cs typeface="Arial"/>
              </a:defRPr>
            </a:defPPr>
          </a:lstStyle>
          <a:p>
            <a:pPr algn="ctr">
              <a:defRPr sz="3000" b="0">
                <a:solidFill>
                  <a:srgbClr val="FFFFFF"/>
                </a:solidFill>
                <a:latin typeface="Arial"/>
                <a:ea typeface="Arial"/>
                <a:cs typeface="Arial"/>
              </a:defRPr>
            </a:pPr>
            <a:r>
              <a:rPr sz="3000" b="0">
                <a:solidFill>
                  <a:srgbClr val="FFFFFF"/>
                </a:solidFill>
                <a:latin typeface="Arial"/>
                <a:ea typeface="Arial"/>
                <a:cs typeface="Arial"/>
              </a:rPr>
              <a:t>Ricerca di informazioni per il confronto sociale:</a:t>
            </a:r>
          </a:p>
          <a:p>
            <a:pPr algn="ctr">
              <a:defRPr sz="3000" b="0">
                <a:solidFill>
                  <a:srgbClr val="FFFFFF"/>
                </a:solidFill>
                <a:latin typeface="Arial"/>
                <a:ea typeface="Arial"/>
                <a:cs typeface="Arial"/>
              </a:defRPr>
            </a:pPr>
            <a:r>
              <a:rPr sz="3000" b="0">
                <a:solidFill>
                  <a:srgbClr val="FFFFFF"/>
                </a:solidFill>
                <a:latin typeface="Arial"/>
                <a:ea typeface="Arial"/>
                <a:cs typeface="Arial"/>
              </a:rPr>
              <a:t>come si distingue il dominio di guadagno</a:t>
            </a:r>
          </a:p>
          <a:p>
            <a:pPr algn="ctr">
              <a:defRPr sz="3000" b="0">
                <a:solidFill>
                  <a:srgbClr val="FFFFFF"/>
                </a:solidFill>
                <a:latin typeface="Arial"/>
                <a:ea typeface="Arial"/>
                <a:cs typeface="Arial"/>
              </a:defRPr>
            </a:pPr>
            <a:r>
              <a:rPr sz="3000" b="0">
                <a:solidFill>
                  <a:srgbClr val="FFFFFF"/>
                </a:solidFill>
                <a:latin typeface="Arial"/>
                <a:ea typeface="Arial"/>
                <a:cs typeface="Arial"/>
              </a:rPr>
              <a:t>da quello di perdita?</a:t>
            </a:r>
          </a:p>
        </p:txBody>
      </p:sp>
      <p:sp>
        <p:nvSpPr>
          <p:cNvPr id="3" name="Michele Garbelotto">
            <a:extLst>
              <a:ext uri="{FF2B5EF4-FFF2-40B4-BE49-F238E27FC236}">
                <a16:creationId xmlns:a16="http://schemas.microsoft.com/office/drawing/2014/main" id="{5C4B22D0-9F77-4469-8720-411BDD8F7B17}"/>
              </a:ext>
            </a:extLst>
          </p:cNvPr>
          <p:cNvSpPr>
            <a:spLocks noGrp="1"/>
          </p:cNvSpPr>
          <p:nvPr/>
        </p:nvSpPr>
        <p:spPr>
          <a:xfrm>
            <a:off x="914400" y="4333875"/>
            <a:ext cx="10363200" cy="438150"/>
          </a:xfrm>
          <a:prstGeom prst="rect">
            <a:avLst/>
          </a:prstGeom>
          <a:noFill/>
          <a:ln w="0">
            <a:noFill/>
          </a:ln>
        </p:spPr>
        <p:txBody>
          <a:bodyPr wrap="square" lIns="0" tIns="0" rIns="0" bIns="0" anchor="t">
            <a:noAutofit/>
          </a:bodyPr>
          <a:lstStyle>
            <a:defPPr algn="ctr">
              <a:defRPr sz="2250" b="1">
                <a:solidFill>
                  <a:srgbClr val="FFFFFF"/>
                </a:solidFill>
                <a:latin typeface="Arial"/>
                <a:ea typeface="Arial"/>
                <a:cs typeface="Arial"/>
              </a:defRPr>
            </a:defPPr>
          </a:lstStyle>
          <a:p>
            <a:pPr algn="ctr">
              <a:defRPr sz="2250" b="1">
                <a:solidFill>
                  <a:srgbClr val="FFFFFF"/>
                </a:solidFill>
                <a:latin typeface="Arial"/>
                <a:ea typeface="Arial"/>
                <a:cs typeface="Arial"/>
              </a:defRPr>
            </a:pPr>
            <a:r>
              <a:rPr sz="2250" b="1">
                <a:solidFill>
                  <a:srgbClr val="FFFFFF"/>
                </a:solidFill>
                <a:latin typeface="Arial"/>
                <a:ea typeface="Arial"/>
                <a:cs typeface="Arial"/>
              </a:rPr>
              <a:t>Michele Garbelotto</a:t>
            </a:r>
          </a:p>
        </p:txBody>
      </p:sp>
      <p:sp>
        <p:nvSpPr>
          <p:cNvPr id="4" name="Relatore: Prof. Andrea Bobbio&#10;Correlatore: Prof. Marc-Lluís ">
            <a:extLst>
              <a:ext uri="{FF2B5EF4-FFF2-40B4-BE49-F238E27FC236}">
                <a16:creationId xmlns:a16="http://schemas.microsoft.com/office/drawing/2014/main" id="{2FD1F4A7-DA60-4C77-927F-9DEFE68E132A}"/>
              </a:ext>
            </a:extLst>
          </p:cNvPr>
          <p:cNvSpPr>
            <a:spLocks noGrp="1"/>
          </p:cNvSpPr>
          <p:nvPr/>
        </p:nvSpPr>
        <p:spPr>
          <a:xfrm>
            <a:off x="914400" y="4933950"/>
            <a:ext cx="10363200" cy="657225"/>
          </a:xfrm>
          <a:prstGeom prst="rect">
            <a:avLst/>
          </a:prstGeom>
          <a:noFill/>
          <a:ln w="0">
            <a:noFill/>
          </a:ln>
        </p:spPr>
        <p:txBody>
          <a:bodyPr wrap="square" lIns="0" tIns="0" rIns="0" bIns="0" anchor="t">
            <a:noAutofit/>
          </a:bodyPr>
          <a:lstStyle>
            <a:defPPr algn="ctr">
              <a:defRPr sz="1800" b="0">
                <a:solidFill>
                  <a:srgbClr val="FFFFFF"/>
                </a:solidFill>
                <a:latin typeface="Arial"/>
                <a:ea typeface="Arial"/>
                <a:cs typeface="Arial"/>
              </a:defRPr>
            </a:defPPr>
          </a:lstStyle>
          <a:p>
            <a:pPr algn="ctr">
              <a:defRPr sz="1800" b="0">
                <a:solidFill>
                  <a:srgbClr val="FFFFFF"/>
                </a:solidFill>
                <a:latin typeface="Arial"/>
                <a:ea typeface="Arial"/>
                <a:cs typeface="Arial"/>
              </a:defRPr>
            </a:pPr>
            <a:r>
              <a:rPr sz="1800" b="0">
                <a:solidFill>
                  <a:srgbClr val="FFFFFF"/>
                </a:solidFill>
                <a:latin typeface="Arial"/>
                <a:ea typeface="Arial"/>
                <a:cs typeface="Arial"/>
              </a:rPr>
              <a:t>Relatore: Prof. Andrea Bobbio</a:t>
            </a:r>
          </a:p>
          <a:p>
            <a:pPr algn="ctr">
              <a:defRPr sz="1800" b="0">
                <a:solidFill>
                  <a:srgbClr val="FFFFFF"/>
                </a:solidFill>
                <a:latin typeface="Arial"/>
                <a:ea typeface="Arial"/>
                <a:cs typeface="Arial"/>
              </a:defRPr>
            </a:pPr>
            <a:r>
              <a:rPr sz="1800" b="0">
                <a:solidFill>
                  <a:srgbClr val="FFFFFF"/>
                </a:solidFill>
                <a:latin typeface="Arial"/>
                <a:ea typeface="Arial"/>
                <a:cs typeface="Arial"/>
              </a:rPr>
              <a:t>Correlatore: Prof. Marc-Lluís Vives Moya</a:t>
            </a:r>
          </a:p>
        </p:txBody>
      </p:sp>
      <p:sp>
        <p:nvSpPr>
          <p:cNvPr id="5" name="Laurea magistrale in Psicologia sociale, del lavoro e della ">
            <a:extLst>
              <a:ext uri="{FF2B5EF4-FFF2-40B4-BE49-F238E27FC236}">
                <a16:creationId xmlns:a16="http://schemas.microsoft.com/office/drawing/2014/main" id="{E31578F7-41BF-4084-8F7E-22030AC65329}"/>
              </a:ext>
            </a:extLst>
          </p:cNvPr>
          <p:cNvSpPr>
            <a:spLocks noGrp="1"/>
          </p:cNvSpPr>
          <p:nvPr/>
        </p:nvSpPr>
        <p:spPr>
          <a:xfrm>
            <a:off x="914400" y="5905500"/>
            <a:ext cx="10363200" cy="571500"/>
          </a:xfrm>
          <a:prstGeom prst="rect">
            <a:avLst/>
          </a:prstGeom>
          <a:noFill/>
          <a:ln w="0">
            <a:noFill/>
          </a:ln>
        </p:spPr>
        <p:txBody>
          <a:bodyPr wrap="square" lIns="0" tIns="0" rIns="0" bIns="0" anchor="t">
            <a:noAutofit/>
          </a:bodyPr>
          <a:lstStyle>
            <a:defPPr algn="ctr">
              <a:defRPr sz="1575" b="0">
                <a:solidFill>
                  <a:srgbClr val="FFFFFF"/>
                </a:solidFill>
                <a:latin typeface="Arial"/>
                <a:ea typeface="Arial"/>
                <a:cs typeface="Arial"/>
              </a:defRPr>
            </a:defPPr>
          </a:lstStyle>
          <a:p>
            <a:pPr algn="ctr">
              <a:defRPr sz="1575" b="0">
                <a:solidFill>
                  <a:srgbClr val="FFFFFF"/>
                </a:solidFill>
                <a:latin typeface="Arial"/>
                <a:ea typeface="Arial"/>
                <a:cs typeface="Arial"/>
              </a:defRPr>
            </a:pPr>
            <a:r>
              <a:rPr sz="1575" b="0">
                <a:solidFill>
                  <a:srgbClr val="FFFFFF"/>
                </a:solidFill>
                <a:latin typeface="Arial"/>
                <a:ea typeface="Arial"/>
                <a:cs typeface="Arial"/>
              </a:rPr>
              <a:t>Laurea magistrale in Psicologia sociale, del lavoro e della comunicazione</a:t>
            </a:r>
          </a:p>
          <a:p>
            <a:pPr algn="ctr">
              <a:defRPr sz="1575" b="0">
                <a:solidFill>
                  <a:srgbClr val="FFFFFF"/>
                </a:solidFill>
                <a:latin typeface="Arial"/>
                <a:ea typeface="Arial"/>
                <a:cs typeface="Arial"/>
              </a:defRPr>
            </a:pPr>
            <a:r>
              <a:rPr sz="1575" b="0">
                <a:solidFill>
                  <a:srgbClr val="FFFFFF"/>
                </a:solidFill>
                <a:latin typeface="Arial"/>
                <a:ea typeface="Arial"/>
                <a:cs typeface="Arial"/>
              </a:rPr>
              <a:t>Scuola di Psicologia · Dipartimento FISPPA · A.A. 2025/2026</a:t>
            </a:r>
          </a:p>
        </p:txBody>
      </p:sp>
    </p:spTree>
    <p:extLst>
      <p:ext uri="{BB962C8B-B14F-4D97-AF65-F5344CB8AC3E}">
        <p14:creationId xmlns:p14="http://schemas.microsoft.com/office/powerpoint/2010/main" val="401282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 name="Sezione">
            <a:extLst>
              <a:ext uri="{FF2B5EF4-FFF2-40B4-BE49-F238E27FC236}">
                <a16:creationId xmlns:a16="http://schemas.microsoft.com/office/drawing/2014/main" id="{E45B6F72-1A04-4C28-8327-23D1BBF1032F}"/>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Premesse dello studio</a:t>
            </a:r>
          </a:p>
        </p:txBody>
      </p:sp>
      <p:sp>
        <p:nvSpPr>
          <p:cNvPr id="2" name="Titolo">
            <a:extLst>
              <a:ext uri="{FF2B5EF4-FFF2-40B4-BE49-F238E27FC236}">
                <a16:creationId xmlns:a16="http://schemas.microsoft.com/office/drawing/2014/main" id="{4DC868AE-7C9B-45AB-8287-86059A26982D}"/>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dirty="0" err="1">
                <a:solidFill>
                  <a:srgbClr val="AA0004"/>
                </a:solidFill>
                <a:latin typeface="Arial"/>
                <a:ea typeface="Arial"/>
                <a:cs typeface="Arial"/>
              </a:rPr>
              <a:t>Domanda</a:t>
            </a:r>
            <a:r>
              <a:rPr sz="2550" b="1" dirty="0">
                <a:solidFill>
                  <a:srgbClr val="AA0004"/>
                </a:solidFill>
                <a:latin typeface="Arial"/>
                <a:ea typeface="Arial"/>
                <a:cs typeface="Arial"/>
              </a:rPr>
              <a:t> di </a:t>
            </a:r>
            <a:r>
              <a:rPr sz="2550" b="1" dirty="0" err="1">
                <a:solidFill>
                  <a:srgbClr val="AA0004"/>
                </a:solidFill>
                <a:latin typeface="Arial"/>
                <a:ea typeface="Arial"/>
                <a:cs typeface="Arial"/>
              </a:rPr>
              <a:t>ricerca</a:t>
            </a:r>
            <a:endParaRPr sz="2550" b="1" dirty="0">
              <a:solidFill>
                <a:srgbClr val="AA0004"/>
              </a:solidFill>
              <a:latin typeface="Arial"/>
              <a:ea typeface="Arial"/>
              <a:cs typeface="Arial"/>
            </a:endParaRPr>
          </a:p>
        </p:txBody>
      </p:sp>
      <p:sp>
        <p:nvSpPr>
          <p:cNvPr id="4" name="02">
            <a:extLst>
              <a:ext uri="{FF2B5EF4-FFF2-40B4-BE49-F238E27FC236}">
                <a16:creationId xmlns:a16="http://schemas.microsoft.com/office/drawing/2014/main" id="{63E33A62-A2B4-4C4C-A480-0498A6A475DA}"/>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02</a:t>
            </a:r>
            <a:endParaRPr sz="1425" b="0">
              <a:solidFill>
                <a:srgbClr val="707070"/>
              </a:solidFill>
              <a:latin typeface="Arial"/>
              <a:ea typeface="Arial"/>
              <a:cs typeface="Arial"/>
            </a:endParaRPr>
          </a:p>
        </p:txBody>
      </p:sp>
      <p:sp>
        <p:nvSpPr>
          <p:cNvPr id="5" name="I domini di guadagno e di perdita influenzano&#10;la ricerca di ">
            <a:extLst>
              <a:ext uri="{FF2B5EF4-FFF2-40B4-BE49-F238E27FC236}">
                <a16:creationId xmlns:a16="http://schemas.microsoft.com/office/drawing/2014/main" id="{907F5A41-7CEA-40BD-AFD8-A4CD050FDDA9}"/>
              </a:ext>
            </a:extLst>
          </p:cNvPr>
          <p:cNvSpPr>
            <a:spLocks noGrp="1"/>
          </p:cNvSpPr>
          <p:nvPr/>
        </p:nvSpPr>
        <p:spPr>
          <a:xfrm>
            <a:off x="742950" y="2344382"/>
            <a:ext cx="10629900" cy="1028700"/>
          </a:xfrm>
          <a:prstGeom prst="rect">
            <a:avLst/>
          </a:prstGeom>
          <a:noFill/>
          <a:ln w="0">
            <a:noFill/>
          </a:ln>
        </p:spPr>
        <p:txBody>
          <a:bodyPr wrap="square" lIns="0" tIns="0" rIns="0" bIns="0" anchor="t">
            <a:noAutofit/>
          </a:bodyPr>
          <a:lstStyle>
            <a:defPPr algn="l">
              <a:defRPr sz="3000" b="1">
                <a:solidFill>
                  <a:srgbClr val="414141"/>
                </a:solidFill>
                <a:latin typeface="Arial"/>
                <a:ea typeface="Arial"/>
                <a:cs typeface="Arial"/>
              </a:defRPr>
            </a:defPPr>
          </a:lstStyle>
          <a:p>
            <a:pPr algn="l">
              <a:defRPr sz="3000" b="1">
                <a:solidFill>
                  <a:srgbClr val="414141"/>
                </a:solidFill>
                <a:latin typeface="Arial"/>
                <a:ea typeface="Arial"/>
                <a:cs typeface="Arial"/>
              </a:defRPr>
            </a:pPr>
            <a:r>
              <a:rPr sz="3000" b="1" dirty="0">
                <a:solidFill>
                  <a:srgbClr val="414141"/>
                </a:solidFill>
                <a:latin typeface="Arial"/>
                <a:ea typeface="Arial"/>
                <a:cs typeface="Arial"/>
              </a:rPr>
              <a:t>I </a:t>
            </a:r>
            <a:r>
              <a:rPr sz="3000" b="1" dirty="0">
                <a:latin typeface="Arial"/>
                <a:ea typeface="Arial"/>
                <a:cs typeface="Arial"/>
              </a:rPr>
              <a:t>domini</a:t>
            </a:r>
            <a:r>
              <a:rPr sz="3000" b="1" dirty="0">
                <a:solidFill>
                  <a:srgbClr val="414141"/>
                </a:solidFill>
                <a:latin typeface="Arial"/>
                <a:ea typeface="Arial"/>
                <a:cs typeface="Arial"/>
              </a:rPr>
              <a:t> di </a:t>
            </a:r>
            <a:r>
              <a:rPr sz="3000" b="1" dirty="0" err="1">
                <a:solidFill>
                  <a:srgbClr val="414141"/>
                </a:solidFill>
                <a:latin typeface="Arial"/>
                <a:ea typeface="Arial"/>
                <a:cs typeface="Arial"/>
              </a:rPr>
              <a:t>guadagno</a:t>
            </a:r>
            <a:r>
              <a:rPr sz="3000" b="1" dirty="0">
                <a:solidFill>
                  <a:srgbClr val="414141"/>
                </a:solidFill>
                <a:latin typeface="Arial"/>
                <a:ea typeface="Arial"/>
                <a:cs typeface="Arial"/>
              </a:rPr>
              <a:t> e di </a:t>
            </a:r>
            <a:r>
              <a:rPr sz="3000" b="1" dirty="0" err="1">
                <a:solidFill>
                  <a:srgbClr val="414141"/>
                </a:solidFill>
                <a:latin typeface="Arial"/>
                <a:ea typeface="Arial"/>
                <a:cs typeface="Arial"/>
              </a:rPr>
              <a:t>perdita</a:t>
            </a:r>
            <a:r>
              <a:rPr sz="3000" b="1" dirty="0">
                <a:solidFill>
                  <a:srgbClr val="414141"/>
                </a:solidFill>
                <a:latin typeface="Arial"/>
                <a:ea typeface="Arial"/>
                <a:cs typeface="Arial"/>
              </a:rPr>
              <a:t> </a:t>
            </a:r>
            <a:r>
              <a:rPr sz="3000" b="1" dirty="0" err="1">
                <a:solidFill>
                  <a:srgbClr val="414141"/>
                </a:solidFill>
                <a:latin typeface="Arial"/>
                <a:ea typeface="Arial"/>
                <a:cs typeface="Arial"/>
              </a:rPr>
              <a:t>influenzano</a:t>
            </a:r>
            <a:endParaRPr sz="3000" b="1" dirty="0">
              <a:solidFill>
                <a:srgbClr val="414141"/>
              </a:solidFill>
              <a:latin typeface="Arial"/>
              <a:ea typeface="Arial"/>
              <a:cs typeface="Arial"/>
            </a:endParaRPr>
          </a:p>
          <a:p>
            <a:pPr algn="l">
              <a:defRPr sz="3000" b="1">
                <a:solidFill>
                  <a:srgbClr val="414141"/>
                </a:solidFill>
                <a:latin typeface="Arial"/>
                <a:ea typeface="Arial"/>
                <a:cs typeface="Arial"/>
              </a:defRPr>
            </a:pPr>
            <a:r>
              <a:rPr sz="3000" b="1" dirty="0">
                <a:solidFill>
                  <a:srgbClr val="414141"/>
                </a:solidFill>
                <a:latin typeface="Arial"/>
                <a:ea typeface="Arial"/>
                <a:cs typeface="Arial"/>
              </a:rPr>
              <a:t>la </a:t>
            </a:r>
            <a:r>
              <a:rPr sz="3000" b="1" dirty="0" err="1">
                <a:solidFill>
                  <a:srgbClr val="414141"/>
                </a:solidFill>
                <a:latin typeface="Arial"/>
                <a:ea typeface="Arial"/>
                <a:cs typeface="Arial"/>
              </a:rPr>
              <a:t>ricerca</a:t>
            </a:r>
            <a:r>
              <a:rPr sz="3000" b="1" dirty="0">
                <a:solidFill>
                  <a:srgbClr val="414141"/>
                </a:solidFill>
                <a:latin typeface="Arial"/>
                <a:ea typeface="Arial"/>
                <a:cs typeface="Arial"/>
              </a:rPr>
              <a:t> di </a:t>
            </a:r>
            <a:r>
              <a:rPr sz="3000" b="1" dirty="0" err="1">
                <a:solidFill>
                  <a:srgbClr val="414141"/>
                </a:solidFill>
                <a:latin typeface="Arial"/>
                <a:ea typeface="Arial"/>
                <a:cs typeface="Arial"/>
              </a:rPr>
              <a:t>confronto</a:t>
            </a:r>
            <a:r>
              <a:rPr sz="3000" b="1" dirty="0">
                <a:solidFill>
                  <a:srgbClr val="414141"/>
                </a:solidFill>
                <a:latin typeface="Arial"/>
                <a:ea typeface="Arial"/>
                <a:cs typeface="Arial"/>
              </a:rPr>
              <a:t> </a:t>
            </a:r>
            <a:r>
              <a:rPr sz="3000" b="1" dirty="0" err="1">
                <a:solidFill>
                  <a:srgbClr val="414141"/>
                </a:solidFill>
                <a:latin typeface="Arial"/>
                <a:ea typeface="Arial"/>
                <a:cs typeface="Arial"/>
              </a:rPr>
              <a:t>sociale</a:t>
            </a:r>
            <a:r>
              <a:rPr sz="3000" b="1" dirty="0">
                <a:solidFill>
                  <a:srgbClr val="414141"/>
                </a:solidFill>
                <a:latin typeface="Arial"/>
                <a:ea typeface="Arial"/>
                <a:cs typeface="Arial"/>
              </a:rPr>
              <a:t>?</a:t>
            </a:r>
          </a:p>
        </p:txBody>
      </p:sp>
      <p:sp>
        <p:nvSpPr>
          <p:cNvPr id="6" name="Connettore diritto 5">
            <a:extLst>
              <a:ext uri="{FF2B5EF4-FFF2-40B4-BE49-F238E27FC236}">
                <a16:creationId xmlns:a16="http://schemas.microsoft.com/office/drawing/2014/main" id="{929E0B0A-C13F-4218-82DB-B041687C60A4}"/>
              </a:ext>
            </a:extLst>
          </p:cNvPr>
          <p:cNvSpPr>
            <a:spLocks noGrp="1"/>
          </p:cNvSpPr>
          <p:nvPr/>
        </p:nvSpPr>
        <p:spPr>
          <a:xfrm>
            <a:off x="742950" y="3630257"/>
            <a:ext cx="10648950" cy="0"/>
          </a:xfrm>
          <a:prstGeom prst="line">
            <a:avLst/>
          </a:prstGeom>
          <a:noFill/>
          <a:ln w="19050">
            <a:solidFill>
              <a:srgbClr val="AA0004"/>
            </a:solidFill>
            <a:prstDash val="solid"/>
          </a:ln>
        </p:spPr>
        <p:txBody>
          <a:bodyPr/>
          <a:lstStyle/>
          <a:p>
            <a:endParaRPr lang="it-IT"/>
          </a:p>
        </p:txBody>
      </p:sp>
    </p:spTree>
    <p:extLst>
      <p:ext uri="{BB962C8B-B14F-4D97-AF65-F5344CB8AC3E}">
        <p14:creationId xmlns:p14="http://schemas.microsoft.com/office/powerpoint/2010/main" val="1155054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0" name="Sezione">
            <a:extLst>
              <a:ext uri="{FF2B5EF4-FFF2-40B4-BE49-F238E27FC236}">
                <a16:creationId xmlns:a16="http://schemas.microsoft.com/office/drawing/2014/main" id="{3FE20C9E-24DD-4874-ACAC-D8F4DA12353F}"/>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Premesse dello studio</a:t>
            </a:r>
          </a:p>
        </p:txBody>
      </p:sp>
      <p:sp>
        <p:nvSpPr>
          <p:cNvPr id="2" name="Titolo">
            <a:extLst>
              <a:ext uri="{FF2B5EF4-FFF2-40B4-BE49-F238E27FC236}">
                <a16:creationId xmlns:a16="http://schemas.microsoft.com/office/drawing/2014/main" id="{59103A3D-A285-4A77-9F5B-70591ED09CDB}"/>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dirty="0" err="1">
                <a:solidFill>
                  <a:srgbClr val="AA0004"/>
                </a:solidFill>
                <a:latin typeface="Arial"/>
                <a:ea typeface="Arial"/>
                <a:cs typeface="Arial"/>
              </a:rPr>
              <a:t>Confronto</a:t>
            </a:r>
            <a:r>
              <a:rPr sz="2550" b="1" dirty="0">
                <a:solidFill>
                  <a:srgbClr val="AA0004"/>
                </a:solidFill>
                <a:latin typeface="Arial"/>
                <a:ea typeface="Arial"/>
                <a:cs typeface="Arial"/>
              </a:rPr>
              <a:t> </a:t>
            </a:r>
            <a:r>
              <a:rPr sz="2550" b="1" dirty="0" err="1">
                <a:solidFill>
                  <a:srgbClr val="AA0004"/>
                </a:solidFill>
                <a:latin typeface="Arial"/>
                <a:ea typeface="Arial"/>
                <a:cs typeface="Arial"/>
              </a:rPr>
              <a:t>sociale</a:t>
            </a:r>
            <a:r>
              <a:rPr sz="2550" b="1" dirty="0">
                <a:solidFill>
                  <a:srgbClr val="AA0004"/>
                </a:solidFill>
                <a:latin typeface="Arial"/>
                <a:ea typeface="Arial"/>
                <a:cs typeface="Arial"/>
              </a:rPr>
              <a:t> e domini</a:t>
            </a:r>
            <a:r>
              <a:rPr lang="it-IT" sz="2550" b="1" dirty="0">
                <a:solidFill>
                  <a:srgbClr val="AA0004"/>
                </a:solidFill>
                <a:latin typeface="Arial"/>
                <a:ea typeface="Arial"/>
                <a:cs typeface="Arial"/>
              </a:rPr>
              <a:t> (guadagno/perdita)</a:t>
            </a:r>
            <a:endParaRPr sz="2550" b="1" dirty="0">
              <a:solidFill>
                <a:srgbClr val="AA0004"/>
              </a:solidFill>
              <a:latin typeface="Arial"/>
              <a:ea typeface="Arial"/>
              <a:cs typeface="Arial"/>
            </a:endParaRPr>
          </a:p>
        </p:txBody>
      </p:sp>
      <p:sp>
        <p:nvSpPr>
          <p:cNvPr id="3" name="Möller (2016); Mussweiler (2003); Kahneman &amp; Tversky (1979)">
            <a:extLst>
              <a:ext uri="{FF2B5EF4-FFF2-40B4-BE49-F238E27FC236}">
                <a16:creationId xmlns:a16="http://schemas.microsoft.com/office/drawing/2014/main" id="{2E6807B4-9299-4561-A270-B277C80E22CA}"/>
              </a:ext>
            </a:extLst>
          </p:cNvPr>
          <p:cNvSpPr>
            <a:spLocks noGrp="1"/>
          </p:cNvSpPr>
          <p:nvPr/>
        </p:nvSpPr>
        <p:spPr>
          <a:xfrm>
            <a:off x="742950" y="6124575"/>
            <a:ext cx="10572750" cy="238125"/>
          </a:xfrm>
          <a:prstGeom prst="rect">
            <a:avLst/>
          </a:prstGeom>
          <a:noFill/>
          <a:ln w="0">
            <a:noFill/>
          </a:ln>
        </p:spPr>
        <p:txBody>
          <a:bodyPr wrap="square" lIns="0" tIns="0" rIns="0" bIns="0" anchor="t">
            <a:noAutofit/>
          </a:bodyPr>
          <a:lstStyle>
            <a:defPPr algn="l">
              <a:defRPr sz="1275" b="0">
                <a:solidFill>
                  <a:srgbClr val="707070"/>
                </a:solidFill>
                <a:latin typeface="Arial"/>
                <a:ea typeface="Arial"/>
                <a:cs typeface="Arial"/>
              </a:defRPr>
            </a:defPPr>
          </a:lstStyle>
          <a:p>
            <a:pPr algn="l">
              <a:defRPr sz="1275" b="0">
                <a:solidFill>
                  <a:srgbClr val="707070"/>
                </a:solidFill>
                <a:latin typeface="Arial"/>
                <a:ea typeface="Arial"/>
                <a:cs typeface="Arial"/>
              </a:defRPr>
            </a:pPr>
            <a:r>
              <a:rPr sz="1275" b="0" dirty="0">
                <a:solidFill>
                  <a:srgbClr val="707070"/>
                </a:solidFill>
                <a:latin typeface="Arial"/>
                <a:ea typeface="Arial"/>
                <a:cs typeface="Arial"/>
              </a:rPr>
              <a:t>Möller (2016); </a:t>
            </a:r>
            <a:r>
              <a:rPr sz="1275" b="0" dirty="0" err="1">
                <a:solidFill>
                  <a:srgbClr val="707070"/>
                </a:solidFill>
                <a:latin typeface="Arial"/>
                <a:ea typeface="Arial"/>
                <a:cs typeface="Arial"/>
              </a:rPr>
              <a:t>Mussweiler</a:t>
            </a:r>
            <a:r>
              <a:rPr sz="1275" b="0" dirty="0">
                <a:solidFill>
                  <a:srgbClr val="707070"/>
                </a:solidFill>
                <a:latin typeface="Arial"/>
                <a:ea typeface="Arial"/>
                <a:cs typeface="Arial"/>
              </a:rPr>
              <a:t> (2003); Kahneman &amp; Tversky (1979)</a:t>
            </a:r>
          </a:p>
        </p:txBody>
      </p:sp>
      <p:sp>
        <p:nvSpPr>
          <p:cNvPr id="4" name="03">
            <a:extLst>
              <a:ext uri="{FF2B5EF4-FFF2-40B4-BE49-F238E27FC236}">
                <a16:creationId xmlns:a16="http://schemas.microsoft.com/office/drawing/2014/main" id="{CACFDEAA-7B3B-48C7-9795-B9099967E3D2}"/>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03</a:t>
            </a:r>
            <a:endParaRPr sz="1425" b="0">
              <a:solidFill>
                <a:srgbClr val="707070"/>
              </a:solidFill>
              <a:latin typeface="Arial"/>
              <a:ea typeface="Arial"/>
              <a:cs typeface="Arial"/>
            </a:endParaRPr>
          </a:p>
        </p:txBody>
      </p:sp>
      <p:sp>
        <p:nvSpPr>
          <p:cNvPr id="5" name="Processo del confronto sociale">
            <a:extLst>
              <a:ext uri="{FF2B5EF4-FFF2-40B4-BE49-F238E27FC236}">
                <a16:creationId xmlns:a16="http://schemas.microsoft.com/office/drawing/2014/main" id="{A0245FBD-8A84-4205-B869-F03EACB46249}"/>
              </a:ext>
            </a:extLst>
          </p:cNvPr>
          <p:cNvSpPr>
            <a:spLocks noGrp="1"/>
          </p:cNvSpPr>
          <p:nvPr/>
        </p:nvSpPr>
        <p:spPr>
          <a:xfrm>
            <a:off x="742950" y="1771650"/>
            <a:ext cx="5238750" cy="342900"/>
          </a:xfrm>
          <a:prstGeom prst="rect">
            <a:avLst/>
          </a:prstGeom>
          <a:noFill/>
          <a:ln w="0">
            <a:noFill/>
          </a:ln>
        </p:spPr>
        <p:txBody>
          <a:bodyPr wrap="square" lIns="0" tIns="0" rIns="0" bIns="0" anchor="t">
            <a:noAutofit/>
          </a:bodyPr>
          <a:lstStyle>
            <a:defPPr algn="l">
              <a:defRPr sz="2175" b="1">
                <a:solidFill>
                  <a:srgbClr val="414141"/>
                </a:solidFill>
                <a:latin typeface="Arial"/>
                <a:ea typeface="Arial"/>
                <a:cs typeface="Arial"/>
              </a:defRPr>
            </a:defPPr>
          </a:lstStyle>
          <a:p>
            <a:pPr algn="l">
              <a:defRPr sz="2175" b="1">
                <a:solidFill>
                  <a:srgbClr val="414141"/>
                </a:solidFill>
                <a:latin typeface="Arial"/>
                <a:ea typeface="Arial"/>
                <a:cs typeface="Arial"/>
              </a:defRPr>
            </a:pPr>
            <a:r>
              <a:rPr sz="2175" b="1">
                <a:solidFill>
                  <a:srgbClr val="414141"/>
                </a:solidFill>
                <a:latin typeface="Arial"/>
                <a:ea typeface="Arial"/>
                <a:cs typeface="Arial"/>
              </a:rPr>
              <a:t>Processo del confronto sociale</a:t>
            </a:r>
          </a:p>
        </p:txBody>
      </p:sp>
      <p:sp>
        <p:nvSpPr>
          <p:cNvPr id="6" name="Connettore diritto 5">
            <a:extLst>
              <a:ext uri="{FF2B5EF4-FFF2-40B4-BE49-F238E27FC236}">
                <a16:creationId xmlns:a16="http://schemas.microsoft.com/office/drawing/2014/main" id="{554DAFF5-6C61-4DE1-A4AA-5E7C95F7A1A6}"/>
              </a:ext>
            </a:extLst>
          </p:cNvPr>
          <p:cNvSpPr>
            <a:spLocks noGrp="1"/>
          </p:cNvSpPr>
          <p:nvPr/>
        </p:nvSpPr>
        <p:spPr>
          <a:xfrm>
            <a:off x="6153150" y="1781175"/>
            <a:ext cx="0" cy="4000500"/>
          </a:xfrm>
          <a:prstGeom prst="line">
            <a:avLst/>
          </a:prstGeom>
          <a:noFill/>
          <a:ln w="14288">
            <a:solidFill>
              <a:srgbClr val="C4C4C4"/>
            </a:solidFill>
            <a:prstDash val="solid"/>
          </a:ln>
        </p:spPr>
        <p:txBody>
          <a:bodyPr/>
          <a:lstStyle/>
          <a:p>
            <a:endParaRPr lang="it-IT"/>
          </a:p>
        </p:txBody>
      </p:sp>
      <p:sp>
        <p:nvSpPr>
          <p:cNvPr id="7" name="Selezione del target di valutazione">
            <a:extLst>
              <a:ext uri="{FF2B5EF4-FFF2-40B4-BE49-F238E27FC236}">
                <a16:creationId xmlns:a16="http://schemas.microsoft.com/office/drawing/2014/main" id="{838F43E2-5D44-4B93-8735-6516EA4A3225}"/>
              </a:ext>
            </a:extLst>
          </p:cNvPr>
          <p:cNvSpPr>
            <a:spLocks noGrp="1"/>
          </p:cNvSpPr>
          <p:nvPr/>
        </p:nvSpPr>
        <p:spPr>
          <a:xfrm>
            <a:off x="1066800" y="2324100"/>
            <a:ext cx="4819650" cy="333375"/>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dirty="0" err="1">
                <a:solidFill>
                  <a:srgbClr val="414141"/>
                </a:solidFill>
                <a:latin typeface="Arial"/>
                <a:ea typeface="Arial"/>
                <a:cs typeface="Arial"/>
              </a:rPr>
              <a:t>Selezione</a:t>
            </a:r>
            <a:r>
              <a:rPr sz="1950" b="0" dirty="0">
                <a:solidFill>
                  <a:srgbClr val="414141"/>
                </a:solidFill>
                <a:latin typeface="Arial"/>
                <a:ea typeface="Arial"/>
                <a:cs typeface="Arial"/>
              </a:rPr>
              <a:t> del target di </a:t>
            </a:r>
            <a:r>
              <a:rPr sz="1950" b="0" dirty="0" err="1">
                <a:solidFill>
                  <a:srgbClr val="414141"/>
                </a:solidFill>
                <a:latin typeface="Arial"/>
                <a:ea typeface="Arial"/>
                <a:cs typeface="Arial"/>
              </a:rPr>
              <a:t>valutazione</a:t>
            </a:r>
            <a:endParaRPr sz="1950" b="0" dirty="0">
              <a:solidFill>
                <a:srgbClr val="414141"/>
              </a:solidFill>
              <a:latin typeface="Arial"/>
              <a:ea typeface="Arial"/>
              <a:cs typeface="Arial"/>
            </a:endParaRPr>
          </a:p>
        </p:txBody>
      </p:sp>
      <p:sp>
        <p:nvSpPr>
          <p:cNvPr id="8" name="Connettore diritto 7">
            <a:extLst>
              <a:ext uri="{FF2B5EF4-FFF2-40B4-BE49-F238E27FC236}">
                <a16:creationId xmlns:a16="http://schemas.microsoft.com/office/drawing/2014/main" id="{361ECBA5-CE92-4799-9B1C-4939DCAC9A60}"/>
              </a:ext>
            </a:extLst>
          </p:cNvPr>
          <p:cNvSpPr>
            <a:spLocks noGrp="1"/>
          </p:cNvSpPr>
          <p:nvPr/>
        </p:nvSpPr>
        <p:spPr>
          <a:xfrm>
            <a:off x="838200" y="2609850"/>
            <a:ext cx="0" cy="466725"/>
          </a:xfrm>
          <a:prstGeom prst="line">
            <a:avLst/>
          </a:prstGeom>
          <a:noFill/>
          <a:ln w="19050">
            <a:solidFill>
              <a:srgbClr val="C4C4C4"/>
            </a:solidFill>
            <a:prstDash val="solid"/>
          </a:ln>
        </p:spPr>
        <p:txBody>
          <a:bodyPr/>
          <a:lstStyle/>
          <a:p>
            <a:endParaRPr lang="it-IT"/>
          </a:p>
        </p:txBody>
      </p:sp>
      <p:sp>
        <p:nvSpPr>
          <p:cNvPr id="9" name="Freccia in giù 8">
            <a:extLst>
              <a:ext uri="{FF2B5EF4-FFF2-40B4-BE49-F238E27FC236}">
                <a16:creationId xmlns:a16="http://schemas.microsoft.com/office/drawing/2014/main" id="{84CD31B4-335A-4904-8D51-5A21110297BA}"/>
              </a:ext>
            </a:extLst>
          </p:cNvPr>
          <p:cNvSpPr>
            <a:spLocks noGrp="1"/>
          </p:cNvSpPr>
          <p:nvPr/>
        </p:nvSpPr>
        <p:spPr>
          <a:xfrm>
            <a:off x="781050" y="2981325"/>
            <a:ext cx="114300" cy="114300"/>
          </a:xfrm>
          <a:prstGeom prst="downArrow">
            <a:avLst/>
          </a:prstGeom>
          <a:solidFill>
            <a:srgbClr val="C4C4C4"/>
          </a:solidFill>
          <a:ln w="0">
            <a:noFill/>
          </a:ln>
        </p:spPr>
        <p:txBody>
          <a:bodyPr/>
          <a:lstStyle/>
          <a:p>
            <a:endParaRPr lang="it-IT"/>
          </a:p>
        </p:txBody>
      </p:sp>
      <p:sp>
        <p:nvSpPr>
          <p:cNvPr id="10" name="Selezione dello standard">
            <a:extLst>
              <a:ext uri="{FF2B5EF4-FFF2-40B4-BE49-F238E27FC236}">
                <a16:creationId xmlns:a16="http://schemas.microsoft.com/office/drawing/2014/main" id="{6658117C-E7A4-4D3E-B340-29E23CA2800A}"/>
              </a:ext>
            </a:extLst>
          </p:cNvPr>
          <p:cNvSpPr>
            <a:spLocks noGrp="1"/>
          </p:cNvSpPr>
          <p:nvPr/>
        </p:nvSpPr>
        <p:spPr>
          <a:xfrm>
            <a:off x="1066800" y="3181350"/>
            <a:ext cx="4819650" cy="333375"/>
          </a:xfrm>
          <a:prstGeom prst="rect">
            <a:avLst/>
          </a:prstGeom>
          <a:noFill/>
          <a:ln w="0">
            <a:noFill/>
          </a:ln>
        </p:spPr>
        <p:txBody>
          <a:bodyPr wrap="square" lIns="0" tIns="0" rIns="0" bIns="0" anchor="t">
            <a:noAutofit/>
          </a:bodyPr>
          <a:lstStyle>
            <a:defPPr algn="l">
              <a:defRPr sz="1950" b="1">
                <a:solidFill>
                  <a:srgbClr val="AA0004"/>
                </a:solidFill>
                <a:latin typeface="Arial"/>
                <a:ea typeface="Arial"/>
                <a:cs typeface="Arial"/>
              </a:defRPr>
            </a:defPPr>
          </a:lstStyle>
          <a:p>
            <a:pPr algn="l">
              <a:defRPr sz="1950" b="1">
                <a:solidFill>
                  <a:srgbClr val="AA0004"/>
                </a:solidFill>
                <a:latin typeface="Arial"/>
                <a:ea typeface="Arial"/>
                <a:cs typeface="Arial"/>
              </a:defRPr>
            </a:pPr>
            <a:r>
              <a:rPr sz="1950" b="1">
                <a:solidFill>
                  <a:srgbClr val="AA0004"/>
                </a:solidFill>
                <a:latin typeface="Arial"/>
                <a:ea typeface="Arial"/>
                <a:cs typeface="Arial"/>
              </a:rPr>
              <a:t>Selezione dello standard</a:t>
            </a:r>
          </a:p>
        </p:txBody>
      </p:sp>
      <p:sp>
        <p:nvSpPr>
          <p:cNvPr id="11" name="Connettore diritto 10">
            <a:extLst>
              <a:ext uri="{FF2B5EF4-FFF2-40B4-BE49-F238E27FC236}">
                <a16:creationId xmlns:a16="http://schemas.microsoft.com/office/drawing/2014/main" id="{899FE8F4-93FC-4AE4-A044-D45951AB8842}"/>
              </a:ext>
            </a:extLst>
          </p:cNvPr>
          <p:cNvSpPr>
            <a:spLocks noGrp="1"/>
          </p:cNvSpPr>
          <p:nvPr/>
        </p:nvSpPr>
        <p:spPr>
          <a:xfrm>
            <a:off x="838200" y="3467100"/>
            <a:ext cx="0" cy="790575"/>
          </a:xfrm>
          <a:prstGeom prst="line">
            <a:avLst/>
          </a:prstGeom>
          <a:noFill/>
          <a:ln w="19050">
            <a:solidFill>
              <a:srgbClr val="C4C4C4"/>
            </a:solidFill>
            <a:prstDash val="solid"/>
          </a:ln>
        </p:spPr>
        <p:txBody>
          <a:bodyPr/>
          <a:lstStyle/>
          <a:p>
            <a:endParaRPr lang="it-IT"/>
          </a:p>
        </p:txBody>
      </p:sp>
      <p:sp>
        <p:nvSpPr>
          <p:cNvPr id="12" name="Freccia in giù 11">
            <a:extLst>
              <a:ext uri="{FF2B5EF4-FFF2-40B4-BE49-F238E27FC236}">
                <a16:creationId xmlns:a16="http://schemas.microsoft.com/office/drawing/2014/main" id="{755B58CE-DBF8-4BE9-AFA4-9D6DBC1F6CD3}"/>
              </a:ext>
            </a:extLst>
          </p:cNvPr>
          <p:cNvSpPr>
            <a:spLocks noGrp="1"/>
          </p:cNvSpPr>
          <p:nvPr/>
        </p:nvSpPr>
        <p:spPr>
          <a:xfrm>
            <a:off x="781050" y="4162425"/>
            <a:ext cx="114300" cy="114300"/>
          </a:xfrm>
          <a:prstGeom prst="downArrow">
            <a:avLst/>
          </a:prstGeom>
          <a:solidFill>
            <a:srgbClr val="C4C4C4"/>
          </a:solidFill>
          <a:ln w="0">
            <a:noFill/>
          </a:ln>
        </p:spPr>
        <p:txBody>
          <a:bodyPr/>
          <a:lstStyle/>
          <a:p>
            <a:endParaRPr lang="it-IT"/>
          </a:p>
        </p:txBody>
      </p:sp>
      <p:sp>
        <p:nvSpPr>
          <p:cNvPr id="13" name="Comparazione">
            <a:extLst>
              <a:ext uri="{FF2B5EF4-FFF2-40B4-BE49-F238E27FC236}">
                <a16:creationId xmlns:a16="http://schemas.microsoft.com/office/drawing/2014/main" id="{8E6B55F7-09AD-460C-A039-496BA46ACF0C}"/>
              </a:ext>
            </a:extLst>
          </p:cNvPr>
          <p:cNvSpPr>
            <a:spLocks noGrp="1"/>
          </p:cNvSpPr>
          <p:nvPr/>
        </p:nvSpPr>
        <p:spPr>
          <a:xfrm>
            <a:off x="1066800" y="4362450"/>
            <a:ext cx="4819650" cy="333375"/>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dirty="0" err="1">
                <a:solidFill>
                  <a:srgbClr val="414141"/>
                </a:solidFill>
                <a:latin typeface="Arial"/>
                <a:ea typeface="Arial"/>
                <a:cs typeface="Arial"/>
              </a:rPr>
              <a:t>Comparazione</a:t>
            </a:r>
            <a:endParaRPr sz="1950" b="0" dirty="0">
              <a:solidFill>
                <a:srgbClr val="414141"/>
              </a:solidFill>
              <a:latin typeface="Arial"/>
              <a:ea typeface="Arial"/>
              <a:cs typeface="Arial"/>
            </a:endParaRPr>
          </a:p>
        </p:txBody>
      </p:sp>
      <p:sp>
        <p:nvSpPr>
          <p:cNvPr id="14" name="Connettore diritto 13">
            <a:extLst>
              <a:ext uri="{FF2B5EF4-FFF2-40B4-BE49-F238E27FC236}">
                <a16:creationId xmlns:a16="http://schemas.microsoft.com/office/drawing/2014/main" id="{9EA444DA-1763-479D-A2EF-D2C623371F89}"/>
              </a:ext>
            </a:extLst>
          </p:cNvPr>
          <p:cNvSpPr>
            <a:spLocks noGrp="1"/>
          </p:cNvSpPr>
          <p:nvPr/>
        </p:nvSpPr>
        <p:spPr>
          <a:xfrm>
            <a:off x="838200" y="4648200"/>
            <a:ext cx="0" cy="228600"/>
          </a:xfrm>
          <a:prstGeom prst="line">
            <a:avLst/>
          </a:prstGeom>
          <a:noFill/>
          <a:ln w="19050">
            <a:solidFill>
              <a:srgbClr val="C4C4C4"/>
            </a:solidFill>
            <a:prstDash val="solid"/>
          </a:ln>
        </p:spPr>
        <p:txBody>
          <a:bodyPr/>
          <a:lstStyle/>
          <a:p>
            <a:endParaRPr lang="it-IT"/>
          </a:p>
        </p:txBody>
      </p:sp>
      <p:sp>
        <p:nvSpPr>
          <p:cNvPr id="15" name="Freccia in giù 14">
            <a:extLst>
              <a:ext uri="{FF2B5EF4-FFF2-40B4-BE49-F238E27FC236}">
                <a16:creationId xmlns:a16="http://schemas.microsoft.com/office/drawing/2014/main" id="{3FA4E6E1-4246-438A-9A21-3D292FC5800B}"/>
              </a:ext>
            </a:extLst>
          </p:cNvPr>
          <p:cNvSpPr>
            <a:spLocks noGrp="1"/>
          </p:cNvSpPr>
          <p:nvPr/>
        </p:nvSpPr>
        <p:spPr>
          <a:xfrm>
            <a:off x="781050" y="4781550"/>
            <a:ext cx="114300" cy="114300"/>
          </a:xfrm>
          <a:prstGeom prst="downArrow">
            <a:avLst/>
          </a:prstGeom>
          <a:solidFill>
            <a:srgbClr val="C4C4C4"/>
          </a:solidFill>
          <a:ln w="0">
            <a:noFill/>
          </a:ln>
        </p:spPr>
        <p:txBody>
          <a:bodyPr/>
          <a:lstStyle/>
          <a:p>
            <a:endParaRPr lang="it-IT"/>
          </a:p>
        </p:txBody>
      </p:sp>
      <p:sp>
        <p:nvSpPr>
          <p:cNvPr id="16" name="Valutazione">
            <a:extLst>
              <a:ext uri="{FF2B5EF4-FFF2-40B4-BE49-F238E27FC236}">
                <a16:creationId xmlns:a16="http://schemas.microsoft.com/office/drawing/2014/main" id="{00EDEC5A-C9A1-44ED-88BB-87F8C8E314E3}"/>
              </a:ext>
            </a:extLst>
          </p:cNvPr>
          <p:cNvSpPr>
            <a:spLocks noGrp="1"/>
          </p:cNvSpPr>
          <p:nvPr/>
        </p:nvSpPr>
        <p:spPr>
          <a:xfrm>
            <a:off x="1066800" y="4981575"/>
            <a:ext cx="4819650" cy="333375"/>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a:solidFill>
                  <a:srgbClr val="414141"/>
                </a:solidFill>
                <a:latin typeface="Arial"/>
                <a:ea typeface="Arial"/>
                <a:cs typeface="Arial"/>
              </a:rPr>
              <a:t>Valutazione</a:t>
            </a:r>
          </a:p>
        </p:txBody>
      </p:sp>
      <p:sp>
        <p:nvSpPr>
          <p:cNvPr id="17" name="Aspetto di sé che si valuta">
            <a:extLst>
              <a:ext uri="{FF2B5EF4-FFF2-40B4-BE49-F238E27FC236}">
                <a16:creationId xmlns:a16="http://schemas.microsoft.com/office/drawing/2014/main" id="{9C072F2A-E151-43CF-8EC0-EB0205DC7256}"/>
              </a:ext>
            </a:extLst>
          </p:cNvPr>
          <p:cNvSpPr>
            <a:spLocks noGrp="1"/>
          </p:cNvSpPr>
          <p:nvPr/>
        </p:nvSpPr>
        <p:spPr>
          <a:xfrm>
            <a:off x="1066800" y="2657475"/>
            <a:ext cx="4714875" cy="304800"/>
          </a:xfrm>
          <a:prstGeom prst="rect">
            <a:avLst/>
          </a:prstGeom>
          <a:noFill/>
          <a:ln w="0">
            <a:noFill/>
          </a:ln>
        </p:spPr>
        <p:txBody>
          <a:bodyPr wrap="square" lIns="0" tIns="0" rIns="0" bIns="0" anchor="t">
            <a:noAutofit/>
          </a:bodyPr>
          <a:lstStyle>
            <a:defPPr algn="l">
              <a:defRPr sz="1650" b="0">
                <a:solidFill>
                  <a:srgbClr val="707070"/>
                </a:solidFill>
                <a:latin typeface="Arial"/>
                <a:ea typeface="Arial"/>
                <a:cs typeface="Arial"/>
              </a:defRPr>
            </a:defPPr>
          </a:lstStyle>
          <a:p>
            <a:pPr algn="l">
              <a:defRPr sz="1650" b="0">
                <a:solidFill>
                  <a:srgbClr val="707070"/>
                </a:solidFill>
                <a:latin typeface="Arial"/>
                <a:ea typeface="Arial"/>
                <a:cs typeface="Arial"/>
              </a:defRPr>
            </a:pPr>
            <a:r>
              <a:rPr sz="1650" b="0">
                <a:solidFill>
                  <a:srgbClr val="707070"/>
                </a:solidFill>
                <a:latin typeface="Arial"/>
                <a:ea typeface="Arial"/>
                <a:cs typeface="Arial"/>
              </a:rPr>
              <a:t>Aspetto di sé che si valuta</a:t>
            </a:r>
          </a:p>
        </p:txBody>
      </p:sp>
      <p:sp>
        <p:nvSpPr>
          <p:cNvPr id="18" name="Informazioni su persone o gruppi&#10;che offrono un termine di p">
            <a:extLst>
              <a:ext uri="{FF2B5EF4-FFF2-40B4-BE49-F238E27FC236}">
                <a16:creationId xmlns:a16="http://schemas.microsoft.com/office/drawing/2014/main" id="{29F8C669-7C20-41CE-A0DA-76C52DBB5690}"/>
              </a:ext>
            </a:extLst>
          </p:cNvPr>
          <p:cNvSpPr>
            <a:spLocks noGrp="1"/>
          </p:cNvSpPr>
          <p:nvPr/>
        </p:nvSpPr>
        <p:spPr>
          <a:xfrm>
            <a:off x="1066800" y="3524250"/>
            <a:ext cx="4714875" cy="533400"/>
          </a:xfrm>
          <a:prstGeom prst="rect">
            <a:avLst/>
          </a:prstGeom>
          <a:noFill/>
          <a:ln w="0">
            <a:noFill/>
          </a:ln>
        </p:spPr>
        <p:txBody>
          <a:bodyPr wrap="square" lIns="0" tIns="0" rIns="0" bIns="0" anchor="t">
            <a:noAutofit/>
          </a:bodyPr>
          <a:lstStyle>
            <a:defPPr algn="l">
              <a:defRPr sz="1650" b="0">
                <a:solidFill>
                  <a:srgbClr val="707070"/>
                </a:solidFill>
                <a:latin typeface="Arial"/>
                <a:ea typeface="Arial"/>
                <a:cs typeface="Arial"/>
              </a:defRPr>
            </a:defPPr>
          </a:lstStyle>
          <a:p>
            <a:pPr algn="l">
              <a:defRPr sz="1650" b="0">
                <a:solidFill>
                  <a:srgbClr val="707070"/>
                </a:solidFill>
                <a:latin typeface="Arial"/>
                <a:ea typeface="Arial"/>
                <a:cs typeface="Arial"/>
              </a:defRPr>
            </a:pPr>
            <a:r>
              <a:rPr sz="1650" b="0" dirty="0" err="1">
                <a:solidFill>
                  <a:srgbClr val="707070"/>
                </a:solidFill>
                <a:latin typeface="Arial"/>
                <a:ea typeface="Arial"/>
                <a:cs typeface="Arial"/>
              </a:rPr>
              <a:t>Informazioni</a:t>
            </a:r>
            <a:r>
              <a:rPr sz="1650" b="0" dirty="0">
                <a:solidFill>
                  <a:srgbClr val="707070"/>
                </a:solidFill>
                <a:latin typeface="Arial"/>
                <a:ea typeface="Arial"/>
                <a:cs typeface="Arial"/>
              </a:rPr>
              <a:t> </a:t>
            </a:r>
            <a:r>
              <a:rPr sz="1650" b="0" dirty="0" err="1">
                <a:solidFill>
                  <a:srgbClr val="707070"/>
                </a:solidFill>
                <a:latin typeface="Arial"/>
                <a:ea typeface="Arial"/>
                <a:cs typeface="Arial"/>
              </a:rPr>
              <a:t>su</a:t>
            </a:r>
            <a:r>
              <a:rPr sz="1650" b="0" dirty="0">
                <a:solidFill>
                  <a:srgbClr val="707070"/>
                </a:solidFill>
                <a:latin typeface="Arial"/>
                <a:ea typeface="Arial"/>
                <a:cs typeface="Arial"/>
              </a:rPr>
              <a:t> </a:t>
            </a:r>
            <a:r>
              <a:rPr sz="1650" b="0" dirty="0" err="1">
                <a:solidFill>
                  <a:srgbClr val="707070"/>
                </a:solidFill>
                <a:latin typeface="Arial"/>
                <a:ea typeface="Arial"/>
                <a:cs typeface="Arial"/>
              </a:rPr>
              <a:t>persone</a:t>
            </a:r>
            <a:r>
              <a:rPr sz="1650" b="0" dirty="0">
                <a:solidFill>
                  <a:srgbClr val="707070"/>
                </a:solidFill>
                <a:latin typeface="Arial"/>
                <a:ea typeface="Arial"/>
                <a:cs typeface="Arial"/>
              </a:rPr>
              <a:t> o </a:t>
            </a:r>
            <a:r>
              <a:rPr sz="1650" b="0" dirty="0" err="1">
                <a:solidFill>
                  <a:srgbClr val="707070"/>
                </a:solidFill>
                <a:latin typeface="Arial"/>
                <a:ea typeface="Arial"/>
                <a:cs typeface="Arial"/>
              </a:rPr>
              <a:t>gruppi</a:t>
            </a:r>
            <a:endParaRPr sz="1650" b="0" dirty="0">
              <a:solidFill>
                <a:srgbClr val="707070"/>
              </a:solidFill>
              <a:latin typeface="Arial"/>
              <a:ea typeface="Arial"/>
              <a:cs typeface="Arial"/>
            </a:endParaRPr>
          </a:p>
          <a:p>
            <a:pPr algn="l">
              <a:defRPr sz="1650" b="0">
                <a:solidFill>
                  <a:srgbClr val="707070"/>
                </a:solidFill>
                <a:latin typeface="Arial"/>
                <a:ea typeface="Arial"/>
                <a:cs typeface="Arial"/>
              </a:defRPr>
            </a:pPr>
            <a:r>
              <a:rPr sz="1650" b="0" dirty="0" err="1">
                <a:solidFill>
                  <a:srgbClr val="707070"/>
                </a:solidFill>
                <a:latin typeface="Arial"/>
                <a:ea typeface="Arial"/>
                <a:cs typeface="Arial"/>
              </a:rPr>
              <a:t>che</a:t>
            </a:r>
            <a:r>
              <a:rPr sz="1650" b="0" dirty="0">
                <a:solidFill>
                  <a:srgbClr val="707070"/>
                </a:solidFill>
                <a:latin typeface="Arial"/>
                <a:ea typeface="Arial"/>
                <a:cs typeface="Arial"/>
              </a:rPr>
              <a:t> </a:t>
            </a:r>
            <a:r>
              <a:rPr sz="1650" b="0" dirty="0" err="1">
                <a:solidFill>
                  <a:srgbClr val="707070"/>
                </a:solidFill>
                <a:latin typeface="Arial"/>
                <a:ea typeface="Arial"/>
                <a:cs typeface="Arial"/>
              </a:rPr>
              <a:t>offrono</a:t>
            </a:r>
            <a:r>
              <a:rPr sz="1650" b="0" dirty="0">
                <a:solidFill>
                  <a:srgbClr val="707070"/>
                </a:solidFill>
                <a:latin typeface="Arial"/>
                <a:ea typeface="Arial"/>
                <a:cs typeface="Arial"/>
              </a:rPr>
              <a:t> un </a:t>
            </a:r>
            <a:r>
              <a:rPr sz="1650" b="0" dirty="0" err="1">
                <a:solidFill>
                  <a:srgbClr val="707070"/>
                </a:solidFill>
                <a:latin typeface="Arial"/>
                <a:ea typeface="Arial"/>
                <a:cs typeface="Arial"/>
              </a:rPr>
              <a:t>termine</a:t>
            </a:r>
            <a:r>
              <a:rPr sz="1650" b="0" dirty="0">
                <a:solidFill>
                  <a:srgbClr val="707070"/>
                </a:solidFill>
                <a:latin typeface="Arial"/>
                <a:ea typeface="Arial"/>
                <a:cs typeface="Arial"/>
              </a:rPr>
              <a:t> di </a:t>
            </a:r>
            <a:r>
              <a:rPr sz="1650" b="0" dirty="0" err="1">
                <a:solidFill>
                  <a:srgbClr val="707070"/>
                </a:solidFill>
                <a:latin typeface="Arial"/>
                <a:ea typeface="Arial"/>
                <a:cs typeface="Arial"/>
              </a:rPr>
              <a:t>paragone</a:t>
            </a:r>
            <a:endParaRPr sz="1650" b="0" dirty="0">
              <a:solidFill>
                <a:srgbClr val="707070"/>
              </a:solidFill>
              <a:latin typeface="Arial"/>
              <a:ea typeface="Arial"/>
              <a:cs typeface="Arial"/>
            </a:endParaRPr>
          </a:p>
        </p:txBody>
      </p:sp>
      <p:sp>
        <p:nvSpPr>
          <p:cNvPr id="19" name="Ricerca attiva dello standard di confronto">
            <a:extLst>
              <a:ext uri="{FF2B5EF4-FFF2-40B4-BE49-F238E27FC236}">
                <a16:creationId xmlns:a16="http://schemas.microsoft.com/office/drawing/2014/main" id="{9D1825AE-53C6-4263-B597-A295C9F9F94B}"/>
              </a:ext>
            </a:extLst>
          </p:cNvPr>
          <p:cNvSpPr>
            <a:spLocks noGrp="1"/>
          </p:cNvSpPr>
          <p:nvPr/>
        </p:nvSpPr>
        <p:spPr>
          <a:xfrm>
            <a:off x="1066800" y="4076700"/>
            <a:ext cx="4819650" cy="276225"/>
          </a:xfrm>
          <a:prstGeom prst="rect">
            <a:avLst/>
          </a:prstGeom>
          <a:noFill/>
          <a:ln w="0">
            <a:noFill/>
          </a:ln>
        </p:spPr>
        <p:txBody>
          <a:bodyPr wrap="square" lIns="0" tIns="0" rIns="0" bIns="0" anchor="t">
            <a:noAutofit/>
          </a:bodyPr>
          <a:lstStyle>
            <a:defPPr algn="l">
              <a:defRPr sz="1650" b="1">
                <a:solidFill>
                  <a:srgbClr val="AA0004"/>
                </a:solidFill>
                <a:latin typeface="Arial"/>
                <a:ea typeface="Arial"/>
                <a:cs typeface="Arial"/>
              </a:defRPr>
            </a:defPPr>
          </a:lstStyle>
          <a:p>
            <a:pPr algn="l">
              <a:defRPr sz="1650" b="1">
                <a:solidFill>
                  <a:srgbClr val="AA0004"/>
                </a:solidFill>
                <a:latin typeface="Arial"/>
                <a:ea typeface="Arial"/>
                <a:cs typeface="Arial"/>
              </a:defRPr>
            </a:pPr>
            <a:r>
              <a:rPr sz="1650" b="1" dirty="0" err="1">
                <a:latin typeface="Arial"/>
                <a:ea typeface="Arial"/>
                <a:cs typeface="Arial"/>
              </a:rPr>
              <a:t>Ricerca</a:t>
            </a:r>
            <a:r>
              <a:rPr sz="1650" b="1" dirty="0">
                <a:latin typeface="Arial"/>
                <a:ea typeface="Arial"/>
                <a:cs typeface="Arial"/>
              </a:rPr>
              <a:t> </a:t>
            </a:r>
            <a:r>
              <a:rPr sz="1650" b="1" dirty="0" err="1">
                <a:latin typeface="Arial"/>
                <a:ea typeface="Arial"/>
                <a:cs typeface="Arial"/>
              </a:rPr>
              <a:t>attiva</a:t>
            </a:r>
            <a:r>
              <a:rPr sz="1650" b="1" dirty="0">
                <a:latin typeface="Arial"/>
                <a:ea typeface="Arial"/>
                <a:cs typeface="Arial"/>
              </a:rPr>
              <a:t> </a:t>
            </a:r>
            <a:r>
              <a:rPr sz="1650" b="1" dirty="0" err="1">
                <a:latin typeface="Arial"/>
                <a:ea typeface="Arial"/>
                <a:cs typeface="Arial"/>
              </a:rPr>
              <a:t>dello</a:t>
            </a:r>
            <a:r>
              <a:rPr sz="1650" b="1" dirty="0">
                <a:latin typeface="Arial"/>
                <a:ea typeface="Arial"/>
                <a:cs typeface="Arial"/>
              </a:rPr>
              <a:t> standard di </a:t>
            </a:r>
            <a:r>
              <a:rPr sz="1650" b="1" dirty="0" err="1">
                <a:latin typeface="Arial"/>
                <a:ea typeface="Arial"/>
                <a:cs typeface="Arial"/>
              </a:rPr>
              <a:t>confronto</a:t>
            </a:r>
            <a:endParaRPr sz="1650" b="1" dirty="0">
              <a:latin typeface="Arial"/>
              <a:ea typeface="Arial"/>
              <a:cs typeface="Arial"/>
            </a:endParaRPr>
          </a:p>
        </p:txBody>
      </p:sp>
      <p:sp>
        <p:nvSpPr>
          <p:cNvPr id="21" name="Guadagno e perdita">
            <a:extLst>
              <a:ext uri="{FF2B5EF4-FFF2-40B4-BE49-F238E27FC236}">
                <a16:creationId xmlns:a16="http://schemas.microsoft.com/office/drawing/2014/main" id="{5A639FC8-7B11-4630-8252-FD850E560421}"/>
              </a:ext>
            </a:extLst>
          </p:cNvPr>
          <p:cNvSpPr>
            <a:spLocks noGrp="1"/>
          </p:cNvSpPr>
          <p:nvPr/>
        </p:nvSpPr>
        <p:spPr>
          <a:xfrm>
            <a:off x="6562725" y="1771650"/>
            <a:ext cx="4886325" cy="342900"/>
          </a:xfrm>
          <a:prstGeom prst="rect">
            <a:avLst/>
          </a:prstGeom>
          <a:noFill/>
          <a:ln w="0">
            <a:noFill/>
          </a:ln>
        </p:spPr>
        <p:txBody>
          <a:bodyPr wrap="square" lIns="0" tIns="0" rIns="0" bIns="0" anchor="t">
            <a:noAutofit/>
          </a:bodyPr>
          <a:lstStyle>
            <a:defPPr algn="l">
              <a:defRPr sz="2175" b="1">
                <a:solidFill>
                  <a:srgbClr val="414141"/>
                </a:solidFill>
                <a:latin typeface="Arial"/>
                <a:ea typeface="Arial"/>
                <a:cs typeface="Arial"/>
              </a:defRPr>
            </a:defPPr>
          </a:lstStyle>
          <a:p>
            <a:pPr algn="l">
              <a:defRPr sz="2175" b="1">
                <a:solidFill>
                  <a:srgbClr val="414141"/>
                </a:solidFill>
                <a:latin typeface="Arial"/>
                <a:ea typeface="Arial"/>
                <a:cs typeface="Arial"/>
              </a:defRPr>
            </a:pPr>
            <a:r>
              <a:rPr sz="2175" b="1">
                <a:solidFill>
                  <a:srgbClr val="414141"/>
                </a:solidFill>
                <a:latin typeface="Arial"/>
                <a:ea typeface="Arial"/>
                <a:cs typeface="Arial"/>
              </a:rPr>
              <a:t>Guadagno e perdita</a:t>
            </a:r>
          </a:p>
        </p:txBody>
      </p:sp>
      <p:sp>
        <p:nvSpPr>
          <p:cNvPr id="22" name="Definiti rispetto a un punto di riferimento">
            <a:extLst>
              <a:ext uri="{FF2B5EF4-FFF2-40B4-BE49-F238E27FC236}">
                <a16:creationId xmlns:a16="http://schemas.microsoft.com/office/drawing/2014/main" id="{7C7BEA1B-8994-435E-91B2-92B3E745F480}"/>
              </a:ext>
            </a:extLst>
          </p:cNvPr>
          <p:cNvSpPr>
            <a:spLocks noGrp="1"/>
          </p:cNvSpPr>
          <p:nvPr/>
        </p:nvSpPr>
        <p:spPr>
          <a:xfrm>
            <a:off x="6562725" y="2228850"/>
            <a:ext cx="4781550" cy="552450"/>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a:solidFill>
                  <a:srgbClr val="414141"/>
                </a:solidFill>
                <a:latin typeface="Arial"/>
                <a:ea typeface="Arial"/>
                <a:cs typeface="Arial"/>
              </a:rPr>
              <a:t>Definiti rispetto a un punto di riferimento</a:t>
            </a:r>
          </a:p>
        </p:txBody>
      </p:sp>
      <p:pic>
        <p:nvPicPr>
          <p:cNvPr id="23" name="Immagine 22">
            <a:extLst>
              <a:ext uri="{FF2B5EF4-FFF2-40B4-BE49-F238E27FC236}">
                <a16:creationId xmlns:a16="http://schemas.microsoft.com/office/drawing/2014/main" id="{38D8700F-7C91-41EF-B999-B1E79BD44646}"/>
              </a:ext>
            </a:extLst>
          </p:cNvPr>
          <p:cNvPicPr>
            <a:picLocks noChangeAspect="1"/>
          </p:cNvPicPr>
          <p:nvPr/>
        </p:nvPicPr>
        <p:blipFill>
          <a:blip r:embed="rId4"/>
          <a:stretch/>
        </p:blipFill>
        <p:spPr>
          <a:xfrm>
            <a:off x="5288774" y="2778750"/>
            <a:ext cx="5043452" cy="2838450"/>
          </a:xfrm>
          <a:prstGeom prst="rect">
            <a:avLst/>
          </a:prstGeom>
        </p:spPr>
      </p:pic>
      <p:pic>
        <p:nvPicPr>
          <p:cNvPr id="24" name="Immagine 23">
            <a:extLst>
              <a:ext uri="{FF2B5EF4-FFF2-40B4-BE49-F238E27FC236}">
                <a16:creationId xmlns:a16="http://schemas.microsoft.com/office/drawing/2014/main" id="{0D51729F-7AFD-4FCF-8A25-904103840FEA}"/>
              </a:ext>
            </a:extLst>
          </p:cNvPr>
          <p:cNvPicPr>
            <a:picLocks noChangeAspect="1"/>
          </p:cNvPicPr>
          <p:nvPr/>
        </p:nvPicPr>
        <p:blipFill>
          <a:blip r:embed="rId5"/>
          <a:stretch/>
        </p:blipFill>
        <p:spPr>
          <a:xfrm>
            <a:off x="7829550" y="2776200"/>
            <a:ext cx="5043452" cy="2838450"/>
          </a:xfrm>
          <a:prstGeom prst="rect">
            <a:avLst/>
          </a:prstGeom>
        </p:spPr>
      </p:pic>
      <p:sp>
        <p:nvSpPr>
          <p:cNvPr id="25" name="€30">
            <a:extLst>
              <a:ext uri="{FF2B5EF4-FFF2-40B4-BE49-F238E27FC236}">
                <a16:creationId xmlns:a16="http://schemas.microsoft.com/office/drawing/2014/main" id="{5B01E0CE-0E7B-46C7-9C65-9A241BB937DE}"/>
              </a:ext>
            </a:extLst>
          </p:cNvPr>
          <p:cNvSpPr>
            <a:spLocks noGrp="1"/>
          </p:cNvSpPr>
          <p:nvPr/>
        </p:nvSpPr>
        <p:spPr>
          <a:xfrm>
            <a:off x="7429500" y="2882694"/>
            <a:ext cx="762000" cy="304800"/>
          </a:xfrm>
          <a:prstGeom prst="rect">
            <a:avLst/>
          </a:prstGeom>
          <a:noFill/>
          <a:ln w="0">
            <a:noFill/>
          </a:ln>
        </p:spPr>
        <p:txBody>
          <a:bodyPr wrap="square" lIns="0" tIns="0" rIns="0" bIns="0" anchor="t">
            <a:noAutofit/>
          </a:bodyPr>
          <a:lstStyle>
            <a:defPPr algn="ctr">
              <a:defRPr sz="1875" b="1">
                <a:solidFill>
                  <a:srgbClr val="414141"/>
                </a:solidFill>
                <a:latin typeface="Arial"/>
                <a:ea typeface="Arial"/>
                <a:cs typeface="Arial"/>
              </a:defRPr>
            </a:defPPr>
          </a:lstStyle>
          <a:p>
            <a:pPr algn="ctr">
              <a:defRPr sz="1875" b="1">
                <a:solidFill>
                  <a:srgbClr val="414141"/>
                </a:solidFill>
                <a:latin typeface="Arial"/>
                <a:ea typeface="Arial"/>
                <a:cs typeface="Arial"/>
              </a:defRPr>
            </a:pPr>
            <a:r>
              <a:rPr sz="1875" b="1" dirty="0">
                <a:solidFill>
                  <a:srgbClr val="414141"/>
                </a:solidFill>
                <a:latin typeface="Arial"/>
                <a:ea typeface="Arial"/>
                <a:cs typeface="Arial"/>
              </a:rPr>
              <a:t>€30</a:t>
            </a:r>
          </a:p>
        </p:txBody>
      </p:sp>
      <p:sp>
        <p:nvSpPr>
          <p:cNvPr id="26" name="€0">
            <a:extLst>
              <a:ext uri="{FF2B5EF4-FFF2-40B4-BE49-F238E27FC236}">
                <a16:creationId xmlns:a16="http://schemas.microsoft.com/office/drawing/2014/main" id="{C3FCB3D5-92B5-43E7-A16C-63A84C40285F}"/>
              </a:ext>
            </a:extLst>
          </p:cNvPr>
          <p:cNvSpPr>
            <a:spLocks noGrp="1"/>
          </p:cNvSpPr>
          <p:nvPr/>
        </p:nvSpPr>
        <p:spPr>
          <a:xfrm>
            <a:off x="7319963" y="4416219"/>
            <a:ext cx="619125" cy="304800"/>
          </a:xfrm>
          <a:prstGeom prst="rect">
            <a:avLst/>
          </a:prstGeom>
          <a:noFill/>
          <a:ln w="0">
            <a:noFill/>
          </a:ln>
        </p:spPr>
        <p:txBody>
          <a:bodyPr wrap="square" lIns="0" tIns="0" rIns="0" bIns="0" anchor="t">
            <a:noAutofit/>
          </a:bodyPr>
          <a:lstStyle>
            <a:defPPr algn="r">
              <a:defRPr sz="1875" b="0">
                <a:solidFill>
                  <a:srgbClr val="414141"/>
                </a:solidFill>
                <a:latin typeface="Arial"/>
                <a:ea typeface="Arial"/>
                <a:cs typeface="Arial"/>
              </a:defRPr>
            </a:defPPr>
          </a:lstStyle>
          <a:p>
            <a:pPr algn="r">
              <a:defRPr sz="1875" b="0">
                <a:solidFill>
                  <a:srgbClr val="414141"/>
                </a:solidFill>
                <a:latin typeface="Arial"/>
                <a:ea typeface="Arial"/>
                <a:cs typeface="Arial"/>
              </a:defRPr>
            </a:pPr>
            <a:r>
              <a:rPr sz="1875" b="0" dirty="0">
                <a:solidFill>
                  <a:srgbClr val="414141"/>
                </a:solidFill>
                <a:latin typeface="Arial"/>
                <a:ea typeface="Arial"/>
                <a:cs typeface="Arial"/>
              </a:rPr>
              <a:t>€0</a:t>
            </a:r>
          </a:p>
        </p:txBody>
      </p:sp>
      <p:sp>
        <p:nvSpPr>
          <p:cNvPr id="27" name="€60">
            <a:extLst>
              <a:ext uri="{FF2B5EF4-FFF2-40B4-BE49-F238E27FC236}">
                <a16:creationId xmlns:a16="http://schemas.microsoft.com/office/drawing/2014/main" id="{9637358B-2894-444A-B450-EC9F8D447A3B}"/>
              </a:ext>
            </a:extLst>
          </p:cNvPr>
          <p:cNvSpPr>
            <a:spLocks noGrp="1"/>
          </p:cNvSpPr>
          <p:nvPr/>
        </p:nvSpPr>
        <p:spPr>
          <a:xfrm>
            <a:off x="10146488" y="3718483"/>
            <a:ext cx="819150" cy="304800"/>
          </a:xfrm>
          <a:prstGeom prst="rect">
            <a:avLst/>
          </a:prstGeom>
          <a:noFill/>
          <a:ln w="0">
            <a:noFill/>
          </a:ln>
        </p:spPr>
        <p:txBody>
          <a:bodyPr wrap="square" lIns="0" tIns="0" rIns="0" bIns="0" anchor="t">
            <a:noAutofit/>
          </a:bodyPr>
          <a:lstStyle>
            <a:defPPr algn="l">
              <a:defRPr sz="1875" b="0">
                <a:solidFill>
                  <a:srgbClr val="414141"/>
                </a:solidFill>
                <a:latin typeface="Arial"/>
                <a:ea typeface="Arial"/>
                <a:cs typeface="Arial"/>
              </a:defRPr>
            </a:defPPr>
          </a:lstStyle>
          <a:p>
            <a:pPr algn="l">
              <a:defRPr sz="1875" b="0">
                <a:solidFill>
                  <a:srgbClr val="414141"/>
                </a:solidFill>
                <a:latin typeface="Arial"/>
                <a:ea typeface="Arial"/>
                <a:cs typeface="Arial"/>
              </a:defRPr>
            </a:pPr>
            <a:r>
              <a:rPr sz="1875" b="0" dirty="0">
                <a:solidFill>
                  <a:srgbClr val="414141"/>
                </a:solidFill>
                <a:latin typeface="Arial"/>
                <a:ea typeface="Arial"/>
                <a:cs typeface="Arial"/>
              </a:rPr>
              <a:t>€60</a:t>
            </a:r>
          </a:p>
        </p:txBody>
      </p:sp>
      <p:sp>
        <p:nvSpPr>
          <p:cNvPr id="28" name="€30">
            <a:extLst>
              <a:ext uri="{FF2B5EF4-FFF2-40B4-BE49-F238E27FC236}">
                <a16:creationId xmlns:a16="http://schemas.microsoft.com/office/drawing/2014/main" id="{855EEA4B-9E51-4BBE-9D7A-1D69368683FB}"/>
              </a:ext>
            </a:extLst>
          </p:cNvPr>
          <p:cNvSpPr>
            <a:spLocks noGrp="1"/>
          </p:cNvSpPr>
          <p:nvPr/>
        </p:nvSpPr>
        <p:spPr>
          <a:xfrm>
            <a:off x="9970276" y="5227778"/>
            <a:ext cx="762000" cy="304800"/>
          </a:xfrm>
          <a:prstGeom prst="rect">
            <a:avLst/>
          </a:prstGeom>
          <a:noFill/>
          <a:ln w="0">
            <a:noFill/>
          </a:ln>
        </p:spPr>
        <p:txBody>
          <a:bodyPr wrap="square" lIns="0" tIns="0" rIns="0" bIns="0" anchor="t">
            <a:noAutofit/>
          </a:bodyPr>
          <a:lstStyle>
            <a:defPPr algn="ctr">
              <a:defRPr sz="1875" b="1">
                <a:solidFill>
                  <a:srgbClr val="414141"/>
                </a:solidFill>
                <a:latin typeface="Arial"/>
                <a:ea typeface="Arial"/>
                <a:cs typeface="Arial"/>
              </a:defRPr>
            </a:defPPr>
          </a:lstStyle>
          <a:p>
            <a:pPr algn="ctr">
              <a:defRPr sz="1875" b="1">
                <a:solidFill>
                  <a:srgbClr val="414141"/>
                </a:solidFill>
                <a:latin typeface="Arial"/>
                <a:ea typeface="Arial"/>
                <a:cs typeface="Arial"/>
              </a:defRPr>
            </a:pPr>
            <a:r>
              <a:rPr sz="1875" b="1" dirty="0">
                <a:solidFill>
                  <a:srgbClr val="414141"/>
                </a:solidFill>
                <a:latin typeface="Arial"/>
                <a:ea typeface="Arial"/>
                <a:cs typeface="Arial"/>
              </a:rPr>
              <a:t>€30</a:t>
            </a:r>
          </a:p>
        </p:txBody>
      </p:sp>
      <p:sp>
        <p:nvSpPr>
          <p:cNvPr id="29" name="Stesso esito finale, riferimenti differenti">
            <a:extLst>
              <a:ext uri="{FF2B5EF4-FFF2-40B4-BE49-F238E27FC236}">
                <a16:creationId xmlns:a16="http://schemas.microsoft.com/office/drawing/2014/main" id="{248F21EE-4541-4D70-A3F5-3D2DE5C4EE84}"/>
              </a:ext>
            </a:extLst>
          </p:cNvPr>
          <p:cNvSpPr>
            <a:spLocks noGrp="1"/>
          </p:cNvSpPr>
          <p:nvPr/>
        </p:nvSpPr>
        <p:spPr>
          <a:xfrm>
            <a:off x="6562725" y="5695950"/>
            <a:ext cx="4876800" cy="285750"/>
          </a:xfrm>
          <a:prstGeom prst="rect">
            <a:avLst/>
          </a:prstGeom>
          <a:noFill/>
          <a:ln w="0">
            <a:noFill/>
          </a:ln>
        </p:spPr>
        <p:txBody>
          <a:bodyPr wrap="square" lIns="0" tIns="0" rIns="0" bIns="0" anchor="t">
            <a:noAutofit/>
          </a:bodyPr>
          <a:lstStyle>
            <a:defPPr algn="l">
              <a:defRPr sz="1650" b="0">
                <a:solidFill>
                  <a:srgbClr val="707070"/>
                </a:solidFill>
                <a:latin typeface="Arial"/>
                <a:ea typeface="Arial"/>
                <a:cs typeface="Arial"/>
              </a:defRPr>
            </a:defPPr>
          </a:lstStyle>
          <a:p>
            <a:pPr algn="l">
              <a:defRPr sz="1650" b="0">
                <a:solidFill>
                  <a:srgbClr val="707070"/>
                </a:solidFill>
                <a:latin typeface="Arial"/>
                <a:ea typeface="Arial"/>
                <a:cs typeface="Arial"/>
              </a:defRPr>
            </a:pPr>
            <a:r>
              <a:rPr sz="1650" b="0" dirty="0" err="1">
                <a:solidFill>
                  <a:srgbClr val="707070"/>
                </a:solidFill>
                <a:latin typeface="Arial"/>
                <a:ea typeface="Arial"/>
                <a:cs typeface="Arial"/>
              </a:rPr>
              <a:t>Stesso</a:t>
            </a:r>
            <a:r>
              <a:rPr sz="1650" b="0" dirty="0">
                <a:solidFill>
                  <a:srgbClr val="707070"/>
                </a:solidFill>
                <a:latin typeface="Arial"/>
                <a:ea typeface="Arial"/>
                <a:cs typeface="Arial"/>
              </a:rPr>
              <a:t> </a:t>
            </a:r>
            <a:r>
              <a:rPr sz="1650" b="0" dirty="0" err="1">
                <a:solidFill>
                  <a:srgbClr val="707070"/>
                </a:solidFill>
                <a:latin typeface="Arial"/>
                <a:ea typeface="Arial"/>
                <a:cs typeface="Arial"/>
              </a:rPr>
              <a:t>esito</a:t>
            </a:r>
            <a:r>
              <a:rPr sz="1650" b="0" dirty="0">
                <a:solidFill>
                  <a:srgbClr val="707070"/>
                </a:solidFill>
                <a:latin typeface="Arial"/>
                <a:ea typeface="Arial"/>
                <a:cs typeface="Arial"/>
              </a:rPr>
              <a:t> finale, </a:t>
            </a:r>
            <a:r>
              <a:rPr sz="1650" b="0" dirty="0" err="1">
                <a:solidFill>
                  <a:srgbClr val="707070"/>
                </a:solidFill>
                <a:latin typeface="Arial"/>
                <a:ea typeface="Arial"/>
                <a:cs typeface="Arial"/>
              </a:rPr>
              <a:t>riferimenti</a:t>
            </a:r>
            <a:r>
              <a:rPr sz="1650" b="0" dirty="0">
                <a:solidFill>
                  <a:srgbClr val="707070"/>
                </a:solidFill>
                <a:latin typeface="Arial"/>
                <a:ea typeface="Arial"/>
                <a:cs typeface="Arial"/>
              </a:rPr>
              <a:t> </a:t>
            </a:r>
            <a:r>
              <a:rPr sz="1650" b="0" dirty="0" err="1">
                <a:solidFill>
                  <a:srgbClr val="707070"/>
                </a:solidFill>
                <a:latin typeface="Arial"/>
                <a:ea typeface="Arial"/>
                <a:cs typeface="Arial"/>
              </a:rPr>
              <a:t>differenti</a:t>
            </a:r>
            <a:r>
              <a:rPr lang="it-IT" sz="1650" b="0" dirty="0">
                <a:solidFill>
                  <a:srgbClr val="707070"/>
                </a:solidFill>
                <a:latin typeface="Arial"/>
                <a:ea typeface="Arial"/>
                <a:cs typeface="Arial"/>
              </a:rPr>
              <a:t>: effetto di framing</a:t>
            </a:r>
            <a:endParaRPr sz="1650" b="0" dirty="0">
              <a:solidFill>
                <a:srgbClr val="707070"/>
              </a:solidFill>
              <a:latin typeface="Arial"/>
              <a:ea typeface="Arial"/>
              <a:cs typeface="Arial"/>
            </a:endParaRPr>
          </a:p>
        </p:txBody>
      </p:sp>
    </p:spTree>
    <p:extLst>
      <p:ext uri="{BB962C8B-B14F-4D97-AF65-F5344CB8AC3E}">
        <p14:creationId xmlns:p14="http://schemas.microsoft.com/office/powerpoint/2010/main" val="477258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7" name="Sezione">
            <a:extLst>
              <a:ext uri="{FF2B5EF4-FFF2-40B4-BE49-F238E27FC236}">
                <a16:creationId xmlns:a16="http://schemas.microsoft.com/office/drawing/2014/main" id="{47FA95EB-BC00-4745-B618-396F6C7A69F4}"/>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Ipotesi</a:t>
            </a:r>
          </a:p>
        </p:txBody>
      </p:sp>
      <p:sp>
        <p:nvSpPr>
          <p:cNvPr id="2" name="Titolo">
            <a:extLst>
              <a:ext uri="{FF2B5EF4-FFF2-40B4-BE49-F238E27FC236}">
                <a16:creationId xmlns:a16="http://schemas.microsoft.com/office/drawing/2014/main" id="{2FB4E484-5211-4E72-9F2C-D30C112C874D}"/>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H1 · Dominio e ricerca di confronto sociale</a:t>
            </a:r>
          </a:p>
        </p:txBody>
      </p:sp>
      <p:sp>
        <p:nvSpPr>
          <p:cNvPr id="3" name="04">
            <a:extLst>
              <a:ext uri="{FF2B5EF4-FFF2-40B4-BE49-F238E27FC236}">
                <a16:creationId xmlns:a16="http://schemas.microsoft.com/office/drawing/2014/main" id="{1E136A3A-34FF-4C23-94FC-44176A037032}"/>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04</a:t>
            </a:r>
            <a:endParaRPr sz="1425" b="0">
              <a:solidFill>
                <a:srgbClr val="707070"/>
              </a:solidFill>
              <a:latin typeface="Arial"/>
              <a:ea typeface="Arial"/>
              <a:cs typeface="Arial"/>
            </a:endParaRPr>
          </a:p>
        </p:txBody>
      </p:sp>
      <p:pic>
        <p:nvPicPr>
          <p:cNvPr id="4" name="Immagine 3">
            <a:extLst>
              <a:ext uri="{FF2B5EF4-FFF2-40B4-BE49-F238E27FC236}">
                <a16:creationId xmlns:a16="http://schemas.microsoft.com/office/drawing/2014/main" id="{F510142C-15B1-4CCF-AB6F-CE570A6DCC92}"/>
              </a:ext>
            </a:extLst>
          </p:cNvPr>
          <p:cNvPicPr>
            <a:picLocks noChangeAspect="1"/>
          </p:cNvPicPr>
          <p:nvPr/>
        </p:nvPicPr>
        <p:blipFill>
          <a:blip r:embed="rId4"/>
          <a:stretch/>
        </p:blipFill>
        <p:spPr>
          <a:xfrm>
            <a:off x="1104900" y="2632563"/>
            <a:ext cx="9982200" cy="1535723"/>
          </a:xfrm>
          <a:prstGeom prst="rect">
            <a:avLst/>
          </a:prstGeom>
        </p:spPr>
      </p:pic>
      <p:sp>
        <p:nvSpPr>
          <p:cNvPr id="5" name="Previsione: meno ricerca nella perdita">
            <a:extLst>
              <a:ext uri="{FF2B5EF4-FFF2-40B4-BE49-F238E27FC236}">
                <a16:creationId xmlns:a16="http://schemas.microsoft.com/office/drawing/2014/main" id="{0684A37E-A8AA-4885-901E-AB27873C5BBB}"/>
              </a:ext>
            </a:extLst>
          </p:cNvPr>
          <p:cNvSpPr>
            <a:spLocks noGrp="1"/>
          </p:cNvSpPr>
          <p:nvPr/>
        </p:nvSpPr>
        <p:spPr>
          <a:xfrm>
            <a:off x="1104900" y="4791075"/>
            <a:ext cx="9982200" cy="581025"/>
          </a:xfrm>
          <a:prstGeom prst="rect">
            <a:avLst/>
          </a:prstGeom>
          <a:noFill/>
          <a:ln w="0">
            <a:noFill/>
          </a:ln>
        </p:spPr>
        <p:txBody>
          <a:bodyPr wrap="square" lIns="0" tIns="0" rIns="0" bIns="0" anchor="t">
            <a:noAutofit/>
          </a:bodyPr>
          <a:lstStyle>
            <a:defPPr algn="ctr">
              <a:defRPr sz="2550" b="1">
                <a:solidFill>
                  <a:srgbClr val="AA0004"/>
                </a:solidFill>
                <a:latin typeface="Arial"/>
                <a:ea typeface="Arial"/>
                <a:cs typeface="Arial"/>
              </a:defRPr>
            </a:defPPr>
          </a:lstStyle>
          <a:p>
            <a:pPr algn="ctr">
              <a:defRPr sz="2550" b="1">
                <a:solidFill>
                  <a:srgbClr val="AA0004"/>
                </a:solidFill>
                <a:latin typeface="Arial"/>
                <a:ea typeface="Arial"/>
                <a:cs typeface="Arial"/>
              </a:defRPr>
            </a:pPr>
            <a:r>
              <a:rPr sz="2550" b="1">
                <a:solidFill>
                  <a:srgbClr val="AA0004"/>
                </a:solidFill>
                <a:latin typeface="Arial"/>
                <a:ea typeface="Arial"/>
                <a:cs typeface="Arial"/>
              </a:rPr>
              <a:t>Previsione: meno ricerca nella perdita</a:t>
            </a:r>
          </a:p>
        </p:txBody>
      </p:sp>
    </p:spTree>
    <p:extLst>
      <p:ext uri="{BB962C8B-B14F-4D97-AF65-F5344CB8AC3E}">
        <p14:creationId xmlns:p14="http://schemas.microsoft.com/office/powerpoint/2010/main" val="380495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0" name="Sezione">
            <a:extLst>
              <a:ext uri="{FF2B5EF4-FFF2-40B4-BE49-F238E27FC236}">
                <a16:creationId xmlns:a16="http://schemas.microsoft.com/office/drawing/2014/main" id="{815D9FE2-06DA-4BFE-A7B6-4CFB5BBC0139}"/>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Ipotesi</a:t>
            </a:r>
          </a:p>
        </p:txBody>
      </p:sp>
      <p:sp>
        <p:nvSpPr>
          <p:cNvPr id="103" name="Titolo">
            <a:extLst>
              <a:ext uri="{FF2B5EF4-FFF2-40B4-BE49-F238E27FC236}">
                <a16:creationId xmlns:a16="http://schemas.microsoft.com/office/drawing/2014/main" id="{2A2B3C2C-E2D0-41B1-895E-7BED8FCA82DE}"/>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H2 · Modello di mediazione e razionale</a:t>
            </a:r>
          </a:p>
        </p:txBody>
      </p:sp>
      <p:sp>
        <p:nvSpPr>
          <p:cNvPr id="104" name="Numero">
            <a:extLst>
              <a:ext uri="{FF2B5EF4-FFF2-40B4-BE49-F238E27FC236}">
                <a16:creationId xmlns:a16="http://schemas.microsoft.com/office/drawing/2014/main" id="{6866F84C-2EA7-4239-AB2E-C8A8B02E491A}"/>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05</a:t>
            </a:r>
            <a:endParaRPr sz="1425" b="0">
              <a:solidFill>
                <a:srgbClr val="707070"/>
              </a:solidFill>
              <a:latin typeface="Arial"/>
              <a:ea typeface="Arial"/>
              <a:cs typeface="Arial"/>
            </a:endParaRPr>
          </a:p>
        </p:txBody>
      </p:sp>
      <p:sp>
        <p:nvSpPr>
          <p:cNvPr id="105" name="H2a · Più identificazione">
            <a:extLst>
              <a:ext uri="{FF2B5EF4-FFF2-40B4-BE49-F238E27FC236}">
                <a16:creationId xmlns:a16="http://schemas.microsoft.com/office/drawing/2014/main" id="{43E6F7E3-A569-44AD-A6BF-1A2D2038C1C2}"/>
              </a:ext>
            </a:extLst>
          </p:cNvPr>
          <p:cNvSpPr>
            <a:spLocks noGrp="1"/>
          </p:cNvSpPr>
          <p:nvPr/>
        </p:nvSpPr>
        <p:spPr>
          <a:xfrm>
            <a:off x="3162300" y="1714500"/>
            <a:ext cx="2743200" cy="323850"/>
          </a:xfrm>
          <a:prstGeom prst="rect">
            <a:avLst/>
          </a:prstGeom>
          <a:noFill/>
          <a:ln w="0">
            <a:noFill/>
          </a:ln>
        </p:spPr>
        <p:txBody>
          <a:bodyPr wrap="square" lIns="0" tIns="0" rIns="0" bIns="0" anchor="t">
            <a:noAutofit/>
          </a:bodyPr>
          <a:lstStyle>
            <a:defPPr algn="ctr">
              <a:defRPr sz="1800" b="1">
                <a:solidFill>
                  <a:srgbClr val="AA0004"/>
                </a:solidFill>
                <a:latin typeface="Arial"/>
                <a:ea typeface="Arial"/>
                <a:cs typeface="Arial"/>
              </a:defRPr>
            </a:defPPr>
          </a:lstStyle>
          <a:p>
            <a:pPr algn="ctr">
              <a:defRPr sz="1800" b="1">
                <a:solidFill>
                  <a:srgbClr val="AA0004"/>
                </a:solidFill>
                <a:latin typeface="Arial"/>
                <a:ea typeface="Arial"/>
                <a:cs typeface="Arial"/>
              </a:defRPr>
            </a:pPr>
            <a:r>
              <a:rPr sz="1800" b="1">
                <a:solidFill>
                  <a:srgbClr val="AA0004"/>
                </a:solidFill>
                <a:latin typeface="Arial"/>
                <a:ea typeface="Arial"/>
                <a:cs typeface="Arial"/>
              </a:rPr>
              <a:t>H2a · Più identificazione</a:t>
            </a:r>
          </a:p>
        </p:txBody>
      </p:sp>
      <p:sp>
        <p:nvSpPr>
          <p:cNvPr id="106" name="H2b · Meno ricerca">
            <a:extLst>
              <a:ext uri="{FF2B5EF4-FFF2-40B4-BE49-F238E27FC236}">
                <a16:creationId xmlns:a16="http://schemas.microsoft.com/office/drawing/2014/main" id="{260C92A2-0931-423A-AB39-8149E4506C56}"/>
              </a:ext>
            </a:extLst>
          </p:cNvPr>
          <p:cNvSpPr>
            <a:spLocks noGrp="1"/>
          </p:cNvSpPr>
          <p:nvPr/>
        </p:nvSpPr>
        <p:spPr>
          <a:xfrm>
            <a:off x="6657975" y="1714500"/>
            <a:ext cx="2486025" cy="323850"/>
          </a:xfrm>
          <a:prstGeom prst="rect">
            <a:avLst/>
          </a:prstGeom>
          <a:noFill/>
          <a:ln w="0">
            <a:noFill/>
          </a:ln>
        </p:spPr>
        <p:txBody>
          <a:bodyPr wrap="square" lIns="0" tIns="0" rIns="0" bIns="0" anchor="t">
            <a:noAutofit/>
          </a:bodyPr>
          <a:lstStyle>
            <a:defPPr algn="ctr">
              <a:defRPr sz="1800" b="1">
                <a:solidFill>
                  <a:srgbClr val="AA0004"/>
                </a:solidFill>
                <a:latin typeface="Arial"/>
                <a:ea typeface="Arial"/>
                <a:cs typeface="Arial"/>
              </a:defRPr>
            </a:defPPr>
          </a:lstStyle>
          <a:p>
            <a:pPr algn="ctr">
              <a:defRPr sz="1800" b="1">
                <a:solidFill>
                  <a:srgbClr val="AA0004"/>
                </a:solidFill>
                <a:latin typeface="Arial"/>
                <a:ea typeface="Arial"/>
                <a:cs typeface="Arial"/>
              </a:defRPr>
            </a:pPr>
            <a:r>
              <a:rPr sz="1800" b="1">
                <a:solidFill>
                  <a:srgbClr val="AA0004"/>
                </a:solidFill>
                <a:latin typeface="Arial"/>
                <a:ea typeface="Arial"/>
                <a:cs typeface="Arial"/>
              </a:rPr>
              <a:t>H2b · Meno ricerca</a:t>
            </a:r>
          </a:p>
        </p:txBody>
      </p:sp>
      <p:pic>
        <p:nvPicPr>
          <p:cNvPr id="107" name="Immagine 106">
            <a:extLst>
              <a:ext uri="{FF2B5EF4-FFF2-40B4-BE49-F238E27FC236}">
                <a16:creationId xmlns:a16="http://schemas.microsoft.com/office/drawing/2014/main" id="{98344270-A73B-424F-AECE-266C0BFBE0AE}"/>
              </a:ext>
            </a:extLst>
          </p:cNvPr>
          <p:cNvPicPr>
            <a:picLocks noChangeAspect="1"/>
          </p:cNvPicPr>
          <p:nvPr/>
        </p:nvPicPr>
        <p:blipFill>
          <a:blip r:embed="rId4"/>
          <a:stretch/>
        </p:blipFill>
        <p:spPr>
          <a:xfrm>
            <a:off x="1452563" y="2076450"/>
            <a:ext cx="9286875" cy="1428750"/>
          </a:xfrm>
          <a:prstGeom prst="rect">
            <a:avLst/>
          </a:prstGeom>
        </p:spPr>
      </p:pic>
      <p:sp>
        <p:nvSpPr>
          <p:cNvPr id="114" name="Connettore diritto 113">
            <a:extLst>
              <a:ext uri="{FF2B5EF4-FFF2-40B4-BE49-F238E27FC236}">
                <a16:creationId xmlns:a16="http://schemas.microsoft.com/office/drawing/2014/main" id="{6A3E6ED8-79A8-4F2B-85D8-F281B4234D4D}"/>
              </a:ext>
            </a:extLst>
          </p:cNvPr>
          <p:cNvSpPr>
            <a:spLocks noGrp="1"/>
          </p:cNvSpPr>
          <p:nvPr/>
        </p:nvSpPr>
        <p:spPr>
          <a:xfrm>
            <a:off x="742950" y="5600700"/>
            <a:ext cx="10706100" cy="0"/>
          </a:xfrm>
          <a:prstGeom prst="line">
            <a:avLst/>
          </a:prstGeom>
          <a:noFill/>
          <a:ln w="14288">
            <a:solidFill>
              <a:srgbClr val="C4C4C4"/>
            </a:solidFill>
          </a:ln>
        </p:spPr>
        <p:txBody>
          <a:bodyPr/>
          <a:lstStyle/>
          <a:p>
            <a:endParaRPr lang="it-IT"/>
          </a:p>
        </p:txBody>
      </p:sp>
      <p:sp>
        <p:nvSpPr>
          <p:cNvPr id="115" name="Risposta empatica, disagio e intenzione di evitare: meccanis">
            <a:extLst>
              <a:ext uri="{FF2B5EF4-FFF2-40B4-BE49-F238E27FC236}">
                <a16:creationId xmlns:a16="http://schemas.microsoft.com/office/drawing/2014/main" id="{21E7B4E2-62DA-4E4A-9E4B-493E8B72248A}"/>
              </a:ext>
            </a:extLst>
          </p:cNvPr>
          <p:cNvSpPr>
            <a:spLocks noGrp="1"/>
          </p:cNvSpPr>
          <p:nvPr/>
        </p:nvSpPr>
        <p:spPr>
          <a:xfrm>
            <a:off x="742950" y="5753100"/>
            <a:ext cx="10706100" cy="304800"/>
          </a:xfrm>
          <a:prstGeom prst="rect">
            <a:avLst/>
          </a:prstGeom>
          <a:noFill/>
          <a:ln w="0">
            <a:noFill/>
          </a:ln>
        </p:spPr>
        <p:txBody>
          <a:bodyPr wrap="square" lIns="0" tIns="0" rIns="0" bIns="0" anchor="t">
            <a:noAutofit/>
          </a:bodyPr>
          <a:lstStyle>
            <a:defPPr algn="l">
              <a:defRPr sz="1725" b="0">
                <a:solidFill>
                  <a:srgbClr val="707070"/>
                </a:solidFill>
                <a:latin typeface="Arial"/>
                <a:ea typeface="Arial"/>
                <a:cs typeface="Arial"/>
              </a:defRPr>
            </a:defPPr>
          </a:lstStyle>
          <a:p>
            <a:pPr algn="l">
              <a:defRPr sz="1725" b="0">
                <a:solidFill>
                  <a:srgbClr val="707070"/>
                </a:solidFill>
                <a:latin typeface="Arial"/>
                <a:ea typeface="Arial"/>
                <a:cs typeface="Arial"/>
              </a:defRPr>
            </a:pPr>
            <a:r>
              <a:rPr sz="1725" b="0">
                <a:solidFill>
                  <a:srgbClr val="707070"/>
                </a:solidFill>
                <a:latin typeface="Arial"/>
                <a:ea typeface="Arial"/>
                <a:cs typeface="Arial"/>
              </a:rPr>
              <a:t>Risposta empatica, disagio e intenzione di evitare: meccanismi non misurati</a:t>
            </a:r>
          </a:p>
        </p:txBody>
      </p:sp>
      <p:sp>
        <p:nvSpPr>
          <p:cNvPr id="116" name="Maki et al. (2019); Drury et al. (2016); Hein et al. (2010);">
            <a:extLst>
              <a:ext uri="{FF2B5EF4-FFF2-40B4-BE49-F238E27FC236}">
                <a16:creationId xmlns:a16="http://schemas.microsoft.com/office/drawing/2014/main" id="{3C519BD0-8F03-43C6-AF66-E779E3E0FD48}"/>
              </a:ext>
            </a:extLst>
          </p:cNvPr>
          <p:cNvSpPr>
            <a:spLocks noGrp="1"/>
          </p:cNvSpPr>
          <p:nvPr/>
        </p:nvSpPr>
        <p:spPr>
          <a:xfrm>
            <a:off x="742950" y="6143625"/>
            <a:ext cx="10706100" cy="238125"/>
          </a:xfrm>
          <a:prstGeom prst="rect">
            <a:avLst/>
          </a:prstGeom>
          <a:noFill/>
          <a:ln w="0">
            <a:noFill/>
          </a:ln>
        </p:spPr>
        <p:txBody>
          <a:bodyPr wrap="square" lIns="0" tIns="0" rIns="0" bIns="0" anchor="t">
            <a:noAutofit/>
          </a:bodyPr>
          <a:lstStyle>
            <a:defPPr algn="l">
              <a:defRPr sz="1275" b="0">
                <a:solidFill>
                  <a:srgbClr val="707070"/>
                </a:solidFill>
                <a:latin typeface="Arial"/>
                <a:ea typeface="Arial"/>
                <a:cs typeface="Arial"/>
              </a:defRPr>
            </a:defPPr>
          </a:lstStyle>
          <a:p>
            <a:pPr algn="l">
              <a:defRPr sz="1275" b="0">
                <a:solidFill>
                  <a:srgbClr val="707070"/>
                </a:solidFill>
                <a:latin typeface="Arial"/>
                <a:ea typeface="Arial"/>
                <a:cs typeface="Arial"/>
              </a:defRPr>
            </a:pPr>
            <a:r>
              <a:rPr lang="it-IT" sz="1275" dirty="0">
                <a:solidFill>
                  <a:srgbClr val="707070"/>
                </a:solidFill>
                <a:latin typeface="Arial"/>
                <a:ea typeface="Arial"/>
                <a:cs typeface="Arial"/>
              </a:rPr>
              <a:t>Razionale di H2b: </a:t>
            </a:r>
            <a:r>
              <a:rPr sz="1275" b="0" dirty="0">
                <a:solidFill>
                  <a:srgbClr val="707070"/>
                </a:solidFill>
                <a:latin typeface="Arial"/>
                <a:ea typeface="Arial"/>
                <a:cs typeface="Arial"/>
              </a:rPr>
              <a:t>Hein et al. (2010); Singer &amp; </a:t>
            </a:r>
            <a:r>
              <a:rPr sz="1275" b="0" dirty="0" err="1">
                <a:solidFill>
                  <a:srgbClr val="707070"/>
                </a:solidFill>
                <a:latin typeface="Arial"/>
                <a:ea typeface="Arial"/>
                <a:cs typeface="Arial"/>
              </a:rPr>
              <a:t>Klimecki</a:t>
            </a:r>
            <a:r>
              <a:rPr sz="1275" b="0" dirty="0">
                <a:solidFill>
                  <a:srgbClr val="707070"/>
                </a:solidFill>
                <a:latin typeface="Arial"/>
                <a:ea typeface="Arial"/>
                <a:cs typeface="Arial"/>
              </a:rPr>
              <a:t> (2014)</a:t>
            </a:r>
          </a:p>
        </p:txBody>
      </p:sp>
      <p:sp>
        <p:nvSpPr>
          <p:cNvPr id="500" name="Razionale H2b">
            <a:extLst>
              <a:ext uri="{FF2B5EF4-FFF2-40B4-BE49-F238E27FC236}">
                <a16:creationId xmlns:a16="http://schemas.microsoft.com/office/drawing/2014/main" id="{19A71DC5-7561-47FF-BA5B-3556FFECBEA4}"/>
              </a:ext>
            </a:extLst>
          </p:cNvPr>
          <p:cNvSpPr>
            <a:spLocks noGrp="1"/>
          </p:cNvSpPr>
          <p:nvPr/>
        </p:nvSpPr>
        <p:spPr>
          <a:xfrm>
            <a:off x="742950" y="3743325"/>
            <a:ext cx="10706100" cy="323850"/>
          </a:xfrm>
          <a:prstGeom prst="rect">
            <a:avLst/>
          </a:prstGeom>
          <a:noFill/>
          <a:ln w="0">
            <a:noFill/>
          </a:ln>
        </p:spPr>
        <p:txBody>
          <a:bodyPr wrap="square" lIns="0" tIns="0" rIns="0" bIns="0" anchor="t">
            <a:noAutofit/>
          </a:bodyPr>
          <a:lstStyle>
            <a:defPPr algn="l">
              <a:defRPr sz="1950" b="1">
                <a:solidFill>
                  <a:srgbClr val="AA0004"/>
                </a:solidFill>
                <a:latin typeface="Arial"/>
                <a:ea typeface="Arial"/>
                <a:cs typeface="Arial"/>
              </a:defRPr>
            </a:defPPr>
          </a:lstStyle>
          <a:p>
            <a:pPr algn="l">
              <a:defRPr sz="1950" b="1">
                <a:solidFill>
                  <a:srgbClr val="AA0004"/>
                </a:solidFill>
                <a:latin typeface="Arial"/>
                <a:ea typeface="Arial"/>
                <a:cs typeface="Arial"/>
              </a:defRPr>
            </a:pPr>
            <a:r>
              <a:rPr sz="1950" b="1">
                <a:solidFill>
                  <a:srgbClr val="AA0004"/>
                </a:solidFill>
                <a:latin typeface="Arial"/>
                <a:ea typeface="Arial"/>
                <a:cs typeface="Arial"/>
              </a:rPr>
              <a:t>Razionale di H2b</a:t>
            </a:r>
          </a:p>
        </p:txBody>
      </p:sp>
      <p:sp>
        <p:nvSpPr>
          <p:cNvPr id="700" name="Nodo Identificazione">
            <a:extLst>
              <a:ext uri="{FF2B5EF4-FFF2-40B4-BE49-F238E27FC236}">
                <a16:creationId xmlns:a16="http://schemas.microsoft.com/office/drawing/2014/main" id="{73088928-A91E-4EAA-A8D8-FD7CE83B7160}"/>
              </a:ext>
            </a:extLst>
          </p:cNvPr>
          <p:cNvSpPr>
            <a:spLocks noGrp="1"/>
          </p:cNvSpPr>
          <p:nvPr/>
        </p:nvSpPr>
        <p:spPr>
          <a:xfrm>
            <a:off x="742950" y="4581525"/>
            <a:ext cx="1733550" cy="857250"/>
          </a:xfrm>
          <a:prstGeom prst="roundRect">
            <a:avLst>
              <a:gd name="adj" fmla="val 11111"/>
            </a:avLst>
          </a:prstGeom>
          <a:solidFill>
            <a:srgbClr val="F1F1F1"/>
          </a:solidFill>
          <a:ln w="14288">
            <a:solidFill>
              <a:srgbClr val="969696"/>
            </a:solidFill>
          </a:ln>
        </p:spPr>
        <p:txBody>
          <a:bodyPr/>
          <a:lstStyle/>
          <a:p>
            <a:endParaRPr lang="it-IT"/>
          </a:p>
        </p:txBody>
      </p:sp>
      <p:sp>
        <p:nvSpPr>
          <p:cNvPr id="701" name="Identificazione">
            <a:extLst>
              <a:ext uri="{FF2B5EF4-FFF2-40B4-BE49-F238E27FC236}">
                <a16:creationId xmlns:a16="http://schemas.microsoft.com/office/drawing/2014/main" id="{CB2E62CD-1075-4436-A9A5-2A7C40473BCF}"/>
              </a:ext>
            </a:extLst>
          </p:cNvPr>
          <p:cNvSpPr>
            <a:spLocks noGrp="1"/>
          </p:cNvSpPr>
          <p:nvPr/>
        </p:nvSpPr>
        <p:spPr>
          <a:xfrm>
            <a:off x="809625" y="4648200"/>
            <a:ext cx="1600200" cy="723900"/>
          </a:xfrm>
          <a:prstGeom prst="rect">
            <a:avLst/>
          </a:prstGeom>
          <a:noFill/>
          <a:ln w="0">
            <a:noFill/>
          </a:ln>
        </p:spPr>
        <p:txBody>
          <a:bodyPr wrap="square" lIns="0" tIns="0" rIns="0" bIns="0" anchor="ctr">
            <a:noAutofit/>
          </a:bodyPr>
          <a:lstStyle>
            <a:defPPr algn="ctr">
              <a:defRPr sz="1650" b="1">
                <a:solidFill>
                  <a:srgbClr val="414141"/>
                </a:solidFill>
                <a:latin typeface="Arial"/>
                <a:ea typeface="Arial"/>
                <a:cs typeface="Arial"/>
              </a:defRPr>
            </a:defPPr>
          </a:lstStyle>
          <a:p>
            <a:pPr algn="ctr">
              <a:defRPr sz="1650" b="1">
                <a:solidFill>
                  <a:srgbClr val="414141"/>
                </a:solidFill>
                <a:latin typeface="Arial"/>
                <a:ea typeface="Arial"/>
                <a:cs typeface="Arial"/>
              </a:defRPr>
            </a:pPr>
            <a:r>
              <a:rPr sz="1650" b="1">
                <a:solidFill>
                  <a:srgbClr val="414141"/>
                </a:solidFill>
                <a:latin typeface="Arial"/>
                <a:ea typeface="Arial"/>
                <a:cs typeface="Arial"/>
              </a:rPr>
              <a:t>Identificazione</a:t>
            </a:r>
          </a:p>
        </p:txBody>
      </p:sp>
      <p:sp>
        <p:nvSpPr>
          <p:cNvPr id="702" name="Freccia 1">
            <a:extLst>
              <a:ext uri="{FF2B5EF4-FFF2-40B4-BE49-F238E27FC236}">
                <a16:creationId xmlns:a16="http://schemas.microsoft.com/office/drawing/2014/main" id="{5ECEBA91-ABAE-4250-BD79-F770F85D31C4}"/>
              </a:ext>
            </a:extLst>
          </p:cNvPr>
          <p:cNvSpPr>
            <a:spLocks noGrp="1"/>
          </p:cNvSpPr>
          <p:nvPr/>
        </p:nvSpPr>
        <p:spPr>
          <a:xfrm>
            <a:off x="2590800" y="4914900"/>
            <a:ext cx="266700" cy="190500"/>
          </a:xfrm>
          <a:prstGeom prst="rightArrow">
            <a:avLst/>
          </a:prstGeom>
          <a:solidFill>
            <a:srgbClr val="707070"/>
          </a:solidFill>
          <a:ln w="0">
            <a:noFill/>
          </a:ln>
        </p:spPr>
        <p:txBody>
          <a:bodyPr/>
          <a:lstStyle/>
          <a:p>
            <a:endParaRPr lang="it-IT"/>
          </a:p>
        </p:txBody>
      </p:sp>
      <p:sp>
        <p:nvSpPr>
          <p:cNvPr id="703" name="Nodo Risposta empatica">
            <a:extLst>
              <a:ext uri="{FF2B5EF4-FFF2-40B4-BE49-F238E27FC236}">
                <a16:creationId xmlns:a16="http://schemas.microsoft.com/office/drawing/2014/main" id="{CA8525FF-1A59-4B88-9491-FA49CC661FCF}"/>
              </a:ext>
            </a:extLst>
          </p:cNvPr>
          <p:cNvSpPr>
            <a:spLocks noGrp="1"/>
          </p:cNvSpPr>
          <p:nvPr/>
        </p:nvSpPr>
        <p:spPr>
          <a:xfrm>
            <a:off x="2971800" y="4581525"/>
            <a:ext cx="1733550" cy="857250"/>
          </a:xfrm>
          <a:prstGeom prst="roundRect">
            <a:avLst>
              <a:gd name="adj" fmla="val 11111"/>
            </a:avLst>
          </a:prstGeom>
          <a:solidFill>
            <a:srgbClr val="F1F1F1"/>
          </a:solidFill>
          <a:ln w="14288">
            <a:solidFill>
              <a:srgbClr val="969696"/>
            </a:solidFill>
          </a:ln>
        </p:spPr>
        <p:txBody>
          <a:bodyPr/>
          <a:lstStyle/>
          <a:p>
            <a:endParaRPr lang="it-IT"/>
          </a:p>
        </p:txBody>
      </p:sp>
      <p:sp>
        <p:nvSpPr>
          <p:cNvPr id="704" name="Risposta empatica">
            <a:extLst>
              <a:ext uri="{FF2B5EF4-FFF2-40B4-BE49-F238E27FC236}">
                <a16:creationId xmlns:a16="http://schemas.microsoft.com/office/drawing/2014/main" id="{DBBBEC19-A282-4BAD-B2F1-93CF52E00E36}"/>
              </a:ext>
            </a:extLst>
          </p:cNvPr>
          <p:cNvSpPr>
            <a:spLocks noGrp="1"/>
          </p:cNvSpPr>
          <p:nvPr/>
        </p:nvSpPr>
        <p:spPr>
          <a:xfrm>
            <a:off x="3038475" y="4648200"/>
            <a:ext cx="1600200" cy="723900"/>
          </a:xfrm>
          <a:prstGeom prst="rect">
            <a:avLst/>
          </a:prstGeom>
          <a:noFill/>
          <a:ln w="0">
            <a:noFill/>
          </a:ln>
        </p:spPr>
        <p:txBody>
          <a:bodyPr wrap="square" lIns="0" tIns="0" rIns="0" bIns="0" anchor="ctr">
            <a:noAutofit/>
          </a:bodyPr>
          <a:lstStyle>
            <a:defPPr algn="ctr">
              <a:defRPr sz="1725" b="1">
                <a:solidFill>
                  <a:srgbClr val="414141"/>
                </a:solidFill>
                <a:latin typeface="Arial"/>
                <a:ea typeface="Arial"/>
                <a:cs typeface="Arial"/>
              </a:defRPr>
            </a:defPPr>
          </a:lstStyle>
          <a:p>
            <a:pPr algn="ctr">
              <a:defRPr sz="1725" b="1">
                <a:solidFill>
                  <a:srgbClr val="414141"/>
                </a:solidFill>
                <a:latin typeface="Arial"/>
                <a:ea typeface="Arial"/>
                <a:cs typeface="Arial"/>
              </a:defRPr>
            </a:pPr>
            <a:r>
              <a:rPr sz="1725" b="1">
                <a:solidFill>
                  <a:srgbClr val="414141"/>
                </a:solidFill>
                <a:latin typeface="Arial"/>
                <a:ea typeface="Arial"/>
                <a:cs typeface="Arial"/>
              </a:rPr>
              <a:t>Risposta</a:t>
            </a:r>
          </a:p>
          <a:p>
            <a:pPr algn="ctr">
              <a:defRPr sz="1725" b="1">
                <a:solidFill>
                  <a:srgbClr val="414141"/>
                </a:solidFill>
                <a:latin typeface="Arial"/>
                <a:ea typeface="Arial"/>
                <a:cs typeface="Arial"/>
              </a:defRPr>
            </a:pPr>
            <a:r>
              <a:rPr sz="1725" b="1">
                <a:solidFill>
                  <a:srgbClr val="414141"/>
                </a:solidFill>
                <a:latin typeface="Arial"/>
                <a:ea typeface="Arial"/>
                <a:cs typeface="Arial"/>
              </a:rPr>
              <a:t>empatica</a:t>
            </a:r>
          </a:p>
        </p:txBody>
      </p:sp>
      <p:sp>
        <p:nvSpPr>
          <p:cNvPr id="705" name="Freccia 2">
            <a:extLst>
              <a:ext uri="{FF2B5EF4-FFF2-40B4-BE49-F238E27FC236}">
                <a16:creationId xmlns:a16="http://schemas.microsoft.com/office/drawing/2014/main" id="{051EB712-ED59-41D9-9957-6EA12E4EBE55}"/>
              </a:ext>
            </a:extLst>
          </p:cNvPr>
          <p:cNvSpPr>
            <a:spLocks noGrp="1"/>
          </p:cNvSpPr>
          <p:nvPr/>
        </p:nvSpPr>
        <p:spPr>
          <a:xfrm>
            <a:off x="4819650" y="4914900"/>
            <a:ext cx="266700" cy="190500"/>
          </a:xfrm>
          <a:prstGeom prst="rightArrow">
            <a:avLst/>
          </a:prstGeom>
          <a:solidFill>
            <a:srgbClr val="707070"/>
          </a:solidFill>
          <a:ln w="0">
            <a:noFill/>
          </a:ln>
        </p:spPr>
        <p:txBody>
          <a:bodyPr/>
          <a:lstStyle/>
          <a:p>
            <a:endParaRPr lang="it-IT"/>
          </a:p>
        </p:txBody>
      </p:sp>
      <p:sp>
        <p:nvSpPr>
          <p:cNvPr id="706" name="Nodo Disagio personale">
            <a:extLst>
              <a:ext uri="{FF2B5EF4-FFF2-40B4-BE49-F238E27FC236}">
                <a16:creationId xmlns:a16="http://schemas.microsoft.com/office/drawing/2014/main" id="{00367781-E3D6-4AF2-9746-49B42EA0AD66}"/>
              </a:ext>
            </a:extLst>
          </p:cNvPr>
          <p:cNvSpPr>
            <a:spLocks noGrp="1"/>
          </p:cNvSpPr>
          <p:nvPr/>
        </p:nvSpPr>
        <p:spPr>
          <a:xfrm>
            <a:off x="5200650" y="4581525"/>
            <a:ext cx="1733550" cy="857250"/>
          </a:xfrm>
          <a:prstGeom prst="roundRect">
            <a:avLst>
              <a:gd name="adj" fmla="val 11111"/>
            </a:avLst>
          </a:prstGeom>
          <a:solidFill>
            <a:srgbClr val="F1F1F1"/>
          </a:solidFill>
          <a:ln w="14288">
            <a:solidFill>
              <a:srgbClr val="969696"/>
            </a:solidFill>
          </a:ln>
        </p:spPr>
        <p:txBody>
          <a:bodyPr/>
          <a:lstStyle/>
          <a:p>
            <a:endParaRPr lang="it-IT"/>
          </a:p>
        </p:txBody>
      </p:sp>
      <p:sp>
        <p:nvSpPr>
          <p:cNvPr id="707" name="Disagio personale">
            <a:extLst>
              <a:ext uri="{FF2B5EF4-FFF2-40B4-BE49-F238E27FC236}">
                <a16:creationId xmlns:a16="http://schemas.microsoft.com/office/drawing/2014/main" id="{5FFCD5EE-010B-4E55-8A98-384609083051}"/>
              </a:ext>
            </a:extLst>
          </p:cNvPr>
          <p:cNvSpPr>
            <a:spLocks noGrp="1"/>
          </p:cNvSpPr>
          <p:nvPr/>
        </p:nvSpPr>
        <p:spPr>
          <a:xfrm>
            <a:off x="5267325" y="4648200"/>
            <a:ext cx="1600200" cy="723900"/>
          </a:xfrm>
          <a:prstGeom prst="rect">
            <a:avLst/>
          </a:prstGeom>
          <a:noFill/>
          <a:ln w="0">
            <a:noFill/>
          </a:ln>
        </p:spPr>
        <p:txBody>
          <a:bodyPr wrap="square" lIns="0" tIns="0" rIns="0" bIns="0" anchor="ctr">
            <a:noAutofit/>
          </a:bodyPr>
          <a:lstStyle>
            <a:defPPr algn="ctr">
              <a:defRPr sz="1725" b="1">
                <a:solidFill>
                  <a:srgbClr val="414141"/>
                </a:solidFill>
                <a:latin typeface="Arial"/>
                <a:ea typeface="Arial"/>
                <a:cs typeface="Arial"/>
              </a:defRPr>
            </a:defPPr>
          </a:lstStyle>
          <a:p>
            <a:pPr algn="ctr">
              <a:defRPr sz="1725" b="1">
                <a:solidFill>
                  <a:srgbClr val="414141"/>
                </a:solidFill>
                <a:latin typeface="Arial"/>
                <a:ea typeface="Arial"/>
                <a:cs typeface="Arial"/>
              </a:defRPr>
            </a:pPr>
            <a:r>
              <a:rPr sz="1725" b="1">
                <a:solidFill>
                  <a:srgbClr val="414141"/>
                </a:solidFill>
                <a:latin typeface="Arial"/>
                <a:ea typeface="Arial"/>
                <a:cs typeface="Arial"/>
              </a:rPr>
              <a:t>Disagio</a:t>
            </a:r>
          </a:p>
          <a:p>
            <a:pPr algn="ctr">
              <a:defRPr sz="1725" b="1">
                <a:solidFill>
                  <a:srgbClr val="414141"/>
                </a:solidFill>
                <a:latin typeface="Arial"/>
                <a:ea typeface="Arial"/>
                <a:cs typeface="Arial"/>
              </a:defRPr>
            </a:pPr>
            <a:r>
              <a:rPr sz="1725" b="1">
                <a:solidFill>
                  <a:srgbClr val="414141"/>
                </a:solidFill>
                <a:latin typeface="Arial"/>
                <a:ea typeface="Arial"/>
                <a:cs typeface="Arial"/>
              </a:rPr>
              <a:t>personale</a:t>
            </a:r>
          </a:p>
        </p:txBody>
      </p:sp>
      <p:sp>
        <p:nvSpPr>
          <p:cNvPr id="708" name="Freccia 3">
            <a:extLst>
              <a:ext uri="{FF2B5EF4-FFF2-40B4-BE49-F238E27FC236}">
                <a16:creationId xmlns:a16="http://schemas.microsoft.com/office/drawing/2014/main" id="{8B160327-B42C-4D75-A4DE-1791321D2321}"/>
              </a:ext>
            </a:extLst>
          </p:cNvPr>
          <p:cNvSpPr>
            <a:spLocks noGrp="1"/>
          </p:cNvSpPr>
          <p:nvPr/>
        </p:nvSpPr>
        <p:spPr>
          <a:xfrm>
            <a:off x="7048500" y="4914900"/>
            <a:ext cx="266700" cy="190500"/>
          </a:xfrm>
          <a:prstGeom prst="rightArrow">
            <a:avLst/>
          </a:prstGeom>
          <a:solidFill>
            <a:srgbClr val="707070"/>
          </a:solidFill>
          <a:ln w="0">
            <a:noFill/>
          </a:ln>
        </p:spPr>
        <p:txBody>
          <a:bodyPr/>
          <a:lstStyle/>
          <a:p>
            <a:endParaRPr lang="it-IT"/>
          </a:p>
        </p:txBody>
      </p:sp>
      <p:sp>
        <p:nvSpPr>
          <p:cNvPr id="709" name="Nodo Evitamento delle informazioni">
            <a:extLst>
              <a:ext uri="{FF2B5EF4-FFF2-40B4-BE49-F238E27FC236}">
                <a16:creationId xmlns:a16="http://schemas.microsoft.com/office/drawing/2014/main" id="{AF8FB065-BAAB-4CA0-9BC9-775FFA5CBA89}"/>
              </a:ext>
            </a:extLst>
          </p:cNvPr>
          <p:cNvSpPr>
            <a:spLocks noGrp="1"/>
          </p:cNvSpPr>
          <p:nvPr/>
        </p:nvSpPr>
        <p:spPr>
          <a:xfrm>
            <a:off x="7429500" y="4581525"/>
            <a:ext cx="1733550" cy="857250"/>
          </a:xfrm>
          <a:prstGeom prst="roundRect">
            <a:avLst>
              <a:gd name="adj" fmla="val 11111"/>
            </a:avLst>
          </a:prstGeom>
          <a:solidFill>
            <a:srgbClr val="F1F1F1"/>
          </a:solidFill>
          <a:ln w="14288">
            <a:solidFill>
              <a:srgbClr val="969696"/>
            </a:solidFill>
          </a:ln>
        </p:spPr>
        <p:txBody>
          <a:bodyPr/>
          <a:lstStyle/>
          <a:p>
            <a:endParaRPr lang="it-IT"/>
          </a:p>
        </p:txBody>
      </p:sp>
      <p:sp>
        <p:nvSpPr>
          <p:cNvPr id="710" name="Evitamento delle informazioni">
            <a:extLst>
              <a:ext uri="{FF2B5EF4-FFF2-40B4-BE49-F238E27FC236}">
                <a16:creationId xmlns:a16="http://schemas.microsoft.com/office/drawing/2014/main" id="{C76892A3-7E4D-4946-8A8F-375F81E5B3D1}"/>
              </a:ext>
            </a:extLst>
          </p:cNvPr>
          <p:cNvSpPr>
            <a:spLocks noGrp="1"/>
          </p:cNvSpPr>
          <p:nvPr/>
        </p:nvSpPr>
        <p:spPr>
          <a:xfrm>
            <a:off x="7496175" y="4648200"/>
            <a:ext cx="1600200" cy="723900"/>
          </a:xfrm>
          <a:prstGeom prst="rect">
            <a:avLst/>
          </a:prstGeom>
          <a:noFill/>
          <a:ln w="0">
            <a:noFill/>
          </a:ln>
        </p:spPr>
        <p:txBody>
          <a:bodyPr wrap="square" lIns="0" tIns="0" rIns="0" bIns="0" anchor="ctr">
            <a:noAutofit/>
          </a:bodyPr>
          <a:lstStyle>
            <a:defPPr algn="ctr">
              <a:defRPr sz="1725" b="1">
                <a:solidFill>
                  <a:srgbClr val="414141"/>
                </a:solidFill>
                <a:latin typeface="Arial"/>
                <a:ea typeface="Arial"/>
                <a:cs typeface="Arial"/>
              </a:defRPr>
            </a:defPPr>
          </a:lstStyle>
          <a:p>
            <a:pPr algn="ctr">
              <a:defRPr sz="1725" b="1">
                <a:solidFill>
                  <a:srgbClr val="414141"/>
                </a:solidFill>
                <a:latin typeface="Arial"/>
                <a:ea typeface="Arial"/>
                <a:cs typeface="Arial"/>
              </a:defRPr>
            </a:pPr>
            <a:r>
              <a:rPr sz="1725" b="1">
                <a:solidFill>
                  <a:srgbClr val="414141"/>
                </a:solidFill>
                <a:latin typeface="Arial"/>
                <a:ea typeface="Arial"/>
                <a:cs typeface="Arial"/>
              </a:rPr>
              <a:t>Evitamento</a:t>
            </a:r>
          </a:p>
          <a:p>
            <a:pPr algn="ctr">
              <a:defRPr sz="1725" b="1">
                <a:solidFill>
                  <a:srgbClr val="414141"/>
                </a:solidFill>
                <a:latin typeface="Arial"/>
                <a:ea typeface="Arial"/>
                <a:cs typeface="Arial"/>
              </a:defRPr>
            </a:pPr>
            <a:r>
              <a:rPr sz="1725" b="1">
                <a:solidFill>
                  <a:srgbClr val="414141"/>
                </a:solidFill>
                <a:latin typeface="Arial"/>
                <a:ea typeface="Arial"/>
                <a:cs typeface="Arial"/>
              </a:rPr>
              <a:t>delle</a:t>
            </a:r>
          </a:p>
          <a:p>
            <a:pPr algn="ctr">
              <a:defRPr sz="1725" b="1">
                <a:solidFill>
                  <a:srgbClr val="414141"/>
                </a:solidFill>
                <a:latin typeface="Arial"/>
                <a:ea typeface="Arial"/>
                <a:cs typeface="Arial"/>
              </a:defRPr>
            </a:pPr>
            <a:r>
              <a:rPr sz="1725" b="1">
                <a:solidFill>
                  <a:srgbClr val="414141"/>
                </a:solidFill>
                <a:latin typeface="Arial"/>
                <a:ea typeface="Arial"/>
                <a:cs typeface="Arial"/>
              </a:rPr>
              <a:t>informazioni</a:t>
            </a:r>
          </a:p>
        </p:txBody>
      </p:sp>
      <p:sp>
        <p:nvSpPr>
          <p:cNvPr id="711" name="Freccia 4">
            <a:extLst>
              <a:ext uri="{FF2B5EF4-FFF2-40B4-BE49-F238E27FC236}">
                <a16:creationId xmlns:a16="http://schemas.microsoft.com/office/drawing/2014/main" id="{5BE043F2-4DD4-48DD-9846-625748469E8A}"/>
              </a:ext>
            </a:extLst>
          </p:cNvPr>
          <p:cNvSpPr>
            <a:spLocks noGrp="1"/>
          </p:cNvSpPr>
          <p:nvPr/>
        </p:nvSpPr>
        <p:spPr>
          <a:xfrm>
            <a:off x="9277350" y="4914900"/>
            <a:ext cx="266700" cy="190500"/>
          </a:xfrm>
          <a:prstGeom prst="rightArrow">
            <a:avLst/>
          </a:prstGeom>
          <a:solidFill>
            <a:srgbClr val="707070"/>
          </a:solidFill>
          <a:ln w="0">
            <a:noFill/>
          </a:ln>
        </p:spPr>
        <p:txBody>
          <a:bodyPr/>
          <a:lstStyle/>
          <a:p>
            <a:endParaRPr lang="it-IT"/>
          </a:p>
        </p:txBody>
      </p:sp>
      <p:sp>
        <p:nvSpPr>
          <p:cNvPr id="712" name="Nodo Minore ricerca di confronto sociale">
            <a:extLst>
              <a:ext uri="{FF2B5EF4-FFF2-40B4-BE49-F238E27FC236}">
                <a16:creationId xmlns:a16="http://schemas.microsoft.com/office/drawing/2014/main" id="{89A5D118-691D-4E00-B403-3F3CF205E666}"/>
              </a:ext>
            </a:extLst>
          </p:cNvPr>
          <p:cNvSpPr>
            <a:spLocks noGrp="1"/>
          </p:cNvSpPr>
          <p:nvPr/>
        </p:nvSpPr>
        <p:spPr>
          <a:xfrm>
            <a:off x="9658350" y="4581525"/>
            <a:ext cx="1790700" cy="857250"/>
          </a:xfrm>
          <a:prstGeom prst="roundRect">
            <a:avLst>
              <a:gd name="adj" fmla="val 11111"/>
            </a:avLst>
          </a:prstGeom>
          <a:solidFill>
            <a:srgbClr val="F1F1F1"/>
          </a:solidFill>
          <a:ln w="14288">
            <a:solidFill>
              <a:srgbClr val="AA0004"/>
            </a:solidFill>
          </a:ln>
        </p:spPr>
        <p:txBody>
          <a:bodyPr/>
          <a:lstStyle/>
          <a:p>
            <a:endParaRPr lang="it-IT"/>
          </a:p>
        </p:txBody>
      </p:sp>
      <p:sp>
        <p:nvSpPr>
          <p:cNvPr id="713" name="Minore ricerca di confronto sociale">
            <a:extLst>
              <a:ext uri="{FF2B5EF4-FFF2-40B4-BE49-F238E27FC236}">
                <a16:creationId xmlns:a16="http://schemas.microsoft.com/office/drawing/2014/main" id="{A2A6FE31-DC69-4618-A90C-B9A752C08BCA}"/>
              </a:ext>
            </a:extLst>
          </p:cNvPr>
          <p:cNvSpPr>
            <a:spLocks noGrp="1"/>
          </p:cNvSpPr>
          <p:nvPr/>
        </p:nvSpPr>
        <p:spPr>
          <a:xfrm>
            <a:off x="9725025" y="4648200"/>
            <a:ext cx="1657350" cy="723900"/>
          </a:xfrm>
          <a:prstGeom prst="rect">
            <a:avLst/>
          </a:prstGeom>
          <a:noFill/>
          <a:ln w="0">
            <a:noFill/>
          </a:ln>
        </p:spPr>
        <p:txBody>
          <a:bodyPr wrap="square" lIns="0" tIns="0" rIns="0" bIns="0" anchor="ctr">
            <a:noAutofit/>
          </a:bodyPr>
          <a:lstStyle>
            <a:defPPr algn="ctr">
              <a:defRPr sz="1725" b="1">
                <a:solidFill>
                  <a:srgbClr val="AA0004"/>
                </a:solidFill>
                <a:latin typeface="Arial"/>
                <a:ea typeface="Arial"/>
                <a:cs typeface="Arial"/>
              </a:defRPr>
            </a:defPPr>
          </a:lstStyle>
          <a:p>
            <a:pPr algn="ctr">
              <a:defRPr sz="1725" b="1">
                <a:solidFill>
                  <a:srgbClr val="AA0004"/>
                </a:solidFill>
                <a:latin typeface="Arial"/>
                <a:ea typeface="Arial"/>
                <a:cs typeface="Arial"/>
              </a:defRPr>
            </a:pPr>
            <a:r>
              <a:rPr sz="1725" b="1">
                <a:solidFill>
                  <a:srgbClr val="AA0004"/>
                </a:solidFill>
                <a:latin typeface="Arial"/>
                <a:ea typeface="Arial"/>
                <a:cs typeface="Arial"/>
              </a:rPr>
              <a:t>Minore ricerca</a:t>
            </a:r>
          </a:p>
          <a:p>
            <a:pPr algn="ctr">
              <a:defRPr sz="1725" b="1">
                <a:solidFill>
                  <a:srgbClr val="AA0004"/>
                </a:solidFill>
                <a:latin typeface="Arial"/>
                <a:ea typeface="Arial"/>
                <a:cs typeface="Arial"/>
              </a:defRPr>
            </a:pPr>
            <a:r>
              <a:rPr sz="1725" b="1">
                <a:solidFill>
                  <a:srgbClr val="AA0004"/>
                </a:solidFill>
                <a:latin typeface="Arial"/>
                <a:ea typeface="Arial"/>
                <a:cs typeface="Arial"/>
              </a:rPr>
              <a:t>di confronto</a:t>
            </a:r>
          </a:p>
          <a:p>
            <a:pPr algn="ctr">
              <a:defRPr sz="1725" b="1">
                <a:solidFill>
                  <a:srgbClr val="AA0004"/>
                </a:solidFill>
                <a:latin typeface="Arial"/>
                <a:ea typeface="Arial"/>
                <a:cs typeface="Arial"/>
              </a:defRPr>
            </a:pPr>
            <a:r>
              <a:rPr sz="1725" b="1">
                <a:solidFill>
                  <a:srgbClr val="AA0004"/>
                </a:solidFill>
                <a:latin typeface="Arial"/>
                <a:ea typeface="Arial"/>
                <a:cs typeface="Arial"/>
              </a:rPr>
              <a:t>sociale</a:t>
            </a:r>
          </a:p>
        </p:txBody>
      </p:sp>
      <p:sp>
        <p:nvSpPr>
          <p:cNvPr id="714" name="Condizione del disagio">
            <a:extLst>
              <a:ext uri="{FF2B5EF4-FFF2-40B4-BE49-F238E27FC236}">
                <a16:creationId xmlns:a16="http://schemas.microsoft.com/office/drawing/2014/main" id="{4D686EE3-3FA0-4860-AA25-B68F3842A08F}"/>
              </a:ext>
            </a:extLst>
          </p:cNvPr>
          <p:cNvSpPr>
            <a:spLocks noGrp="1"/>
          </p:cNvSpPr>
          <p:nvPr/>
        </p:nvSpPr>
        <p:spPr>
          <a:xfrm>
            <a:off x="4219575" y="4143375"/>
            <a:ext cx="1447800" cy="400050"/>
          </a:xfrm>
          <a:prstGeom prst="rect">
            <a:avLst/>
          </a:prstGeom>
          <a:noFill/>
          <a:ln w="0">
            <a:noFill/>
          </a:ln>
        </p:spPr>
        <p:txBody>
          <a:bodyPr wrap="square" lIns="0" tIns="0" rIns="0" bIns="0" anchor="ctr">
            <a:noAutofit/>
          </a:bodyPr>
          <a:lstStyle>
            <a:defPPr algn="ctr">
              <a:defRPr sz="1350" b="0">
                <a:solidFill>
                  <a:srgbClr val="707070"/>
                </a:solidFill>
                <a:latin typeface="Arial"/>
                <a:ea typeface="Arial"/>
                <a:cs typeface="Arial"/>
              </a:defRPr>
            </a:defPPr>
          </a:lstStyle>
          <a:p>
            <a:pPr algn="ctr">
              <a:defRPr sz="1350" b="0">
                <a:solidFill>
                  <a:srgbClr val="707070"/>
                </a:solidFill>
                <a:latin typeface="Arial"/>
                <a:ea typeface="Arial"/>
                <a:cs typeface="Arial"/>
              </a:defRPr>
            </a:pPr>
            <a:r>
              <a:rPr sz="1350" b="0">
                <a:solidFill>
                  <a:srgbClr val="707070"/>
                </a:solidFill>
                <a:latin typeface="Arial"/>
                <a:ea typeface="Arial"/>
                <a:cs typeface="Arial"/>
              </a:rPr>
              <a:t>se vissuta</a:t>
            </a:r>
          </a:p>
          <a:p>
            <a:pPr algn="ctr">
              <a:defRPr sz="1350" b="0">
                <a:solidFill>
                  <a:srgbClr val="707070"/>
                </a:solidFill>
                <a:latin typeface="Arial"/>
                <a:ea typeface="Arial"/>
                <a:cs typeface="Arial"/>
              </a:defRPr>
            </a:pPr>
            <a:r>
              <a:rPr sz="1350" b="0">
                <a:solidFill>
                  <a:srgbClr val="707070"/>
                </a:solidFill>
                <a:latin typeface="Arial"/>
                <a:ea typeface="Arial"/>
                <a:cs typeface="Arial"/>
              </a:rPr>
              <a:t>come</a:t>
            </a:r>
          </a:p>
        </p:txBody>
      </p:sp>
      <p:sp>
        <p:nvSpPr>
          <p:cNvPr id="715" name="Motivo dell’evitamento">
            <a:extLst>
              <a:ext uri="{FF2B5EF4-FFF2-40B4-BE49-F238E27FC236}">
                <a16:creationId xmlns:a16="http://schemas.microsoft.com/office/drawing/2014/main" id="{CEBE9F30-8673-46A1-92AB-A1192E908DF4}"/>
              </a:ext>
            </a:extLst>
          </p:cNvPr>
          <p:cNvSpPr>
            <a:spLocks noGrp="1"/>
          </p:cNvSpPr>
          <p:nvPr/>
        </p:nvSpPr>
        <p:spPr>
          <a:xfrm>
            <a:off x="6496050" y="4143375"/>
            <a:ext cx="1352550" cy="400050"/>
          </a:xfrm>
          <a:prstGeom prst="rect">
            <a:avLst/>
          </a:prstGeom>
          <a:noFill/>
          <a:ln w="0">
            <a:noFill/>
          </a:ln>
        </p:spPr>
        <p:txBody>
          <a:bodyPr wrap="square" lIns="0" tIns="0" rIns="0" bIns="0" anchor="ctr">
            <a:noAutofit/>
          </a:bodyPr>
          <a:lstStyle>
            <a:defPPr algn="ctr">
              <a:defRPr sz="1350" b="0">
                <a:solidFill>
                  <a:srgbClr val="707070"/>
                </a:solidFill>
                <a:latin typeface="Arial"/>
                <a:ea typeface="Arial"/>
                <a:cs typeface="Arial"/>
              </a:defRPr>
            </a:defPPr>
          </a:lstStyle>
          <a:p>
            <a:pPr algn="ctr">
              <a:defRPr sz="1350" b="0">
                <a:solidFill>
                  <a:srgbClr val="707070"/>
                </a:solidFill>
                <a:latin typeface="Arial"/>
                <a:ea typeface="Arial"/>
                <a:cs typeface="Arial"/>
              </a:defRPr>
            </a:pPr>
            <a:r>
              <a:rPr sz="1350" b="0">
                <a:solidFill>
                  <a:srgbClr val="707070"/>
                </a:solidFill>
                <a:latin typeface="Arial"/>
                <a:ea typeface="Arial"/>
                <a:cs typeface="Arial"/>
              </a:rPr>
              <a:t>per ridurre</a:t>
            </a:r>
          </a:p>
          <a:p>
            <a:pPr algn="ctr">
              <a:defRPr sz="1350" b="0">
                <a:solidFill>
                  <a:srgbClr val="707070"/>
                </a:solidFill>
                <a:latin typeface="Arial"/>
                <a:ea typeface="Arial"/>
                <a:cs typeface="Arial"/>
              </a:defRPr>
            </a:pPr>
            <a:r>
              <a:rPr sz="1350" b="0">
                <a:solidFill>
                  <a:srgbClr val="707070"/>
                </a:solidFill>
                <a:latin typeface="Arial"/>
                <a:ea typeface="Arial"/>
                <a:cs typeface="Arial"/>
              </a:rPr>
              <a:t>il disagio</a:t>
            </a:r>
          </a:p>
        </p:txBody>
      </p:sp>
      <p:sp>
        <p:nvSpPr>
          <p:cNvPr id="716" name="Stato del meccanismo">
            <a:extLst>
              <a:ext uri="{FF2B5EF4-FFF2-40B4-BE49-F238E27FC236}">
                <a16:creationId xmlns:a16="http://schemas.microsoft.com/office/drawing/2014/main" id="{C18D143B-8D9D-4A07-8CF8-EE6745029755}"/>
              </a:ext>
            </a:extLst>
          </p:cNvPr>
          <p:cNvSpPr>
            <a:spLocks noGrp="1"/>
          </p:cNvSpPr>
          <p:nvPr/>
        </p:nvSpPr>
        <p:spPr>
          <a:xfrm>
            <a:off x="9010650" y="3800475"/>
            <a:ext cx="2438400" cy="247650"/>
          </a:xfrm>
          <a:prstGeom prst="rect">
            <a:avLst/>
          </a:prstGeom>
          <a:noFill/>
          <a:ln w="0">
            <a:noFill/>
          </a:ln>
        </p:spPr>
        <p:txBody>
          <a:bodyPr wrap="square" lIns="0" tIns="0" rIns="0" bIns="0" anchor="ctr">
            <a:noAutofit/>
          </a:bodyPr>
          <a:lstStyle>
            <a:defPPr algn="r">
              <a:defRPr sz="1350" b="0">
                <a:solidFill>
                  <a:srgbClr val="707070"/>
                </a:solidFill>
                <a:latin typeface="Arial"/>
                <a:ea typeface="Arial"/>
                <a:cs typeface="Arial"/>
              </a:defRPr>
            </a:defPPr>
          </a:lstStyle>
          <a:p>
            <a:pPr algn="r">
              <a:defRPr sz="1350" b="0">
                <a:solidFill>
                  <a:srgbClr val="707070"/>
                </a:solidFill>
                <a:latin typeface="Arial"/>
                <a:ea typeface="Arial"/>
                <a:cs typeface="Arial"/>
              </a:defRPr>
            </a:pPr>
            <a:r>
              <a:rPr sz="1350" b="0">
                <a:solidFill>
                  <a:srgbClr val="707070"/>
                </a:solidFill>
                <a:latin typeface="Arial"/>
                <a:ea typeface="Arial"/>
                <a:cs typeface="Arial"/>
              </a:rPr>
              <a:t>Percorso ipotizzato</a:t>
            </a:r>
          </a:p>
        </p:txBody>
      </p:sp>
    </p:spTree>
    <p:extLst>
      <p:ext uri="{BB962C8B-B14F-4D97-AF65-F5344CB8AC3E}">
        <p14:creationId xmlns:p14="http://schemas.microsoft.com/office/powerpoint/2010/main" val="1305859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7" name="Sezione">
            <a:extLst>
              <a:ext uri="{FF2B5EF4-FFF2-40B4-BE49-F238E27FC236}">
                <a16:creationId xmlns:a16="http://schemas.microsoft.com/office/drawing/2014/main" id="{06CD231B-3186-4D68-80D8-73D80E80232B}"/>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Ipotesi</a:t>
            </a:r>
          </a:p>
        </p:txBody>
      </p:sp>
      <p:sp>
        <p:nvSpPr>
          <p:cNvPr id="2" name="Titolo">
            <a:extLst>
              <a:ext uri="{FF2B5EF4-FFF2-40B4-BE49-F238E27FC236}">
                <a16:creationId xmlns:a16="http://schemas.microsoft.com/office/drawing/2014/main" id="{6B7BA9CB-AF14-4379-A0EF-5A608F106002}"/>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H3 · Possibilità di confronto verso l’alto</a:t>
            </a:r>
          </a:p>
        </p:txBody>
      </p:sp>
      <p:sp>
        <p:nvSpPr>
          <p:cNvPr id="3" name="Gerber et al. (2018)">
            <a:extLst>
              <a:ext uri="{FF2B5EF4-FFF2-40B4-BE49-F238E27FC236}">
                <a16:creationId xmlns:a16="http://schemas.microsoft.com/office/drawing/2014/main" id="{80D6E2AB-2BCD-4ED0-874F-70D698A8AA4E}"/>
              </a:ext>
            </a:extLst>
          </p:cNvPr>
          <p:cNvSpPr>
            <a:spLocks noGrp="1"/>
          </p:cNvSpPr>
          <p:nvPr/>
        </p:nvSpPr>
        <p:spPr>
          <a:xfrm>
            <a:off x="742950" y="6124575"/>
            <a:ext cx="10572750" cy="238125"/>
          </a:xfrm>
          <a:prstGeom prst="rect">
            <a:avLst/>
          </a:prstGeom>
          <a:noFill/>
          <a:ln w="0">
            <a:noFill/>
          </a:ln>
        </p:spPr>
        <p:txBody>
          <a:bodyPr wrap="square" lIns="0" tIns="0" rIns="0" bIns="0" anchor="t">
            <a:noAutofit/>
          </a:bodyPr>
          <a:lstStyle>
            <a:defPPr algn="l">
              <a:defRPr sz="1275" b="0">
                <a:solidFill>
                  <a:srgbClr val="707070"/>
                </a:solidFill>
                <a:latin typeface="Arial"/>
                <a:ea typeface="Arial"/>
                <a:cs typeface="Arial"/>
              </a:defRPr>
            </a:defPPr>
          </a:lstStyle>
          <a:p>
            <a:pPr algn="l">
              <a:defRPr sz="1275" b="0">
                <a:solidFill>
                  <a:srgbClr val="707070"/>
                </a:solidFill>
                <a:latin typeface="Arial"/>
                <a:ea typeface="Arial"/>
                <a:cs typeface="Arial"/>
              </a:defRPr>
            </a:pPr>
            <a:r>
              <a:rPr sz="1275" b="0">
                <a:solidFill>
                  <a:srgbClr val="707070"/>
                </a:solidFill>
                <a:latin typeface="Arial"/>
                <a:ea typeface="Arial"/>
                <a:cs typeface="Arial"/>
              </a:rPr>
              <a:t>Gerber et al. (2018)</a:t>
            </a:r>
          </a:p>
        </p:txBody>
      </p:sp>
      <p:sp>
        <p:nvSpPr>
          <p:cNvPr id="4" name="07">
            <a:extLst>
              <a:ext uri="{FF2B5EF4-FFF2-40B4-BE49-F238E27FC236}">
                <a16:creationId xmlns:a16="http://schemas.microsoft.com/office/drawing/2014/main" id="{94A88F16-05AB-42E8-956E-779A88978D30}"/>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06</a:t>
            </a:r>
            <a:endParaRPr sz="1425" b="0">
              <a:solidFill>
                <a:srgbClr val="707070"/>
              </a:solidFill>
              <a:latin typeface="Arial"/>
              <a:ea typeface="Arial"/>
              <a:cs typeface="Arial"/>
            </a:endParaRPr>
          </a:p>
        </p:txBody>
      </p:sp>
      <p:pic>
        <p:nvPicPr>
          <p:cNvPr id="5" name="Immagine 4">
            <a:extLst>
              <a:ext uri="{FF2B5EF4-FFF2-40B4-BE49-F238E27FC236}">
                <a16:creationId xmlns:a16="http://schemas.microsoft.com/office/drawing/2014/main" id="{CC5BD804-CD3D-4A37-945D-7CC5242298F5}"/>
              </a:ext>
            </a:extLst>
          </p:cNvPr>
          <p:cNvPicPr>
            <a:picLocks noChangeAspect="1"/>
          </p:cNvPicPr>
          <p:nvPr/>
        </p:nvPicPr>
        <p:blipFill>
          <a:blip r:embed="rId4"/>
          <a:stretch/>
        </p:blipFill>
        <p:spPr>
          <a:xfrm>
            <a:off x="1104900" y="2632563"/>
            <a:ext cx="9982200" cy="1535723"/>
          </a:xfrm>
          <a:prstGeom prst="rect">
            <a:avLst/>
          </a:prstGeom>
        </p:spPr>
      </p:pic>
      <p:sp>
        <p:nvSpPr>
          <p:cNvPr id="6" name="Previsione: più ricerca quando il confronto&#10;verso l’alto è p">
            <a:extLst>
              <a:ext uri="{FF2B5EF4-FFF2-40B4-BE49-F238E27FC236}">
                <a16:creationId xmlns:a16="http://schemas.microsoft.com/office/drawing/2014/main" id="{5B930321-7BBC-4623-871D-353708D11097}"/>
              </a:ext>
            </a:extLst>
          </p:cNvPr>
          <p:cNvSpPr>
            <a:spLocks noGrp="1"/>
          </p:cNvSpPr>
          <p:nvPr/>
        </p:nvSpPr>
        <p:spPr>
          <a:xfrm>
            <a:off x="1104900" y="4762500"/>
            <a:ext cx="9982200" cy="914400"/>
          </a:xfrm>
          <a:prstGeom prst="rect">
            <a:avLst/>
          </a:prstGeom>
          <a:noFill/>
          <a:ln w="0">
            <a:noFill/>
          </a:ln>
        </p:spPr>
        <p:txBody>
          <a:bodyPr wrap="square" lIns="0" tIns="0" rIns="0" bIns="0" anchor="t">
            <a:noAutofit/>
          </a:bodyPr>
          <a:lstStyle>
            <a:defPPr algn="ctr">
              <a:defRPr sz="2550" b="1">
                <a:solidFill>
                  <a:srgbClr val="AA0004"/>
                </a:solidFill>
                <a:latin typeface="Arial"/>
                <a:ea typeface="Arial"/>
                <a:cs typeface="Arial"/>
              </a:defRPr>
            </a:defPPr>
          </a:lstStyle>
          <a:p>
            <a:pPr algn="ctr">
              <a:defRPr sz="2550" b="1">
                <a:solidFill>
                  <a:srgbClr val="AA0004"/>
                </a:solidFill>
                <a:latin typeface="Arial"/>
                <a:ea typeface="Arial"/>
                <a:cs typeface="Arial"/>
              </a:defRPr>
            </a:pPr>
            <a:r>
              <a:rPr sz="2550" b="1">
                <a:solidFill>
                  <a:srgbClr val="AA0004"/>
                </a:solidFill>
                <a:latin typeface="Arial"/>
                <a:ea typeface="Arial"/>
                <a:cs typeface="Arial"/>
              </a:rPr>
              <a:t>Previsione: più ricerca quando il confronto</a:t>
            </a:r>
          </a:p>
          <a:p>
            <a:pPr algn="ctr">
              <a:defRPr sz="2550" b="1">
                <a:solidFill>
                  <a:srgbClr val="AA0004"/>
                </a:solidFill>
                <a:latin typeface="Arial"/>
                <a:ea typeface="Arial"/>
                <a:cs typeface="Arial"/>
              </a:defRPr>
            </a:pPr>
            <a:r>
              <a:rPr sz="2550" b="1">
                <a:solidFill>
                  <a:srgbClr val="AA0004"/>
                </a:solidFill>
                <a:latin typeface="Arial"/>
                <a:ea typeface="Arial"/>
                <a:cs typeface="Arial"/>
              </a:rPr>
              <a:t>verso l’alto è possibile</a:t>
            </a:r>
          </a:p>
        </p:txBody>
      </p:sp>
    </p:spTree>
    <p:extLst>
      <p:ext uri="{BB962C8B-B14F-4D97-AF65-F5344CB8AC3E}">
        <p14:creationId xmlns:p14="http://schemas.microsoft.com/office/powerpoint/2010/main" val="1641625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Sezione">
            <a:extLst>
              <a:ext uri="{FF2B5EF4-FFF2-40B4-BE49-F238E27FC236}">
                <a16:creationId xmlns:a16="http://schemas.microsoft.com/office/drawing/2014/main" id="{EAFD2845-EB9B-4F35-8E96-4B1A8AA062AB}"/>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Metodo</a:t>
            </a:r>
          </a:p>
        </p:txBody>
      </p:sp>
      <p:sp>
        <p:nvSpPr>
          <p:cNvPr id="2" name="Titolo">
            <a:extLst>
              <a:ext uri="{FF2B5EF4-FFF2-40B4-BE49-F238E27FC236}">
                <a16:creationId xmlns:a16="http://schemas.microsoft.com/office/drawing/2014/main" id="{4695D0C1-4472-4CB8-8D95-77CDA14A2D09}"/>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Disegno sperimentale</a:t>
            </a:r>
          </a:p>
        </p:txBody>
      </p:sp>
      <p:sp>
        <p:nvSpPr>
          <p:cNvPr id="3" name="09">
            <a:extLst>
              <a:ext uri="{FF2B5EF4-FFF2-40B4-BE49-F238E27FC236}">
                <a16:creationId xmlns:a16="http://schemas.microsoft.com/office/drawing/2014/main" id="{64F3376E-D598-46E3-AFD1-196D53A3EBC9}"/>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07</a:t>
            </a:r>
            <a:endParaRPr sz="1425" b="0">
              <a:solidFill>
                <a:srgbClr val="707070"/>
              </a:solidFill>
              <a:latin typeface="Arial"/>
              <a:ea typeface="Arial"/>
              <a:cs typeface="Arial"/>
            </a:endParaRPr>
          </a:p>
        </p:txBody>
      </p:sp>
      <p:sp>
        <p:nvSpPr>
          <p:cNvPr id="4" name="Due blocchi entro soggetti, ordine randomizzato">
            <a:extLst>
              <a:ext uri="{FF2B5EF4-FFF2-40B4-BE49-F238E27FC236}">
                <a16:creationId xmlns:a16="http://schemas.microsoft.com/office/drawing/2014/main" id="{4E393A65-46C2-4EC2-B58E-144EF03A5B88}"/>
              </a:ext>
            </a:extLst>
          </p:cNvPr>
          <p:cNvSpPr>
            <a:spLocks noGrp="1"/>
          </p:cNvSpPr>
          <p:nvPr/>
        </p:nvSpPr>
        <p:spPr>
          <a:xfrm>
            <a:off x="742950" y="1733550"/>
            <a:ext cx="10706100" cy="666750"/>
          </a:xfrm>
          <a:prstGeom prst="rect">
            <a:avLst/>
          </a:prstGeom>
          <a:noFill/>
          <a:ln w="0">
            <a:noFill/>
          </a:ln>
        </p:spPr>
        <p:txBody>
          <a:bodyPr wrap="square" lIns="0" tIns="0" rIns="0" bIns="0" anchor="t">
            <a:noAutofit/>
          </a:bodyPr>
          <a:lstStyle>
            <a:defPPr algn="l">
              <a:defRPr sz="2100" b="1">
                <a:solidFill>
                  <a:srgbClr val="414141"/>
                </a:solidFill>
                <a:latin typeface="Arial"/>
                <a:ea typeface="Arial"/>
                <a:cs typeface="Arial"/>
              </a:defRPr>
            </a:defPPr>
          </a:lstStyle>
          <a:p>
            <a:pPr>
              <a:defRPr sz="2100" b="1">
                <a:solidFill>
                  <a:srgbClr val="414141"/>
                </a:solidFill>
                <a:latin typeface="Arial"/>
                <a:ea typeface="Arial"/>
                <a:cs typeface="Arial"/>
              </a:defRPr>
            </a:pPr>
            <a:r>
              <a:rPr lang="it-IT" sz="2100" b="1" dirty="0">
                <a:solidFill>
                  <a:srgbClr val="414141"/>
                </a:solidFill>
                <a:latin typeface="Arial"/>
                <a:ea typeface="Arial"/>
                <a:cs typeface="Arial"/>
              </a:rPr>
              <a:t>Disegno entro soggetti; ordine dei blocchi randomizzato</a:t>
            </a:r>
          </a:p>
          <a:p>
            <a:pPr algn="l">
              <a:defRPr sz="2100" b="1">
                <a:solidFill>
                  <a:srgbClr val="414141"/>
                </a:solidFill>
                <a:latin typeface="Arial"/>
                <a:ea typeface="Arial"/>
                <a:cs typeface="Arial"/>
              </a:defRPr>
            </a:pPr>
            <a:r>
              <a:rPr sz="2100" b="1" dirty="0" err="1">
                <a:solidFill>
                  <a:srgbClr val="414141"/>
                </a:solidFill>
                <a:latin typeface="Arial"/>
                <a:ea typeface="Arial"/>
                <a:cs typeface="Arial"/>
              </a:rPr>
              <a:t>Compito</a:t>
            </a:r>
            <a:r>
              <a:rPr sz="2100" b="1" dirty="0">
                <a:solidFill>
                  <a:srgbClr val="414141"/>
                </a:solidFill>
                <a:latin typeface="Arial"/>
                <a:ea typeface="Arial"/>
                <a:cs typeface="Arial"/>
              </a:rPr>
              <a:t> con roulette: 2 </a:t>
            </a:r>
            <a:r>
              <a:rPr sz="2100" b="1" dirty="0" err="1">
                <a:solidFill>
                  <a:srgbClr val="414141"/>
                </a:solidFill>
                <a:latin typeface="Arial"/>
                <a:ea typeface="Arial"/>
                <a:cs typeface="Arial"/>
              </a:rPr>
              <a:t>blocchi</a:t>
            </a:r>
            <a:r>
              <a:rPr sz="2100" b="1" dirty="0">
                <a:solidFill>
                  <a:srgbClr val="414141"/>
                </a:solidFill>
                <a:latin typeface="Arial"/>
                <a:ea typeface="Arial"/>
                <a:cs typeface="Arial"/>
              </a:rPr>
              <a:t> × 3 trial (6 trial </a:t>
            </a:r>
            <a:r>
              <a:rPr sz="2100" b="1" dirty="0" err="1">
                <a:solidFill>
                  <a:srgbClr val="414141"/>
                </a:solidFill>
                <a:latin typeface="Arial"/>
                <a:ea typeface="Arial"/>
                <a:cs typeface="Arial"/>
              </a:rPr>
              <a:t>totali</a:t>
            </a:r>
            <a:r>
              <a:rPr sz="2100" b="1" dirty="0">
                <a:solidFill>
                  <a:srgbClr val="414141"/>
                </a:solidFill>
                <a:latin typeface="Arial"/>
                <a:ea typeface="Arial"/>
                <a:cs typeface="Arial"/>
              </a:rPr>
              <a:t>)</a:t>
            </a:r>
          </a:p>
        </p:txBody>
      </p:sp>
      <p:sp>
        <p:nvSpPr>
          <p:cNvPr id="5" name="Guadagno">
            <a:extLst>
              <a:ext uri="{FF2B5EF4-FFF2-40B4-BE49-F238E27FC236}">
                <a16:creationId xmlns:a16="http://schemas.microsoft.com/office/drawing/2014/main" id="{8AB5FFE5-A299-497F-948A-1F34873DC658}"/>
              </a:ext>
            </a:extLst>
          </p:cNvPr>
          <p:cNvSpPr>
            <a:spLocks noGrp="1"/>
          </p:cNvSpPr>
          <p:nvPr/>
        </p:nvSpPr>
        <p:spPr>
          <a:xfrm>
            <a:off x="742950" y="2466975"/>
            <a:ext cx="4943475" cy="419100"/>
          </a:xfrm>
          <a:prstGeom prst="rect">
            <a:avLst/>
          </a:prstGeom>
          <a:noFill/>
          <a:ln w="0">
            <a:noFill/>
          </a:ln>
        </p:spPr>
        <p:txBody>
          <a:bodyPr wrap="square" lIns="0" tIns="0" rIns="0" bIns="0" anchor="t">
            <a:noAutofit/>
          </a:bodyPr>
          <a:lstStyle>
            <a:defPPr algn="l">
              <a:defRPr sz="2400" b="1">
                <a:solidFill>
                  <a:srgbClr val="AA0004"/>
                </a:solidFill>
                <a:latin typeface="Arial"/>
                <a:ea typeface="Arial"/>
                <a:cs typeface="Arial"/>
              </a:defRPr>
            </a:defPPr>
          </a:lstStyle>
          <a:p>
            <a:pPr algn="l">
              <a:defRPr sz="2400" b="1">
                <a:solidFill>
                  <a:srgbClr val="AA0004"/>
                </a:solidFill>
                <a:latin typeface="Arial"/>
                <a:ea typeface="Arial"/>
                <a:cs typeface="Arial"/>
              </a:defRPr>
            </a:pPr>
            <a:r>
              <a:rPr sz="2400" b="1">
                <a:solidFill>
                  <a:srgbClr val="AA0004"/>
                </a:solidFill>
                <a:latin typeface="Arial"/>
                <a:ea typeface="Arial"/>
                <a:cs typeface="Arial"/>
              </a:rPr>
              <a:t>Guadagno</a:t>
            </a:r>
          </a:p>
        </p:txBody>
      </p:sp>
      <p:sp>
        <p:nvSpPr>
          <p:cNvPr id="6" name="Dotazione iniziale: $0">
            <a:extLst>
              <a:ext uri="{FF2B5EF4-FFF2-40B4-BE49-F238E27FC236}">
                <a16:creationId xmlns:a16="http://schemas.microsoft.com/office/drawing/2014/main" id="{625438B8-7C70-463F-8C8F-11C26BCED0FB}"/>
              </a:ext>
            </a:extLst>
          </p:cNvPr>
          <p:cNvSpPr>
            <a:spLocks noGrp="1"/>
          </p:cNvSpPr>
          <p:nvPr/>
        </p:nvSpPr>
        <p:spPr>
          <a:xfrm>
            <a:off x="742950" y="2943225"/>
            <a:ext cx="4953000" cy="361950"/>
          </a:xfrm>
          <a:prstGeom prst="rect">
            <a:avLst/>
          </a:prstGeom>
          <a:noFill/>
          <a:ln w="0">
            <a:noFill/>
          </a:ln>
        </p:spPr>
        <p:txBody>
          <a:bodyPr wrap="square" lIns="0" tIns="0" rIns="0" bIns="0" anchor="t">
            <a:noAutofit/>
          </a:bodyPr>
          <a:lstStyle>
            <a:defPPr algn="l">
              <a:defRPr sz="2100" b="0">
                <a:solidFill>
                  <a:srgbClr val="414141"/>
                </a:solidFill>
                <a:latin typeface="Arial"/>
                <a:ea typeface="Arial"/>
                <a:cs typeface="Arial"/>
              </a:defRPr>
            </a:defPPr>
          </a:lstStyle>
          <a:p>
            <a:pPr algn="l">
              <a:defRPr sz="2100" b="0">
                <a:solidFill>
                  <a:srgbClr val="414141"/>
                </a:solidFill>
                <a:latin typeface="Arial"/>
                <a:ea typeface="Arial"/>
                <a:cs typeface="Arial"/>
              </a:defRPr>
            </a:pPr>
            <a:r>
              <a:rPr sz="2100" b="0">
                <a:solidFill>
                  <a:srgbClr val="414141"/>
                </a:solidFill>
                <a:latin typeface="Arial"/>
                <a:ea typeface="Arial"/>
                <a:cs typeface="Arial"/>
              </a:rPr>
              <a:t>Dotazione iniziale: $0</a:t>
            </a:r>
          </a:p>
        </p:txBody>
      </p:sp>
      <p:sp>
        <p:nvSpPr>
          <p:cNvPr id="7" name="Perdita">
            <a:extLst>
              <a:ext uri="{FF2B5EF4-FFF2-40B4-BE49-F238E27FC236}">
                <a16:creationId xmlns:a16="http://schemas.microsoft.com/office/drawing/2014/main" id="{6D340237-8A27-41C0-B6C1-FDD3EC8192B5}"/>
              </a:ext>
            </a:extLst>
          </p:cNvPr>
          <p:cNvSpPr>
            <a:spLocks noGrp="1"/>
          </p:cNvSpPr>
          <p:nvPr/>
        </p:nvSpPr>
        <p:spPr>
          <a:xfrm>
            <a:off x="6572250" y="2466975"/>
            <a:ext cx="4876800" cy="419100"/>
          </a:xfrm>
          <a:prstGeom prst="rect">
            <a:avLst/>
          </a:prstGeom>
          <a:noFill/>
          <a:ln w="0">
            <a:noFill/>
          </a:ln>
        </p:spPr>
        <p:txBody>
          <a:bodyPr wrap="square" lIns="0" tIns="0" rIns="0" bIns="0" anchor="t">
            <a:noAutofit/>
          </a:bodyPr>
          <a:lstStyle>
            <a:defPPr algn="l">
              <a:defRPr sz="2400" b="1">
                <a:solidFill>
                  <a:srgbClr val="AA0004"/>
                </a:solidFill>
                <a:latin typeface="Arial"/>
                <a:ea typeface="Arial"/>
                <a:cs typeface="Arial"/>
              </a:defRPr>
            </a:defPPr>
          </a:lstStyle>
          <a:p>
            <a:pPr algn="l">
              <a:defRPr sz="2400" b="1">
                <a:solidFill>
                  <a:srgbClr val="AA0004"/>
                </a:solidFill>
                <a:latin typeface="Arial"/>
                <a:ea typeface="Arial"/>
                <a:cs typeface="Arial"/>
              </a:defRPr>
            </a:pPr>
            <a:r>
              <a:rPr sz="2400" b="1">
                <a:solidFill>
                  <a:srgbClr val="AA0004"/>
                </a:solidFill>
                <a:latin typeface="Arial"/>
                <a:ea typeface="Arial"/>
                <a:cs typeface="Arial"/>
              </a:rPr>
              <a:t>Perdita</a:t>
            </a:r>
          </a:p>
        </p:txBody>
      </p:sp>
      <p:sp>
        <p:nvSpPr>
          <p:cNvPr id="8" name="Dotazione iniziale: $60">
            <a:extLst>
              <a:ext uri="{FF2B5EF4-FFF2-40B4-BE49-F238E27FC236}">
                <a16:creationId xmlns:a16="http://schemas.microsoft.com/office/drawing/2014/main" id="{F6231C0A-17B1-4ADA-B53D-B5E036671258}"/>
              </a:ext>
            </a:extLst>
          </p:cNvPr>
          <p:cNvSpPr>
            <a:spLocks noGrp="1"/>
          </p:cNvSpPr>
          <p:nvPr/>
        </p:nvSpPr>
        <p:spPr>
          <a:xfrm>
            <a:off x="6572250" y="2943225"/>
            <a:ext cx="4876800" cy="361950"/>
          </a:xfrm>
          <a:prstGeom prst="rect">
            <a:avLst/>
          </a:prstGeom>
          <a:noFill/>
          <a:ln w="0">
            <a:noFill/>
          </a:ln>
        </p:spPr>
        <p:txBody>
          <a:bodyPr wrap="square" lIns="0" tIns="0" rIns="0" bIns="0" anchor="t">
            <a:noAutofit/>
          </a:bodyPr>
          <a:lstStyle>
            <a:defPPr algn="l">
              <a:defRPr sz="2100" b="0">
                <a:solidFill>
                  <a:srgbClr val="414141"/>
                </a:solidFill>
                <a:latin typeface="Arial"/>
                <a:ea typeface="Arial"/>
                <a:cs typeface="Arial"/>
              </a:defRPr>
            </a:defPPr>
          </a:lstStyle>
          <a:p>
            <a:pPr algn="l">
              <a:defRPr sz="2100" b="0">
                <a:solidFill>
                  <a:srgbClr val="414141"/>
                </a:solidFill>
                <a:latin typeface="Arial"/>
                <a:ea typeface="Arial"/>
                <a:cs typeface="Arial"/>
              </a:defRPr>
            </a:pPr>
            <a:r>
              <a:rPr sz="2100" b="0">
                <a:solidFill>
                  <a:srgbClr val="414141"/>
                </a:solidFill>
                <a:latin typeface="Arial"/>
                <a:ea typeface="Arial"/>
                <a:cs typeface="Arial"/>
              </a:rPr>
              <a:t>Dotazione iniziale: $60</a:t>
            </a:r>
          </a:p>
        </p:txBody>
      </p:sp>
      <p:graphicFrame>
        <p:nvGraphicFramePr>
          <p:cNvPr id="9" name="Tabella 8">
            <a:extLst>
              <a:ext uri="{FF2B5EF4-FFF2-40B4-BE49-F238E27FC236}">
                <a16:creationId xmlns:a16="http://schemas.microsoft.com/office/drawing/2014/main" id="{F619FB96-C7E8-41D8-A85D-EE03B93F2A9B}"/>
              </a:ext>
            </a:extLst>
          </p:cNvPr>
          <p:cNvGraphicFramePr/>
          <p:nvPr>
            <p:extLst>
              <p:ext uri="{D42A27DB-BD31-4B8C-83A1-F6EECF244321}">
                <p14:modId xmlns:p14="http://schemas.microsoft.com/office/powerpoint/2010/main" val="3967686764"/>
              </p:ext>
            </p:extLst>
          </p:nvPr>
        </p:nvGraphicFramePr>
        <p:xfrm>
          <a:off x="742950" y="3600450"/>
          <a:ext cx="10706100" cy="2009775"/>
        </p:xfrm>
        <a:graphic>
          <a:graphicData uri="http://schemas.openxmlformats.org/drawingml/2006/table">
            <a:tbl>
              <a:tblPr/>
              <a:tblGrid>
                <a:gridCol w="1476375">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gridCol w="3009900">
                  <a:extLst>
                    <a:ext uri="{9D8B030D-6E8A-4147-A177-3AD203B41FA5}">
                      <a16:colId xmlns:a16="http://schemas.microsoft.com/office/drawing/2014/main" val="20003"/>
                    </a:ext>
                  </a:extLst>
                </a:gridCol>
              </a:tblGrid>
              <a:tr h="495300">
                <a:tc>
                  <a:txBody>
                    <a:bodyPr/>
                    <a:lstStyle/>
                    <a:p>
                      <a:r>
                        <a:rPr sz="1875" b="1">
                          <a:solidFill>
                            <a:srgbClr val="FFFFFF"/>
                          </a:solidFill>
                          <a:latin typeface="Arial"/>
                          <a:ea typeface="Arial"/>
                          <a:cs typeface="Arial"/>
                        </a:rPr>
                        <a:t>Roulette</a:t>
                      </a:r>
                    </a:p>
                  </a:txBody>
                  <a:tcPr>
                    <a:solidFill>
                      <a:srgbClr val="AA0004"/>
                    </a:solidFill>
                  </a:tcPr>
                </a:tc>
                <a:tc>
                  <a:txBody>
                    <a:bodyPr/>
                    <a:lstStyle/>
                    <a:p>
                      <a:r>
                        <a:rPr sz="1875" b="1">
                          <a:solidFill>
                            <a:srgbClr val="FFFFFF"/>
                          </a:solidFill>
                          <a:latin typeface="Arial"/>
                          <a:ea typeface="Arial"/>
                          <a:cs typeface="Arial"/>
                        </a:rPr>
                        <a:t>Guadagno: variazioni</a:t>
                      </a:r>
                    </a:p>
                  </a:txBody>
                  <a:tcPr>
                    <a:solidFill>
                      <a:srgbClr val="AA0004"/>
                    </a:solidFill>
                  </a:tcPr>
                </a:tc>
                <a:tc>
                  <a:txBody>
                    <a:bodyPr/>
                    <a:lstStyle/>
                    <a:p>
                      <a:r>
                        <a:rPr sz="1875" b="1">
                          <a:solidFill>
                            <a:srgbClr val="FFFFFF"/>
                          </a:solidFill>
                          <a:latin typeface="Arial"/>
                          <a:ea typeface="Arial"/>
                          <a:cs typeface="Arial"/>
                        </a:rPr>
                        <a:t>Perdita: variazioni</a:t>
                      </a:r>
                    </a:p>
                  </a:txBody>
                  <a:tcPr>
                    <a:solidFill>
                      <a:srgbClr val="AA0004"/>
                    </a:solidFill>
                  </a:tcPr>
                </a:tc>
                <a:tc>
                  <a:txBody>
                    <a:bodyPr/>
                    <a:lstStyle/>
                    <a:p>
                      <a:r>
                        <a:rPr sz="1875" b="1">
                          <a:solidFill>
                            <a:srgbClr val="FFFFFF"/>
                          </a:solidFill>
                          <a:latin typeface="Arial"/>
                          <a:ea typeface="Arial"/>
                          <a:cs typeface="Arial"/>
                        </a:rPr>
                        <a:t>Importi finali</a:t>
                      </a:r>
                    </a:p>
                  </a:txBody>
                  <a:tcPr>
                    <a:solidFill>
                      <a:srgbClr val="AA0004"/>
                    </a:solidFill>
                  </a:tcPr>
                </a:tc>
                <a:extLst>
                  <a:ext uri="{0D108BD9-81ED-4DB2-BD59-A6C34878D82A}">
                    <a16:rowId xmlns:a16="http://schemas.microsoft.com/office/drawing/2014/main" val="10000"/>
                  </a:ext>
                </a:extLst>
              </a:tr>
              <a:tr h="504825">
                <a:tc>
                  <a:txBody>
                    <a:bodyPr/>
                    <a:lstStyle/>
                    <a:p>
                      <a:r>
                        <a:rPr sz="1875" b="0">
                          <a:solidFill>
                            <a:srgbClr val="414141"/>
                          </a:solidFill>
                          <a:latin typeface="Arial"/>
                          <a:ea typeface="Arial"/>
                          <a:cs typeface="Arial"/>
                        </a:rPr>
                        <a:t>1</a:t>
                      </a:r>
                    </a:p>
                  </a:txBody>
                  <a:tcPr>
                    <a:solidFill>
                      <a:srgbClr val="FFFFFF"/>
                    </a:solidFill>
                  </a:tcPr>
                </a:tc>
                <a:tc>
                  <a:txBody>
                    <a:bodyPr/>
                    <a:lstStyle/>
                    <a:p>
                      <a:r>
                        <a:rPr lang="it-IT" sz="1875" b="0" dirty="0">
                          <a:solidFill>
                            <a:srgbClr val="414141"/>
                          </a:solidFill>
                          <a:latin typeface="Arial"/>
                          <a:ea typeface="Arial"/>
                          <a:cs typeface="Arial"/>
                        </a:rPr>
                        <a:t>+</a:t>
                      </a:r>
                      <a:r>
                        <a:rPr sz="1875" b="0" dirty="0">
                          <a:solidFill>
                            <a:srgbClr val="414141"/>
                          </a:solidFill>
                          <a:latin typeface="Arial"/>
                          <a:ea typeface="Arial"/>
                          <a:cs typeface="Arial"/>
                        </a:rPr>
                        <a:t>$10 / </a:t>
                      </a:r>
                      <a:r>
                        <a:rPr lang="it-IT" sz="1875" b="0" dirty="0">
                          <a:solidFill>
                            <a:srgbClr val="414141"/>
                          </a:solidFill>
                          <a:latin typeface="Arial"/>
                          <a:ea typeface="Arial"/>
                          <a:cs typeface="Arial"/>
                        </a:rPr>
                        <a:t>+</a:t>
                      </a:r>
                      <a:r>
                        <a:rPr sz="1875" b="0" dirty="0">
                          <a:solidFill>
                            <a:srgbClr val="414141"/>
                          </a:solidFill>
                          <a:latin typeface="Arial"/>
                          <a:ea typeface="Arial"/>
                          <a:cs typeface="Arial"/>
                        </a:rPr>
                        <a:t>$20</a:t>
                      </a:r>
                    </a:p>
                  </a:txBody>
                  <a:tcPr>
                    <a:solidFill>
                      <a:srgbClr val="FFFFFF"/>
                    </a:solidFill>
                  </a:tcPr>
                </a:tc>
                <a:tc>
                  <a:txBody>
                    <a:bodyPr/>
                    <a:lstStyle/>
                    <a:p>
                      <a:r>
                        <a:rPr sz="1875" b="0">
                          <a:solidFill>
                            <a:srgbClr val="414141"/>
                          </a:solidFill>
                          <a:latin typeface="Arial"/>
                          <a:ea typeface="Arial"/>
                          <a:cs typeface="Arial"/>
                        </a:rPr>
                        <a:t>−$50 / −$40</a:t>
                      </a:r>
                    </a:p>
                  </a:txBody>
                  <a:tcPr>
                    <a:solidFill>
                      <a:srgbClr val="FFFFFF"/>
                    </a:solidFill>
                  </a:tcPr>
                </a:tc>
                <a:tc>
                  <a:txBody>
                    <a:bodyPr/>
                    <a:lstStyle/>
                    <a:p>
                      <a:r>
                        <a:rPr sz="1875" b="0">
                          <a:solidFill>
                            <a:srgbClr val="414141"/>
                          </a:solidFill>
                          <a:latin typeface="Arial"/>
                          <a:ea typeface="Arial"/>
                          <a:cs typeface="Arial"/>
                        </a:rPr>
                        <a:t>$10 / $20</a:t>
                      </a:r>
                    </a:p>
                  </a:txBody>
                  <a:tcPr>
                    <a:solidFill>
                      <a:srgbClr val="FFFFFF"/>
                    </a:solidFill>
                  </a:tcPr>
                </a:tc>
                <a:extLst>
                  <a:ext uri="{0D108BD9-81ED-4DB2-BD59-A6C34878D82A}">
                    <a16:rowId xmlns:a16="http://schemas.microsoft.com/office/drawing/2014/main" val="10001"/>
                  </a:ext>
                </a:extLst>
              </a:tr>
              <a:tr h="504825">
                <a:tc>
                  <a:txBody>
                    <a:bodyPr/>
                    <a:lstStyle/>
                    <a:p>
                      <a:r>
                        <a:rPr sz="1875" b="0">
                          <a:solidFill>
                            <a:srgbClr val="414141"/>
                          </a:solidFill>
                          <a:latin typeface="Arial"/>
                          <a:ea typeface="Arial"/>
                          <a:cs typeface="Arial"/>
                        </a:rPr>
                        <a:t>2</a:t>
                      </a:r>
                    </a:p>
                  </a:txBody>
                  <a:tcPr>
                    <a:solidFill>
                      <a:srgbClr val="F4F4F4"/>
                    </a:solidFill>
                  </a:tcPr>
                </a:tc>
                <a:tc>
                  <a:txBody>
                    <a:bodyPr/>
                    <a:lstStyle/>
                    <a:p>
                      <a:r>
                        <a:rPr lang="it-IT" sz="1875" b="0" dirty="0">
                          <a:solidFill>
                            <a:srgbClr val="414141"/>
                          </a:solidFill>
                          <a:latin typeface="Arial"/>
                          <a:ea typeface="Arial"/>
                          <a:cs typeface="Arial"/>
                        </a:rPr>
                        <a:t>+</a:t>
                      </a:r>
                      <a:r>
                        <a:rPr sz="1875" b="0" dirty="0">
                          <a:solidFill>
                            <a:srgbClr val="414141"/>
                          </a:solidFill>
                          <a:latin typeface="Arial"/>
                          <a:ea typeface="Arial"/>
                          <a:cs typeface="Arial"/>
                        </a:rPr>
                        <a:t>$10 / </a:t>
                      </a:r>
                      <a:r>
                        <a:rPr lang="it-IT" sz="1875" b="0" dirty="0">
                          <a:solidFill>
                            <a:srgbClr val="414141"/>
                          </a:solidFill>
                          <a:latin typeface="Arial"/>
                          <a:ea typeface="Arial"/>
                          <a:cs typeface="Arial"/>
                        </a:rPr>
                        <a:t>+</a:t>
                      </a:r>
                      <a:r>
                        <a:rPr sz="1875" b="0" dirty="0">
                          <a:solidFill>
                            <a:srgbClr val="414141"/>
                          </a:solidFill>
                          <a:latin typeface="Arial"/>
                          <a:ea typeface="Arial"/>
                          <a:cs typeface="Arial"/>
                        </a:rPr>
                        <a:t>$30</a:t>
                      </a:r>
                    </a:p>
                  </a:txBody>
                  <a:tcPr>
                    <a:solidFill>
                      <a:srgbClr val="F4F4F4"/>
                    </a:solidFill>
                  </a:tcPr>
                </a:tc>
                <a:tc>
                  <a:txBody>
                    <a:bodyPr/>
                    <a:lstStyle/>
                    <a:p>
                      <a:r>
                        <a:rPr sz="1875" b="0">
                          <a:solidFill>
                            <a:srgbClr val="414141"/>
                          </a:solidFill>
                          <a:latin typeface="Arial"/>
                          <a:ea typeface="Arial"/>
                          <a:cs typeface="Arial"/>
                        </a:rPr>
                        <a:t>−$50 / −$30</a:t>
                      </a:r>
                    </a:p>
                  </a:txBody>
                  <a:tcPr>
                    <a:solidFill>
                      <a:srgbClr val="F4F4F4"/>
                    </a:solidFill>
                  </a:tcPr>
                </a:tc>
                <a:tc>
                  <a:txBody>
                    <a:bodyPr/>
                    <a:lstStyle/>
                    <a:p>
                      <a:r>
                        <a:rPr sz="1875" b="0">
                          <a:solidFill>
                            <a:srgbClr val="414141"/>
                          </a:solidFill>
                          <a:latin typeface="Arial"/>
                          <a:ea typeface="Arial"/>
                          <a:cs typeface="Arial"/>
                        </a:rPr>
                        <a:t>$10 / $30</a:t>
                      </a:r>
                    </a:p>
                  </a:txBody>
                  <a:tcPr>
                    <a:solidFill>
                      <a:srgbClr val="F4F4F4"/>
                    </a:solidFill>
                  </a:tcPr>
                </a:tc>
                <a:extLst>
                  <a:ext uri="{0D108BD9-81ED-4DB2-BD59-A6C34878D82A}">
                    <a16:rowId xmlns:a16="http://schemas.microsoft.com/office/drawing/2014/main" val="10002"/>
                  </a:ext>
                </a:extLst>
              </a:tr>
              <a:tr h="504825">
                <a:tc>
                  <a:txBody>
                    <a:bodyPr/>
                    <a:lstStyle/>
                    <a:p>
                      <a:r>
                        <a:rPr sz="1875" b="0">
                          <a:solidFill>
                            <a:srgbClr val="414141"/>
                          </a:solidFill>
                          <a:latin typeface="Arial"/>
                          <a:ea typeface="Arial"/>
                          <a:cs typeface="Arial"/>
                        </a:rPr>
                        <a:t>3</a:t>
                      </a:r>
                    </a:p>
                  </a:txBody>
                  <a:tcPr>
                    <a:solidFill>
                      <a:srgbClr val="FFFFFF"/>
                    </a:solidFill>
                  </a:tcPr>
                </a:tc>
                <a:tc>
                  <a:txBody>
                    <a:bodyPr/>
                    <a:lstStyle/>
                    <a:p>
                      <a:r>
                        <a:rPr lang="it-IT" sz="1875" b="0" dirty="0">
                          <a:solidFill>
                            <a:srgbClr val="414141"/>
                          </a:solidFill>
                          <a:latin typeface="Arial"/>
                          <a:ea typeface="Arial"/>
                          <a:cs typeface="Arial"/>
                        </a:rPr>
                        <a:t>+</a:t>
                      </a:r>
                      <a:r>
                        <a:rPr sz="1875" b="0" dirty="0">
                          <a:solidFill>
                            <a:srgbClr val="414141"/>
                          </a:solidFill>
                          <a:latin typeface="Arial"/>
                          <a:ea typeface="Arial"/>
                          <a:cs typeface="Arial"/>
                        </a:rPr>
                        <a:t>$10 / </a:t>
                      </a:r>
                      <a:r>
                        <a:rPr lang="it-IT" sz="1875" b="0" dirty="0">
                          <a:solidFill>
                            <a:srgbClr val="414141"/>
                          </a:solidFill>
                          <a:latin typeface="Arial"/>
                          <a:ea typeface="Arial"/>
                          <a:cs typeface="Arial"/>
                        </a:rPr>
                        <a:t>+</a:t>
                      </a:r>
                      <a:r>
                        <a:rPr sz="1875" b="0" dirty="0">
                          <a:solidFill>
                            <a:srgbClr val="414141"/>
                          </a:solidFill>
                          <a:latin typeface="Arial"/>
                          <a:ea typeface="Arial"/>
                          <a:cs typeface="Arial"/>
                        </a:rPr>
                        <a:t>$50</a:t>
                      </a:r>
                    </a:p>
                  </a:txBody>
                  <a:tcPr>
                    <a:solidFill>
                      <a:srgbClr val="FFFFFF"/>
                    </a:solidFill>
                  </a:tcPr>
                </a:tc>
                <a:tc>
                  <a:txBody>
                    <a:bodyPr/>
                    <a:lstStyle/>
                    <a:p>
                      <a:r>
                        <a:rPr sz="1875" b="0">
                          <a:solidFill>
                            <a:srgbClr val="414141"/>
                          </a:solidFill>
                          <a:latin typeface="Arial"/>
                          <a:ea typeface="Arial"/>
                          <a:cs typeface="Arial"/>
                        </a:rPr>
                        <a:t>−$50 / −$10</a:t>
                      </a:r>
                    </a:p>
                  </a:txBody>
                  <a:tcPr>
                    <a:solidFill>
                      <a:srgbClr val="FFFFFF"/>
                    </a:solidFill>
                  </a:tcPr>
                </a:tc>
                <a:tc>
                  <a:txBody>
                    <a:bodyPr/>
                    <a:lstStyle/>
                    <a:p>
                      <a:r>
                        <a:rPr sz="1875" b="0" dirty="0">
                          <a:solidFill>
                            <a:srgbClr val="414141"/>
                          </a:solidFill>
                          <a:latin typeface="Arial"/>
                          <a:ea typeface="Arial"/>
                          <a:cs typeface="Arial"/>
                        </a:rPr>
                        <a:t>$10 / $50</a:t>
                      </a:r>
                    </a:p>
                  </a:txBody>
                  <a:tcPr>
                    <a:solidFill>
                      <a:srgbClr val="FFFFFF"/>
                    </a:solidFill>
                  </a:tcPr>
                </a:tc>
                <a:extLst>
                  <a:ext uri="{0D108BD9-81ED-4DB2-BD59-A6C34878D82A}">
                    <a16:rowId xmlns:a16="http://schemas.microsoft.com/office/drawing/2014/main" val="10003"/>
                  </a:ext>
                </a:extLst>
              </a:tr>
            </a:tbl>
          </a:graphicData>
        </a:graphic>
      </p:graphicFrame>
      <p:sp>
        <p:nvSpPr>
          <p:cNvPr id="10" name="Due esiti equiprobabili per roulette. Importi finali abbinat">
            <a:extLst>
              <a:ext uri="{FF2B5EF4-FFF2-40B4-BE49-F238E27FC236}">
                <a16:creationId xmlns:a16="http://schemas.microsoft.com/office/drawing/2014/main" id="{FC51EEF6-AFF7-4D48-92EC-A4FED51F85B7}"/>
              </a:ext>
            </a:extLst>
          </p:cNvPr>
          <p:cNvSpPr>
            <a:spLocks noGrp="1"/>
          </p:cNvSpPr>
          <p:nvPr/>
        </p:nvSpPr>
        <p:spPr>
          <a:xfrm>
            <a:off x="742950" y="5800725"/>
            <a:ext cx="10706100" cy="342900"/>
          </a:xfrm>
          <a:prstGeom prst="rect">
            <a:avLst/>
          </a:prstGeom>
          <a:noFill/>
          <a:ln w="0">
            <a:noFill/>
          </a:ln>
        </p:spPr>
        <p:txBody>
          <a:bodyPr wrap="square" lIns="0" tIns="0" rIns="0" bIns="0" anchor="t">
            <a:noAutofit/>
          </a:bodyPr>
          <a:lstStyle>
            <a:defPPr algn="l">
              <a:defRPr sz="1875" b="1">
                <a:solidFill>
                  <a:srgbClr val="414141"/>
                </a:solidFill>
                <a:latin typeface="Arial"/>
                <a:ea typeface="Arial"/>
                <a:cs typeface="Arial"/>
              </a:defRPr>
            </a:defPPr>
          </a:lstStyle>
          <a:p>
            <a:pPr algn="l">
              <a:defRPr sz="1875" b="1">
                <a:solidFill>
                  <a:srgbClr val="414141"/>
                </a:solidFill>
                <a:latin typeface="Arial"/>
                <a:ea typeface="Arial"/>
                <a:cs typeface="Arial"/>
              </a:defRPr>
            </a:pPr>
            <a:r>
              <a:rPr sz="1875" b="1">
                <a:solidFill>
                  <a:srgbClr val="414141"/>
                </a:solidFill>
                <a:latin typeface="Arial"/>
                <a:ea typeface="Arial"/>
                <a:cs typeface="Arial"/>
              </a:rPr>
              <a:t>Due esiti equiprobabili per roulette. Importi finali abbinati tra domini.</a:t>
            </a:r>
          </a:p>
        </p:txBody>
      </p:sp>
      <p:sp>
        <p:nvSpPr>
          <p:cNvPr id="9004" name="Apri la demo della roulette"/>
          <p:cNvSpPr>
            <a:spLocks noGrp="1"/>
          </p:cNvSpPr>
          <p:nvPr/>
        </p:nvSpPr>
        <p:spPr>
          <a:xfrm>
            <a:off x="8905875" y="1390650"/>
            <a:ext cx="2543175" cy="314325"/>
          </a:xfrm>
          <a:prstGeom prst="rect">
            <a:avLst/>
          </a:prstGeom>
          <a:noFill/>
          <a:ln w="0">
            <a:noFill/>
          </a:ln>
        </p:spPr>
        <p:txBody>
          <a:bodyPr wrap="square" lIns="0" tIns="0" rIns="0" bIns="0" anchor="t">
            <a:noAutofit/>
          </a:bodyPr>
          <a:lstStyle>
            <a:defPPr algn="l">
              <a:defRPr sz="1650" b="0" u="sng">
                <a:solidFill>
                  <a:srgbClr val="AD0000"/>
                </a:solidFill>
                <a:latin typeface="Arial"/>
                <a:ea typeface="Arial"/>
                <a:cs typeface="Arial"/>
              </a:defRPr>
            </a:defPPr>
          </a:lstStyle>
          <a:p>
            <a:pPr algn="l">
              <a:defRPr sz="1650" b="0" u="sng">
                <a:solidFill>
                  <a:srgbClr val="AD0000"/>
                </a:solidFill>
                <a:latin typeface="Arial"/>
                <a:ea typeface="Arial"/>
                <a:cs typeface="Arial"/>
              </a:defRPr>
            </a:pPr>
            <a:r>
              <a:rPr lang="it-IT" sz="1650" u="sng" dirty="0">
                <a:solidFill>
                  <a:srgbClr val="AD0000"/>
                </a:solidFill>
                <a:latin typeface="Arial"/>
                <a:ea typeface="Arial"/>
                <a:cs typeface="Arial"/>
                <a:hlinkClick r:id="rId4"/>
              </a:rPr>
              <a:t>Link esperimento</a:t>
            </a:r>
            <a:endParaRPr sz="1650" b="0" u="sng" dirty="0">
              <a:solidFill>
                <a:srgbClr val="AD0000"/>
              </a:solidFill>
              <a:latin typeface="Arial"/>
              <a:ea typeface="Arial"/>
              <a:cs typeface="Arial"/>
              <a:hlinkClick r:id="rId4"/>
            </a:endParaRPr>
          </a:p>
        </p:txBody>
      </p:sp>
      <p:sp>
        <p:nvSpPr>
          <p:cNvPr id="9100" name="Campione finale">
            <a:extLst>
              <a:ext uri="{FF2B5EF4-FFF2-40B4-BE49-F238E27FC236}">
                <a16:creationId xmlns:a16="http://schemas.microsoft.com/office/drawing/2014/main" id="{6BD98375-88E6-4A76-8473-A7895176B1D9}"/>
              </a:ext>
            </a:extLst>
          </p:cNvPr>
          <p:cNvSpPr>
            <a:spLocks noGrp="1"/>
          </p:cNvSpPr>
          <p:nvPr/>
        </p:nvSpPr>
        <p:spPr>
          <a:xfrm>
            <a:off x="8096250" y="1066800"/>
            <a:ext cx="3352800" cy="285750"/>
          </a:xfrm>
          <a:prstGeom prst="rect">
            <a:avLst/>
          </a:prstGeom>
          <a:noFill/>
          <a:ln w="0">
            <a:noFill/>
          </a:ln>
        </p:spPr>
        <p:txBody>
          <a:bodyPr>
            <a:noAutofit/>
          </a:bodyPr>
          <a:lstStyle>
            <a:defPPr>
              <a:defRPr sz="1650" b="1">
                <a:solidFill>
                  <a:srgbClr val="444444"/>
                </a:solidFill>
                <a:latin typeface="Arial"/>
                <a:ea typeface="Arial"/>
                <a:cs typeface="Arial"/>
              </a:defRPr>
            </a:defPPr>
          </a:lstStyle>
          <a:p>
            <a:pPr>
              <a:defRPr sz="1650" b="1">
                <a:solidFill>
                  <a:srgbClr val="444444"/>
                </a:solidFill>
                <a:latin typeface="Arial"/>
                <a:ea typeface="Arial"/>
                <a:cs typeface="Arial"/>
              </a:defRPr>
            </a:pPr>
            <a:r>
              <a:rPr sz="1650" b="1" dirty="0">
                <a:solidFill>
                  <a:srgbClr val="444444"/>
                </a:solidFill>
                <a:latin typeface="Arial"/>
                <a:ea typeface="Arial"/>
                <a:cs typeface="Arial"/>
              </a:rPr>
              <a:t>Campione </a:t>
            </a:r>
            <a:r>
              <a:rPr lang="it-IT" sz="1650" b="1" dirty="0">
                <a:solidFill>
                  <a:srgbClr val="444444"/>
                </a:solidFill>
                <a:latin typeface="Arial"/>
                <a:ea typeface="Arial"/>
                <a:cs typeface="Arial"/>
              </a:rPr>
              <a:t>analitico</a:t>
            </a:r>
            <a:r>
              <a:rPr sz="1650" b="1" dirty="0">
                <a:solidFill>
                  <a:srgbClr val="444444"/>
                </a:solidFill>
                <a:latin typeface="Arial"/>
                <a:ea typeface="Arial"/>
                <a:cs typeface="Arial"/>
              </a:rPr>
              <a:t>: N = 140</a:t>
            </a:r>
          </a:p>
        </p:txBody>
      </p:sp>
    </p:spTree>
    <p:extLst>
      <p:ext uri="{BB962C8B-B14F-4D97-AF65-F5344CB8AC3E}">
        <p14:creationId xmlns:p14="http://schemas.microsoft.com/office/powerpoint/2010/main" val="1633744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9" name="Sezione">
            <a:extLst>
              <a:ext uri="{FF2B5EF4-FFF2-40B4-BE49-F238E27FC236}">
                <a16:creationId xmlns:a16="http://schemas.microsoft.com/office/drawing/2014/main" id="{4D063567-D9B6-402C-8DCC-3ED614604AB9}"/>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Metodo</a:t>
            </a:r>
          </a:p>
        </p:txBody>
      </p:sp>
      <p:sp>
        <p:nvSpPr>
          <p:cNvPr id="103" name="Titolo">
            <a:extLst>
              <a:ext uri="{FF2B5EF4-FFF2-40B4-BE49-F238E27FC236}">
                <a16:creationId xmlns:a16="http://schemas.microsoft.com/office/drawing/2014/main" id="{CEE2BB5C-98B8-4ADC-969D-BEC4A8DA0392}"/>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Procedura di richiesta degli esiti</a:t>
            </a:r>
          </a:p>
        </p:txBody>
      </p:sp>
      <p:sp>
        <p:nvSpPr>
          <p:cNvPr id="104" name="Numero">
            <a:extLst>
              <a:ext uri="{FF2B5EF4-FFF2-40B4-BE49-F238E27FC236}">
                <a16:creationId xmlns:a16="http://schemas.microsoft.com/office/drawing/2014/main" id="{373DF207-7DF5-4F53-830C-7257D2108A87}"/>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08</a:t>
            </a:r>
            <a:endParaRPr sz="1425" b="0">
              <a:solidFill>
                <a:srgbClr val="707070"/>
              </a:solidFill>
              <a:latin typeface="Arial"/>
              <a:ea typeface="Arial"/>
              <a:cs typeface="Arial"/>
            </a:endParaRPr>
          </a:p>
        </p:txBody>
      </p:sp>
      <p:pic>
        <p:nvPicPr>
          <p:cNvPr id="105" name="Immagine 104">
            <a:extLst>
              <a:ext uri="{FF2B5EF4-FFF2-40B4-BE49-F238E27FC236}">
                <a16:creationId xmlns:a16="http://schemas.microsoft.com/office/drawing/2014/main" id="{24D54304-759F-4965-83C8-39DDA742BF80}"/>
              </a:ext>
            </a:extLst>
          </p:cNvPr>
          <p:cNvPicPr>
            <a:picLocks noChangeAspect="1"/>
          </p:cNvPicPr>
          <p:nvPr/>
        </p:nvPicPr>
        <p:blipFill>
          <a:blip r:embed="rId4"/>
          <a:srcRect l="32813" t="17813" r="781" b="9688"/>
          <a:stretch/>
        </p:blipFill>
        <p:spPr>
          <a:xfrm>
            <a:off x="742950" y="1809750"/>
            <a:ext cx="6438900" cy="4391025"/>
          </a:xfrm>
          <a:prstGeom prst="rect">
            <a:avLst/>
          </a:prstGeom>
        </p:spPr>
      </p:pic>
      <p:sp>
        <p:nvSpPr>
          <p:cNvPr id="106" name="1 · Giro ed esito personale">
            <a:extLst>
              <a:ext uri="{FF2B5EF4-FFF2-40B4-BE49-F238E27FC236}">
                <a16:creationId xmlns:a16="http://schemas.microsoft.com/office/drawing/2014/main" id="{E82AB091-933C-42E7-A5E6-93E24A02D5B9}"/>
              </a:ext>
            </a:extLst>
          </p:cNvPr>
          <p:cNvSpPr>
            <a:spLocks noGrp="1"/>
          </p:cNvSpPr>
          <p:nvPr/>
        </p:nvSpPr>
        <p:spPr>
          <a:xfrm>
            <a:off x="7524750" y="1781175"/>
            <a:ext cx="3924300" cy="342900"/>
          </a:xfrm>
          <a:prstGeom prst="rect">
            <a:avLst/>
          </a:prstGeom>
          <a:noFill/>
          <a:ln w="0">
            <a:noFill/>
          </a:ln>
        </p:spPr>
        <p:txBody>
          <a:bodyPr wrap="square" lIns="0" tIns="0" rIns="0" bIns="0" anchor="t">
            <a:noAutofit/>
          </a:bodyPr>
          <a:lstStyle>
            <a:defPPr algn="l">
              <a:defRPr sz="2025" b="1">
                <a:solidFill>
                  <a:srgbClr val="AA0004"/>
                </a:solidFill>
                <a:latin typeface="Arial"/>
                <a:ea typeface="Arial"/>
                <a:cs typeface="Arial"/>
              </a:defRPr>
            </a:defPPr>
          </a:lstStyle>
          <a:p>
            <a:pPr algn="l">
              <a:defRPr sz="2025" b="1">
                <a:solidFill>
                  <a:srgbClr val="AA0004"/>
                </a:solidFill>
                <a:latin typeface="Arial"/>
                <a:ea typeface="Arial"/>
                <a:cs typeface="Arial"/>
              </a:defRPr>
            </a:pPr>
            <a:r>
              <a:rPr sz="2025" b="1">
                <a:solidFill>
                  <a:srgbClr val="AA0004"/>
                </a:solidFill>
                <a:latin typeface="Arial"/>
                <a:ea typeface="Arial"/>
                <a:cs typeface="Arial"/>
              </a:rPr>
              <a:t>1 · Giro ed esito personale</a:t>
            </a:r>
          </a:p>
        </p:txBody>
      </p:sp>
      <p:sp>
        <p:nvSpPr>
          <p:cNvPr id="107" name="Si osserva il proprio esito&#10;della roulette.">
            <a:extLst>
              <a:ext uri="{FF2B5EF4-FFF2-40B4-BE49-F238E27FC236}">
                <a16:creationId xmlns:a16="http://schemas.microsoft.com/office/drawing/2014/main" id="{D66BD648-1D47-49D2-AC6C-1748304C9718}"/>
              </a:ext>
            </a:extLst>
          </p:cNvPr>
          <p:cNvSpPr>
            <a:spLocks noGrp="1"/>
          </p:cNvSpPr>
          <p:nvPr/>
        </p:nvSpPr>
        <p:spPr>
          <a:xfrm>
            <a:off x="7524750" y="2219325"/>
            <a:ext cx="3924300" cy="666750"/>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a:solidFill>
                  <a:srgbClr val="414141"/>
                </a:solidFill>
                <a:latin typeface="Arial"/>
                <a:ea typeface="Arial"/>
                <a:cs typeface="Arial"/>
              </a:rPr>
              <a:t>Si osserva il proprio esito</a:t>
            </a:r>
          </a:p>
          <a:p>
            <a:pPr algn="l">
              <a:defRPr sz="1950" b="0">
                <a:solidFill>
                  <a:srgbClr val="414141"/>
                </a:solidFill>
                <a:latin typeface="Arial"/>
                <a:ea typeface="Arial"/>
                <a:cs typeface="Arial"/>
              </a:defRPr>
            </a:pPr>
            <a:r>
              <a:rPr sz="1950" b="0">
                <a:solidFill>
                  <a:srgbClr val="414141"/>
                </a:solidFill>
                <a:latin typeface="Arial"/>
                <a:ea typeface="Arial"/>
                <a:cs typeface="Arial"/>
              </a:rPr>
              <a:t>della roulette.</a:t>
            </a:r>
          </a:p>
        </p:txBody>
      </p:sp>
      <p:sp>
        <p:nvSpPr>
          <p:cNvPr id="108" name="2 · Richieste facoltative">
            <a:extLst>
              <a:ext uri="{FF2B5EF4-FFF2-40B4-BE49-F238E27FC236}">
                <a16:creationId xmlns:a16="http://schemas.microsoft.com/office/drawing/2014/main" id="{EEFD76F3-7501-403C-B230-F57952744C88}"/>
              </a:ext>
            </a:extLst>
          </p:cNvPr>
          <p:cNvSpPr>
            <a:spLocks noGrp="1"/>
          </p:cNvSpPr>
          <p:nvPr/>
        </p:nvSpPr>
        <p:spPr>
          <a:xfrm>
            <a:off x="7524750" y="3086100"/>
            <a:ext cx="3924300" cy="342900"/>
          </a:xfrm>
          <a:prstGeom prst="rect">
            <a:avLst/>
          </a:prstGeom>
          <a:noFill/>
          <a:ln w="0">
            <a:noFill/>
          </a:ln>
        </p:spPr>
        <p:txBody>
          <a:bodyPr wrap="square" lIns="0" tIns="0" rIns="0" bIns="0" anchor="t">
            <a:noAutofit/>
          </a:bodyPr>
          <a:lstStyle>
            <a:defPPr algn="l">
              <a:defRPr sz="2025" b="1">
                <a:solidFill>
                  <a:srgbClr val="AA0004"/>
                </a:solidFill>
                <a:latin typeface="Arial"/>
                <a:ea typeface="Arial"/>
                <a:cs typeface="Arial"/>
              </a:defRPr>
            </a:defPPr>
          </a:lstStyle>
          <a:p>
            <a:pPr algn="l">
              <a:defRPr sz="2025" b="1">
                <a:solidFill>
                  <a:srgbClr val="AA0004"/>
                </a:solidFill>
                <a:latin typeface="Arial"/>
                <a:ea typeface="Arial"/>
                <a:cs typeface="Arial"/>
              </a:defRPr>
            </a:pPr>
            <a:r>
              <a:rPr sz="2025" b="1">
                <a:solidFill>
                  <a:srgbClr val="AA0004"/>
                </a:solidFill>
                <a:latin typeface="Arial"/>
                <a:ea typeface="Arial"/>
                <a:cs typeface="Arial"/>
              </a:rPr>
              <a:t>2 · Richieste facoltative</a:t>
            </a:r>
          </a:p>
        </p:txBody>
      </p:sp>
      <p:sp>
        <p:nvSpPr>
          <p:cNvPr id="109" name="J mostra un nome e un esito&#10;alla volta. Si può richiedere&#10;an">
            <a:extLst>
              <a:ext uri="{FF2B5EF4-FFF2-40B4-BE49-F238E27FC236}">
                <a16:creationId xmlns:a16="http://schemas.microsoft.com/office/drawing/2014/main" id="{66E42F04-D28F-4EF4-A44A-B5C561740C58}"/>
              </a:ext>
            </a:extLst>
          </p:cNvPr>
          <p:cNvSpPr>
            <a:spLocks noGrp="1"/>
          </p:cNvSpPr>
          <p:nvPr/>
        </p:nvSpPr>
        <p:spPr>
          <a:xfrm>
            <a:off x="7524750" y="3524250"/>
            <a:ext cx="3924300" cy="990600"/>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dirty="0">
                <a:solidFill>
                  <a:srgbClr val="414141"/>
                </a:solidFill>
                <a:latin typeface="Arial"/>
                <a:ea typeface="Arial"/>
                <a:cs typeface="Arial"/>
              </a:rPr>
              <a:t>J </a:t>
            </a:r>
            <a:r>
              <a:rPr sz="1950" b="0" dirty="0" err="1">
                <a:solidFill>
                  <a:srgbClr val="414141"/>
                </a:solidFill>
                <a:latin typeface="Arial"/>
                <a:ea typeface="Arial"/>
                <a:cs typeface="Arial"/>
              </a:rPr>
              <a:t>mostra</a:t>
            </a:r>
            <a:r>
              <a:rPr sz="1950" b="0" dirty="0">
                <a:solidFill>
                  <a:srgbClr val="414141"/>
                </a:solidFill>
                <a:latin typeface="Arial"/>
                <a:ea typeface="Arial"/>
                <a:cs typeface="Arial"/>
              </a:rPr>
              <a:t> un </a:t>
            </a:r>
            <a:r>
              <a:rPr sz="1950" b="0" dirty="0" err="1">
                <a:solidFill>
                  <a:srgbClr val="414141"/>
                </a:solidFill>
                <a:latin typeface="Arial"/>
                <a:ea typeface="Arial"/>
                <a:cs typeface="Arial"/>
              </a:rPr>
              <a:t>nome</a:t>
            </a:r>
            <a:r>
              <a:rPr sz="1950" b="0" dirty="0">
                <a:solidFill>
                  <a:srgbClr val="414141"/>
                </a:solidFill>
                <a:latin typeface="Arial"/>
                <a:ea typeface="Arial"/>
                <a:cs typeface="Arial"/>
              </a:rPr>
              <a:t> e un </a:t>
            </a:r>
            <a:r>
              <a:rPr sz="1950" b="0" dirty="0" err="1">
                <a:solidFill>
                  <a:srgbClr val="414141"/>
                </a:solidFill>
                <a:latin typeface="Arial"/>
                <a:ea typeface="Arial"/>
                <a:cs typeface="Arial"/>
              </a:rPr>
              <a:t>esito</a:t>
            </a:r>
            <a:endParaRPr sz="1950" b="0" dirty="0">
              <a:solidFill>
                <a:srgbClr val="414141"/>
              </a:solidFill>
              <a:latin typeface="Arial"/>
              <a:ea typeface="Arial"/>
              <a:cs typeface="Arial"/>
            </a:endParaRPr>
          </a:p>
          <a:p>
            <a:pPr algn="l">
              <a:defRPr sz="1950" b="0">
                <a:solidFill>
                  <a:srgbClr val="414141"/>
                </a:solidFill>
                <a:latin typeface="Arial"/>
                <a:ea typeface="Arial"/>
                <a:cs typeface="Arial"/>
              </a:defRPr>
            </a:pPr>
            <a:r>
              <a:rPr sz="1950" b="0" dirty="0">
                <a:solidFill>
                  <a:srgbClr val="414141"/>
                </a:solidFill>
                <a:latin typeface="Arial"/>
                <a:ea typeface="Arial"/>
                <a:cs typeface="Arial"/>
              </a:rPr>
              <a:t>alla volta. Si </a:t>
            </a:r>
            <a:r>
              <a:rPr sz="1950" b="0" dirty="0" err="1">
                <a:solidFill>
                  <a:srgbClr val="414141"/>
                </a:solidFill>
                <a:latin typeface="Arial"/>
                <a:ea typeface="Arial"/>
                <a:cs typeface="Arial"/>
              </a:rPr>
              <a:t>può</a:t>
            </a:r>
            <a:r>
              <a:rPr sz="1950" b="0" dirty="0">
                <a:solidFill>
                  <a:srgbClr val="414141"/>
                </a:solidFill>
                <a:latin typeface="Arial"/>
                <a:ea typeface="Arial"/>
                <a:cs typeface="Arial"/>
              </a:rPr>
              <a:t> </a:t>
            </a:r>
            <a:r>
              <a:rPr sz="1950" b="0" dirty="0" err="1">
                <a:solidFill>
                  <a:srgbClr val="414141"/>
                </a:solidFill>
                <a:latin typeface="Arial"/>
                <a:ea typeface="Arial"/>
                <a:cs typeface="Arial"/>
              </a:rPr>
              <a:t>richiedere</a:t>
            </a:r>
            <a:r>
              <a:rPr lang="it-IT" sz="1950" dirty="0">
                <a:solidFill>
                  <a:srgbClr val="414141"/>
                </a:solidFill>
                <a:latin typeface="Arial"/>
                <a:ea typeface="Arial"/>
                <a:cs typeface="Arial"/>
              </a:rPr>
              <a:t> più esiti altrui</a:t>
            </a:r>
            <a:r>
              <a:rPr sz="1950" b="0" dirty="0">
                <a:solidFill>
                  <a:srgbClr val="414141"/>
                </a:solidFill>
                <a:latin typeface="Arial"/>
                <a:ea typeface="Arial"/>
                <a:cs typeface="Arial"/>
              </a:rPr>
              <a:t>.</a:t>
            </a:r>
          </a:p>
        </p:txBody>
      </p:sp>
      <p:sp>
        <p:nvSpPr>
          <p:cNvPr id="110" name="3 · Quando fermarsi">
            <a:extLst>
              <a:ext uri="{FF2B5EF4-FFF2-40B4-BE49-F238E27FC236}">
                <a16:creationId xmlns:a16="http://schemas.microsoft.com/office/drawing/2014/main" id="{11A5A8F5-736D-4788-97B7-25678A65D4A9}"/>
              </a:ext>
            </a:extLst>
          </p:cNvPr>
          <p:cNvSpPr>
            <a:spLocks noGrp="1"/>
          </p:cNvSpPr>
          <p:nvPr/>
        </p:nvSpPr>
        <p:spPr>
          <a:xfrm>
            <a:off x="7524750" y="4695825"/>
            <a:ext cx="3924300" cy="342900"/>
          </a:xfrm>
          <a:prstGeom prst="rect">
            <a:avLst/>
          </a:prstGeom>
          <a:noFill/>
          <a:ln w="0">
            <a:noFill/>
          </a:ln>
        </p:spPr>
        <p:txBody>
          <a:bodyPr wrap="square" lIns="0" tIns="0" rIns="0" bIns="0" anchor="t">
            <a:noAutofit/>
          </a:bodyPr>
          <a:lstStyle>
            <a:defPPr algn="l">
              <a:defRPr sz="2025" b="1">
                <a:solidFill>
                  <a:srgbClr val="AA0004"/>
                </a:solidFill>
                <a:latin typeface="Arial"/>
                <a:ea typeface="Arial"/>
                <a:cs typeface="Arial"/>
              </a:defRPr>
            </a:defPPr>
          </a:lstStyle>
          <a:p>
            <a:pPr algn="l">
              <a:defRPr sz="2025" b="1">
                <a:solidFill>
                  <a:srgbClr val="AA0004"/>
                </a:solidFill>
                <a:latin typeface="Arial"/>
                <a:ea typeface="Arial"/>
                <a:cs typeface="Arial"/>
              </a:defRPr>
            </a:pPr>
            <a:r>
              <a:rPr sz="2025" b="1">
                <a:solidFill>
                  <a:srgbClr val="AA0004"/>
                </a:solidFill>
                <a:latin typeface="Arial"/>
                <a:ea typeface="Arial"/>
                <a:cs typeface="Arial"/>
              </a:rPr>
              <a:t>3 · Quando fermarsi</a:t>
            </a:r>
          </a:p>
        </p:txBody>
      </p:sp>
      <p:sp>
        <p:nvSpPr>
          <p:cNvPr id="111" name="Con F si passa alla roulette&#10;successiva, dopo zero, uno&#10;o pi">
            <a:extLst>
              <a:ext uri="{FF2B5EF4-FFF2-40B4-BE49-F238E27FC236}">
                <a16:creationId xmlns:a16="http://schemas.microsoft.com/office/drawing/2014/main" id="{7663F798-310B-4D4D-A2B0-BE2F9B237C50}"/>
              </a:ext>
            </a:extLst>
          </p:cNvPr>
          <p:cNvSpPr>
            <a:spLocks noGrp="1"/>
          </p:cNvSpPr>
          <p:nvPr/>
        </p:nvSpPr>
        <p:spPr>
          <a:xfrm>
            <a:off x="7524750" y="5133975"/>
            <a:ext cx="3924300" cy="990600"/>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dirty="0">
                <a:solidFill>
                  <a:srgbClr val="414141"/>
                </a:solidFill>
                <a:latin typeface="Arial"/>
                <a:ea typeface="Arial"/>
                <a:cs typeface="Arial"/>
              </a:rPr>
              <a:t>Con F </a:t>
            </a:r>
            <a:r>
              <a:rPr sz="1950" b="0" dirty="0" err="1">
                <a:solidFill>
                  <a:srgbClr val="414141"/>
                </a:solidFill>
                <a:latin typeface="Arial"/>
                <a:ea typeface="Arial"/>
                <a:cs typeface="Arial"/>
              </a:rPr>
              <a:t>si</a:t>
            </a:r>
            <a:r>
              <a:rPr sz="1950" b="0" dirty="0">
                <a:solidFill>
                  <a:srgbClr val="414141"/>
                </a:solidFill>
                <a:latin typeface="Arial"/>
                <a:ea typeface="Arial"/>
                <a:cs typeface="Arial"/>
              </a:rPr>
              <a:t> </a:t>
            </a:r>
            <a:r>
              <a:rPr sz="1950" b="0" dirty="0" err="1">
                <a:solidFill>
                  <a:srgbClr val="414141"/>
                </a:solidFill>
                <a:latin typeface="Arial"/>
                <a:ea typeface="Arial"/>
                <a:cs typeface="Arial"/>
              </a:rPr>
              <a:t>passa</a:t>
            </a:r>
            <a:r>
              <a:rPr sz="1950" b="0" dirty="0">
                <a:solidFill>
                  <a:srgbClr val="414141"/>
                </a:solidFill>
                <a:latin typeface="Arial"/>
                <a:ea typeface="Arial"/>
                <a:cs typeface="Arial"/>
              </a:rPr>
              <a:t> alla roulette</a:t>
            </a:r>
          </a:p>
          <a:p>
            <a:pPr algn="l">
              <a:defRPr sz="1950" b="0">
                <a:solidFill>
                  <a:srgbClr val="414141"/>
                </a:solidFill>
                <a:latin typeface="Arial"/>
                <a:ea typeface="Arial"/>
                <a:cs typeface="Arial"/>
              </a:defRPr>
            </a:pPr>
            <a:r>
              <a:rPr sz="1950" b="0" dirty="0" err="1">
                <a:solidFill>
                  <a:srgbClr val="414141"/>
                </a:solidFill>
                <a:latin typeface="Arial"/>
                <a:ea typeface="Arial"/>
                <a:cs typeface="Arial"/>
              </a:rPr>
              <a:t>successiva</a:t>
            </a:r>
            <a:r>
              <a:rPr sz="1950" b="0" dirty="0">
                <a:solidFill>
                  <a:srgbClr val="414141"/>
                </a:solidFill>
                <a:latin typeface="Arial"/>
                <a:ea typeface="Arial"/>
                <a:cs typeface="Arial"/>
              </a:rPr>
              <a:t>.</a:t>
            </a:r>
          </a:p>
        </p:txBody>
      </p:sp>
      <p:sp>
        <p:nvSpPr>
          <p:cNvPr id="112" name="Esempio dopo tre richieste · Le informazioni non modificano ">
            <a:extLst>
              <a:ext uri="{FF2B5EF4-FFF2-40B4-BE49-F238E27FC236}">
                <a16:creationId xmlns:a16="http://schemas.microsoft.com/office/drawing/2014/main" id="{D5C89C20-A6EA-4665-A4BF-9B049AD84E5C}"/>
              </a:ext>
            </a:extLst>
          </p:cNvPr>
          <p:cNvSpPr>
            <a:spLocks noGrp="1"/>
          </p:cNvSpPr>
          <p:nvPr/>
        </p:nvSpPr>
        <p:spPr>
          <a:xfrm>
            <a:off x="742950" y="6181725"/>
            <a:ext cx="10706100" cy="257175"/>
          </a:xfrm>
          <a:prstGeom prst="rect">
            <a:avLst/>
          </a:prstGeom>
          <a:noFill/>
          <a:ln w="0">
            <a:noFill/>
          </a:ln>
        </p:spPr>
        <p:txBody>
          <a:bodyPr wrap="square" lIns="0" tIns="0" rIns="0" bIns="0" anchor="t">
            <a:noAutofit/>
          </a:bodyPr>
          <a:lstStyle>
            <a:defPPr algn="l">
              <a:defRPr sz="1575" b="0">
                <a:solidFill>
                  <a:srgbClr val="707070"/>
                </a:solidFill>
                <a:latin typeface="Arial"/>
                <a:ea typeface="Arial"/>
                <a:cs typeface="Arial"/>
              </a:defRPr>
            </a:defPPr>
          </a:lstStyle>
          <a:p>
            <a:pPr algn="l">
              <a:defRPr sz="1575" b="0">
                <a:solidFill>
                  <a:srgbClr val="707070"/>
                </a:solidFill>
                <a:latin typeface="Arial"/>
                <a:ea typeface="Arial"/>
                <a:cs typeface="Arial"/>
              </a:defRPr>
            </a:pPr>
            <a:r>
              <a:rPr sz="1575" b="0" dirty="0" err="1">
                <a:solidFill>
                  <a:srgbClr val="707070"/>
                </a:solidFill>
                <a:latin typeface="Arial"/>
                <a:ea typeface="Arial"/>
                <a:cs typeface="Arial"/>
              </a:rPr>
              <a:t>Esempio</a:t>
            </a:r>
            <a:r>
              <a:rPr sz="1575" b="0" dirty="0">
                <a:solidFill>
                  <a:srgbClr val="707070"/>
                </a:solidFill>
                <a:latin typeface="Arial"/>
                <a:ea typeface="Arial"/>
                <a:cs typeface="Arial"/>
              </a:rPr>
              <a:t> dopo </a:t>
            </a:r>
            <a:r>
              <a:rPr sz="1575" b="0" dirty="0" err="1">
                <a:solidFill>
                  <a:srgbClr val="707070"/>
                </a:solidFill>
                <a:latin typeface="Arial"/>
                <a:ea typeface="Arial"/>
                <a:cs typeface="Arial"/>
              </a:rPr>
              <a:t>tre</a:t>
            </a:r>
            <a:r>
              <a:rPr sz="1575" b="0" dirty="0">
                <a:solidFill>
                  <a:srgbClr val="707070"/>
                </a:solidFill>
                <a:latin typeface="Arial"/>
                <a:ea typeface="Arial"/>
                <a:cs typeface="Arial"/>
              </a:rPr>
              <a:t> </a:t>
            </a:r>
            <a:r>
              <a:rPr sz="1575" b="0" dirty="0" err="1">
                <a:solidFill>
                  <a:srgbClr val="707070"/>
                </a:solidFill>
                <a:latin typeface="Arial"/>
                <a:ea typeface="Arial"/>
                <a:cs typeface="Arial"/>
              </a:rPr>
              <a:t>richieste</a:t>
            </a:r>
            <a:r>
              <a:rPr sz="1575" b="0" dirty="0">
                <a:solidFill>
                  <a:srgbClr val="707070"/>
                </a:solidFill>
                <a:latin typeface="Arial"/>
                <a:ea typeface="Arial"/>
                <a:cs typeface="Arial"/>
              </a:rPr>
              <a:t> · Le </a:t>
            </a:r>
            <a:r>
              <a:rPr sz="1575" b="0" dirty="0" err="1">
                <a:solidFill>
                  <a:srgbClr val="707070"/>
                </a:solidFill>
                <a:latin typeface="Arial"/>
                <a:ea typeface="Arial"/>
                <a:cs typeface="Arial"/>
              </a:rPr>
              <a:t>informazio</a:t>
            </a:r>
            <a:r>
              <a:rPr lang="it-IT" sz="1575" b="0" dirty="0">
                <a:solidFill>
                  <a:srgbClr val="707070"/>
                </a:solidFill>
                <a:latin typeface="Arial"/>
                <a:ea typeface="Arial"/>
                <a:cs typeface="Arial"/>
              </a:rPr>
              <a:t>ni non modificano la vincita</a:t>
            </a:r>
            <a:endParaRPr sz="1575" b="0" dirty="0">
              <a:solidFill>
                <a:srgbClr val="707070"/>
              </a:solidFill>
              <a:latin typeface="Arial"/>
              <a:ea typeface="Arial"/>
              <a:cs typeface="Arial"/>
            </a:endParaRPr>
          </a:p>
        </p:txBody>
      </p:sp>
    </p:spTree>
    <p:extLst>
      <p:ext uri="{BB962C8B-B14F-4D97-AF65-F5344CB8AC3E}">
        <p14:creationId xmlns:p14="http://schemas.microsoft.com/office/powerpoint/2010/main" val="248187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6" name="Sezione">
            <a:extLst>
              <a:ext uri="{FF2B5EF4-FFF2-40B4-BE49-F238E27FC236}">
                <a16:creationId xmlns:a16="http://schemas.microsoft.com/office/drawing/2014/main" id="{585ABA23-34B9-4B6A-8910-C7B193C0C8C8}"/>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Metodo</a:t>
            </a:r>
          </a:p>
        </p:txBody>
      </p:sp>
      <p:sp>
        <p:nvSpPr>
          <p:cNvPr id="2" name="Titolo">
            <a:extLst>
              <a:ext uri="{FF2B5EF4-FFF2-40B4-BE49-F238E27FC236}">
                <a16:creationId xmlns:a16="http://schemas.microsoft.com/office/drawing/2014/main" id="{4D0AF39E-8AA9-4B2A-9D57-2645147E9C0B}"/>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Misure</a:t>
            </a:r>
          </a:p>
        </p:txBody>
      </p:sp>
      <p:sp>
        <p:nvSpPr>
          <p:cNvPr id="3" name="12">
            <a:extLst>
              <a:ext uri="{FF2B5EF4-FFF2-40B4-BE49-F238E27FC236}">
                <a16:creationId xmlns:a16="http://schemas.microsoft.com/office/drawing/2014/main" id="{40593DA4-E270-4DA4-A1B1-58365AE4B6C4}"/>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09</a:t>
            </a:r>
            <a:endParaRPr sz="1425" b="0">
              <a:solidFill>
                <a:srgbClr val="707070"/>
              </a:solidFill>
              <a:latin typeface="Arial"/>
              <a:ea typeface="Arial"/>
              <a:cs typeface="Arial"/>
            </a:endParaRPr>
          </a:p>
        </p:txBody>
      </p:sp>
      <p:graphicFrame>
        <p:nvGraphicFramePr>
          <p:cNvPr id="4" name="Tabella 3">
            <a:extLst>
              <a:ext uri="{FF2B5EF4-FFF2-40B4-BE49-F238E27FC236}">
                <a16:creationId xmlns:a16="http://schemas.microsoft.com/office/drawing/2014/main" id="{54EE0C1A-34C5-40E9-8A2F-D9C2D08674E2}"/>
              </a:ext>
            </a:extLst>
          </p:cNvPr>
          <p:cNvGraphicFramePr/>
          <p:nvPr>
            <p:extLst>
              <p:ext uri="{D42A27DB-BD31-4B8C-83A1-F6EECF244321}">
                <p14:modId xmlns:p14="http://schemas.microsoft.com/office/powerpoint/2010/main" val="3814860918"/>
              </p:ext>
            </p:extLst>
          </p:nvPr>
        </p:nvGraphicFramePr>
        <p:xfrm>
          <a:off x="742950" y="1838325"/>
          <a:ext cx="10706100" cy="3800475"/>
        </p:xfrm>
        <a:graphic>
          <a:graphicData uri="http://schemas.openxmlformats.org/drawingml/2006/table">
            <a:tbl>
              <a:tblPr/>
              <a:tblGrid>
                <a:gridCol w="2038350">
                  <a:extLst>
                    <a:ext uri="{9D8B030D-6E8A-4147-A177-3AD203B41FA5}">
                      <a16:colId xmlns:a16="http://schemas.microsoft.com/office/drawing/2014/main" val="20000"/>
                    </a:ext>
                  </a:extLst>
                </a:gridCol>
                <a:gridCol w="3895725">
                  <a:extLst>
                    <a:ext uri="{9D8B030D-6E8A-4147-A177-3AD203B41FA5}">
                      <a16:colId xmlns:a16="http://schemas.microsoft.com/office/drawing/2014/main" val="20001"/>
                    </a:ext>
                  </a:extLst>
                </a:gridCol>
                <a:gridCol w="1704975">
                  <a:extLst>
                    <a:ext uri="{9D8B030D-6E8A-4147-A177-3AD203B41FA5}">
                      <a16:colId xmlns:a16="http://schemas.microsoft.com/office/drawing/2014/main" val="20002"/>
                    </a:ext>
                  </a:extLst>
                </a:gridCol>
                <a:gridCol w="3067050">
                  <a:extLst>
                    <a:ext uri="{9D8B030D-6E8A-4147-A177-3AD203B41FA5}">
                      <a16:colId xmlns:a16="http://schemas.microsoft.com/office/drawing/2014/main" val="20003"/>
                    </a:ext>
                  </a:extLst>
                </a:gridCol>
              </a:tblGrid>
              <a:tr h="495300">
                <a:tc>
                  <a:txBody>
                    <a:bodyPr/>
                    <a:lstStyle/>
                    <a:p>
                      <a:r>
                        <a:rPr sz="1725" b="1">
                          <a:solidFill>
                            <a:srgbClr val="FFFFFF"/>
                          </a:solidFill>
                          <a:latin typeface="Arial"/>
                          <a:ea typeface="Arial"/>
                          <a:cs typeface="Arial"/>
                        </a:rPr>
                        <a:t>Che cosa</a:t>
                      </a:r>
                    </a:p>
                  </a:txBody>
                  <a:tcPr>
                    <a:solidFill>
                      <a:srgbClr val="AA0004"/>
                    </a:solidFill>
                  </a:tcPr>
                </a:tc>
                <a:tc>
                  <a:txBody>
                    <a:bodyPr/>
                    <a:lstStyle/>
                    <a:p>
                      <a:r>
                        <a:rPr sz="1725" b="1">
                          <a:solidFill>
                            <a:srgbClr val="FFFFFF"/>
                          </a:solidFill>
                          <a:latin typeface="Arial"/>
                          <a:ea typeface="Arial"/>
                          <a:cs typeface="Arial"/>
                        </a:rPr>
                        <a:t>Come</a:t>
                      </a:r>
                    </a:p>
                  </a:txBody>
                  <a:tcPr>
                    <a:solidFill>
                      <a:srgbClr val="AA0004"/>
                    </a:solidFill>
                  </a:tcPr>
                </a:tc>
                <a:tc>
                  <a:txBody>
                    <a:bodyPr/>
                    <a:lstStyle/>
                    <a:p>
                      <a:r>
                        <a:rPr sz="1725" b="1">
                          <a:solidFill>
                            <a:srgbClr val="FFFFFF"/>
                          </a:solidFill>
                          <a:latin typeface="Arial"/>
                          <a:ea typeface="Arial"/>
                          <a:cs typeface="Arial"/>
                        </a:rPr>
                        <a:t>Quando</a:t>
                      </a:r>
                    </a:p>
                  </a:txBody>
                  <a:tcPr>
                    <a:solidFill>
                      <a:srgbClr val="AA0004"/>
                    </a:solidFill>
                  </a:tcPr>
                </a:tc>
                <a:tc>
                  <a:txBody>
                    <a:bodyPr/>
                    <a:lstStyle/>
                    <a:p>
                      <a:r>
                        <a:rPr sz="1725" b="1">
                          <a:solidFill>
                            <a:srgbClr val="FFFFFF"/>
                          </a:solidFill>
                          <a:latin typeface="Arial"/>
                          <a:ea typeface="Arial"/>
                          <a:cs typeface="Arial"/>
                        </a:rPr>
                        <a:t>Fonte / adattamento</a:t>
                      </a:r>
                    </a:p>
                  </a:txBody>
                  <a:tcPr>
                    <a:solidFill>
                      <a:srgbClr val="AA0004"/>
                    </a:solidFill>
                  </a:tcPr>
                </a:tc>
                <a:extLst>
                  <a:ext uri="{0D108BD9-81ED-4DB2-BD59-A6C34878D82A}">
                    <a16:rowId xmlns:a16="http://schemas.microsoft.com/office/drawing/2014/main" val="10000"/>
                  </a:ext>
                </a:extLst>
              </a:tr>
              <a:tr h="1101725">
                <a:tc>
                  <a:txBody>
                    <a:bodyPr/>
                    <a:lstStyle/>
                    <a:p>
                      <a:r>
                        <a:rPr sz="1725" b="0">
                          <a:solidFill>
                            <a:srgbClr val="414141"/>
                          </a:solidFill>
                          <a:latin typeface="Arial"/>
                          <a:ea typeface="Arial"/>
                          <a:cs typeface="Arial"/>
                        </a:rPr>
                        <a:t>Ricerca di</a:t>
                      </a:r>
                    </a:p>
                    <a:p>
                      <a:r>
                        <a:rPr sz="1725" b="0">
                          <a:solidFill>
                            <a:srgbClr val="414141"/>
                          </a:solidFill>
                          <a:latin typeface="Arial"/>
                          <a:ea typeface="Arial"/>
                          <a:cs typeface="Arial"/>
                        </a:rPr>
                        <a:t>confronto sociale</a:t>
                      </a:r>
                    </a:p>
                  </a:txBody>
                  <a:tcPr>
                    <a:solidFill>
                      <a:srgbClr val="FFFFFF"/>
                    </a:solidFill>
                  </a:tcPr>
                </a:tc>
                <a:tc>
                  <a:txBody>
                    <a:bodyPr/>
                    <a:lstStyle/>
                    <a:p>
                      <a:r>
                        <a:rPr sz="1725" b="0" dirty="0" err="1">
                          <a:solidFill>
                            <a:srgbClr val="414141"/>
                          </a:solidFill>
                          <a:latin typeface="Arial"/>
                          <a:ea typeface="Arial"/>
                          <a:cs typeface="Arial"/>
                        </a:rPr>
                        <a:t>Numero</a:t>
                      </a:r>
                      <a:r>
                        <a:rPr sz="1725" b="0" dirty="0">
                          <a:solidFill>
                            <a:srgbClr val="414141"/>
                          </a:solidFill>
                          <a:latin typeface="Arial"/>
                          <a:ea typeface="Arial"/>
                          <a:cs typeface="Arial"/>
                        </a:rPr>
                        <a:t> di </a:t>
                      </a:r>
                      <a:r>
                        <a:rPr sz="1725" b="0" dirty="0" err="1">
                          <a:solidFill>
                            <a:srgbClr val="414141"/>
                          </a:solidFill>
                          <a:latin typeface="Arial"/>
                          <a:ea typeface="Arial"/>
                          <a:cs typeface="Arial"/>
                        </a:rPr>
                        <a:t>esiti</a:t>
                      </a:r>
                      <a:r>
                        <a:rPr sz="1725" b="0" dirty="0">
                          <a:solidFill>
                            <a:srgbClr val="414141"/>
                          </a:solidFill>
                          <a:latin typeface="Arial"/>
                          <a:ea typeface="Arial"/>
                          <a:cs typeface="Arial"/>
                        </a:rPr>
                        <a:t> </a:t>
                      </a:r>
                      <a:r>
                        <a:rPr lang="it-IT" sz="1725" b="0" dirty="0">
                          <a:solidFill>
                            <a:srgbClr val="414141"/>
                          </a:solidFill>
                          <a:latin typeface="Arial"/>
                          <a:ea typeface="Arial"/>
                          <a:cs typeface="Arial"/>
                        </a:rPr>
                        <a:t>altrui </a:t>
                      </a:r>
                      <a:r>
                        <a:rPr sz="1725" b="0" dirty="0" err="1">
                          <a:solidFill>
                            <a:srgbClr val="414141"/>
                          </a:solidFill>
                          <a:latin typeface="Arial"/>
                          <a:ea typeface="Arial"/>
                          <a:cs typeface="Arial"/>
                        </a:rPr>
                        <a:t>richiesti</a:t>
                      </a:r>
                      <a:endParaRPr sz="1725" b="0" dirty="0">
                        <a:solidFill>
                          <a:srgbClr val="414141"/>
                        </a:solidFill>
                        <a:latin typeface="Arial"/>
                        <a:ea typeface="Arial"/>
                        <a:cs typeface="Arial"/>
                      </a:endParaRPr>
                    </a:p>
                  </a:txBody>
                  <a:tcPr>
                    <a:solidFill>
                      <a:srgbClr val="FFFFFF"/>
                    </a:solidFill>
                  </a:tcPr>
                </a:tc>
                <a:tc>
                  <a:txBody>
                    <a:bodyPr/>
                    <a:lstStyle/>
                    <a:p>
                      <a:r>
                        <a:rPr sz="1725" b="0">
                          <a:solidFill>
                            <a:srgbClr val="414141"/>
                          </a:solidFill>
                          <a:latin typeface="Arial"/>
                          <a:ea typeface="Arial"/>
                          <a:cs typeface="Arial"/>
                        </a:rPr>
                        <a:t>Per roulette / trial</a:t>
                      </a:r>
                    </a:p>
                  </a:txBody>
                  <a:tcPr>
                    <a:solidFill>
                      <a:srgbClr val="FFFFFF"/>
                    </a:solidFill>
                  </a:tcPr>
                </a:tc>
                <a:tc>
                  <a:txBody>
                    <a:bodyPr/>
                    <a:lstStyle/>
                    <a:p>
                      <a:r>
                        <a:rPr sz="1725" b="0">
                          <a:solidFill>
                            <a:srgbClr val="414141"/>
                          </a:solidFill>
                          <a:latin typeface="Arial"/>
                          <a:ea typeface="Arial"/>
                          <a:cs typeface="Arial"/>
                        </a:rPr>
                        <a:t>Precedenti metodologici:</a:t>
                      </a:r>
                    </a:p>
                    <a:p>
                      <a:r>
                        <a:rPr sz="1725" b="0">
                          <a:solidFill>
                            <a:srgbClr val="414141"/>
                          </a:solidFill>
                          <a:latin typeface="Arial"/>
                          <a:ea typeface="Arial"/>
                          <a:cs typeface="Arial"/>
                        </a:rPr>
                        <a:t>Pyszczynski et al. (1985)</a:t>
                      </a:r>
                    </a:p>
                    <a:p>
                      <a:r>
                        <a:rPr sz="1725" b="0">
                          <a:solidFill>
                            <a:srgbClr val="414141"/>
                          </a:solidFill>
                          <a:latin typeface="Arial"/>
                          <a:ea typeface="Arial"/>
                          <a:cs typeface="Arial"/>
                        </a:rPr>
                        <a:t>White &amp; Lehman (2005)</a:t>
                      </a:r>
                    </a:p>
                  </a:txBody>
                  <a:tcPr>
                    <a:solidFill>
                      <a:srgbClr val="FFFFFF"/>
                    </a:solidFill>
                  </a:tcPr>
                </a:tc>
                <a:extLst>
                  <a:ext uri="{0D108BD9-81ED-4DB2-BD59-A6C34878D82A}">
                    <a16:rowId xmlns:a16="http://schemas.microsoft.com/office/drawing/2014/main" val="10001"/>
                  </a:ext>
                </a:extLst>
              </a:tr>
              <a:tr h="1101725">
                <a:tc>
                  <a:txBody>
                    <a:bodyPr/>
                    <a:lstStyle/>
                    <a:p>
                      <a:r>
                        <a:rPr sz="1725" b="0">
                          <a:solidFill>
                            <a:srgbClr val="414141"/>
                          </a:solidFill>
                          <a:latin typeface="Arial"/>
                          <a:ea typeface="Arial"/>
                          <a:cs typeface="Arial"/>
                        </a:rPr>
                        <a:t>Felicità</a:t>
                      </a:r>
                    </a:p>
                    <a:p>
                      <a:r>
                        <a:rPr sz="1725" b="0">
                          <a:solidFill>
                            <a:srgbClr val="414141"/>
                          </a:solidFill>
                          <a:latin typeface="Arial"/>
                          <a:ea typeface="Arial"/>
                          <a:cs typeface="Arial"/>
                        </a:rPr>
                        <a:t>momentanea</a:t>
                      </a:r>
                    </a:p>
                  </a:txBody>
                  <a:tcPr>
                    <a:solidFill>
                      <a:srgbClr val="F4F4F4"/>
                    </a:solidFill>
                  </a:tcPr>
                </a:tc>
                <a:tc>
                  <a:txBody>
                    <a:bodyPr/>
                    <a:lstStyle/>
                    <a:p>
                      <a:r>
                        <a:rPr sz="1725" b="0">
                          <a:solidFill>
                            <a:srgbClr val="414141"/>
                          </a:solidFill>
                          <a:latin typeface="Arial"/>
                          <a:ea typeface="Arial"/>
                          <a:cs typeface="Arial"/>
                        </a:rPr>
                        <a:t>Un item: “How happy are you</a:t>
                      </a:r>
                    </a:p>
                    <a:p>
                      <a:r>
                        <a:rPr sz="1725" b="0">
                          <a:solidFill>
                            <a:srgbClr val="414141"/>
                          </a:solidFill>
                          <a:latin typeface="Arial"/>
                          <a:ea typeface="Arial"/>
                          <a:cs typeface="Arial"/>
                        </a:rPr>
                        <a:t>at this moment?”</a:t>
                      </a:r>
                    </a:p>
                    <a:p>
                      <a:r>
                        <a:rPr sz="1725" b="0">
                          <a:solidFill>
                            <a:srgbClr val="414141"/>
                          </a:solidFill>
                          <a:latin typeface="Arial"/>
                          <a:ea typeface="Arial"/>
                          <a:cs typeface="Arial"/>
                        </a:rPr>
                        <a:t>Slider continuo 0–100</a:t>
                      </a:r>
                    </a:p>
                  </a:txBody>
                  <a:tcPr>
                    <a:solidFill>
                      <a:srgbClr val="F4F4F4"/>
                    </a:solidFill>
                  </a:tcPr>
                </a:tc>
                <a:tc>
                  <a:txBody>
                    <a:bodyPr/>
                    <a:lstStyle/>
                    <a:p>
                      <a:r>
                        <a:rPr sz="1725" b="0">
                          <a:solidFill>
                            <a:srgbClr val="414141"/>
                          </a:solidFill>
                          <a:latin typeface="Arial"/>
                          <a:ea typeface="Arial"/>
                          <a:cs typeface="Arial"/>
                        </a:rPr>
                        <a:t>Dopo ciascun</a:t>
                      </a:r>
                    </a:p>
                    <a:p>
                      <a:r>
                        <a:rPr sz="1725" b="0">
                          <a:solidFill>
                            <a:srgbClr val="414141"/>
                          </a:solidFill>
                          <a:latin typeface="Arial"/>
                          <a:ea typeface="Arial"/>
                          <a:cs typeface="Arial"/>
                        </a:rPr>
                        <a:t>blocco</a:t>
                      </a:r>
                    </a:p>
                  </a:txBody>
                  <a:tcPr>
                    <a:solidFill>
                      <a:srgbClr val="F4F4F4"/>
                    </a:solidFill>
                  </a:tcPr>
                </a:tc>
                <a:tc>
                  <a:txBody>
                    <a:bodyPr/>
                    <a:lstStyle/>
                    <a:p>
                      <a:r>
                        <a:rPr sz="1725" b="0">
                          <a:solidFill>
                            <a:srgbClr val="414141"/>
                          </a:solidFill>
                          <a:latin typeface="Arial"/>
                          <a:ea typeface="Arial"/>
                          <a:cs typeface="Arial"/>
                        </a:rPr>
                        <a:t>Adattato da</a:t>
                      </a:r>
                    </a:p>
                    <a:p>
                      <a:r>
                        <a:rPr sz="1725" b="0">
                          <a:solidFill>
                            <a:srgbClr val="414141"/>
                          </a:solidFill>
                          <a:latin typeface="Arial"/>
                          <a:ea typeface="Arial"/>
                          <a:cs typeface="Arial"/>
                        </a:rPr>
                        <a:t>Rutledge et al. (2016)</a:t>
                      </a:r>
                    </a:p>
                    <a:p>
                      <a:r>
                        <a:rPr sz="1725" b="0">
                          <a:solidFill>
                            <a:srgbClr val="414141"/>
                          </a:solidFill>
                          <a:latin typeface="Arial"/>
                          <a:ea typeface="Arial"/>
                          <a:cs typeface="Arial"/>
                        </a:rPr>
                        <a:t>Controllo della manipolazione</a:t>
                      </a:r>
                    </a:p>
                  </a:txBody>
                  <a:tcPr>
                    <a:solidFill>
                      <a:srgbClr val="F4F4F4"/>
                    </a:solidFill>
                  </a:tcPr>
                </a:tc>
                <a:extLst>
                  <a:ext uri="{0D108BD9-81ED-4DB2-BD59-A6C34878D82A}">
                    <a16:rowId xmlns:a16="http://schemas.microsoft.com/office/drawing/2014/main" val="10002"/>
                  </a:ext>
                </a:extLst>
              </a:tr>
              <a:tr h="1101725">
                <a:tc>
                  <a:txBody>
                    <a:bodyPr/>
                    <a:lstStyle/>
                    <a:p>
                      <a:r>
                        <a:rPr sz="1725" b="0">
                          <a:solidFill>
                            <a:srgbClr val="414141"/>
                          </a:solidFill>
                          <a:latin typeface="Arial"/>
                          <a:ea typeface="Arial"/>
                          <a:cs typeface="Arial"/>
                        </a:rPr>
                        <a:t>Identificazione</a:t>
                      </a:r>
                    </a:p>
                  </a:txBody>
                  <a:tcPr>
                    <a:solidFill>
                      <a:srgbClr val="FFFFFF"/>
                    </a:solidFill>
                  </a:tcPr>
                </a:tc>
                <a:tc>
                  <a:txBody>
                    <a:bodyPr/>
                    <a:lstStyle/>
                    <a:p>
                      <a:r>
                        <a:rPr sz="1725" b="0">
                          <a:solidFill>
                            <a:srgbClr val="414141"/>
                          </a:solidFill>
                          <a:latin typeface="Arial"/>
                          <a:ea typeface="Arial"/>
                          <a:cs typeface="Arial"/>
                        </a:rPr>
                        <a:t>Un item riferito alle persone</a:t>
                      </a:r>
                    </a:p>
                    <a:p>
                      <a:r>
                        <a:rPr sz="1725" b="0">
                          <a:solidFill>
                            <a:srgbClr val="414141"/>
                          </a:solidFill>
                          <a:latin typeface="Arial"/>
                          <a:ea typeface="Arial"/>
                          <a:cs typeface="Arial"/>
                        </a:rPr>
                        <a:t>i cui esiti sono stati osservati</a:t>
                      </a:r>
                    </a:p>
                    <a:p>
                      <a:r>
                        <a:rPr sz="1725" b="0">
                          <a:solidFill>
                            <a:srgbClr val="414141"/>
                          </a:solidFill>
                          <a:latin typeface="Arial"/>
                          <a:ea typeface="Arial"/>
                          <a:cs typeface="Arial"/>
                        </a:rPr>
                        <a:t>Risposta 1–7</a:t>
                      </a:r>
                    </a:p>
                  </a:txBody>
                  <a:tcPr>
                    <a:solidFill>
                      <a:srgbClr val="FFFFFF"/>
                    </a:solidFill>
                  </a:tcPr>
                </a:tc>
                <a:tc>
                  <a:txBody>
                    <a:bodyPr/>
                    <a:lstStyle/>
                    <a:p>
                      <a:r>
                        <a:rPr sz="1725" b="0">
                          <a:solidFill>
                            <a:srgbClr val="414141"/>
                          </a:solidFill>
                          <a:latin typeface="Arial"/>
                          <a:ea typeface="Arial"/>
                          <a:cs typeface="Arial"/>
                        </a:rPr>
                        <a:t>Dopo ciascun</a:t>
                      </a:r>
                    </a:p>
                    <a:p>
                      <a:r>
                        <a:rPr sz="1725" b="0">
                          <a:solidFill>
                            <a:srgbClr val="414141"/>
                          </a:solidFill>
                          <a:latin typeface="Arial"/>
                          <a:ea typeface="Arial"/>
                          <a:cs typeface="Arial"/>
                        </a:rPr>
                        <a:t>blocco</a:t>
                      </a:r>
                    </a:p>
                  </a:txBody>
                  <a:tcPr>
                    <a:solidFill>
                      <a:srgbClr val="FFFFFF"/>
                    </a:solidFill>
                  </a:tcPr>
                </a:tc>
                <a:tc>
                  <a:txBody>
                    <a:bodyPr/>
                    <a:lstStyle/>
                    <a:p>
                      <a:r>
                        <a:rPr sz="1725" b="0" dirty="0" err="1">
                          <a:solidFill>
                            <a:srgbClr val="414141"/>
                          </a:solidFill>
                          <a:latin typeface="Arial"/>
                          <a:ea typeface="Arial"/>
                          <a:cs typeface="Arial"/>
                        </a:rPr>
                        <a:t>Adattato</a:t>
                      </a:r>
                      <a:r>
                        <a:rPr sz="1725" b="0" dirty="0">
                          <a:solidFill>
                            <a:srgbClr val="414141"/>
                          </a:solidFill>
                          <a:latin typeface="Arial"/>
                          <a:ea typeface="Arial"/>
                          <a:cs typeface="Arial"/>
                        </a:rPr>
                        <a:t> da</a:t>
                      </a:r>
                    </a:p>
                    <a:p>
                      <a:r>
                        <a:rPr sz="1725" b="0" dirty="0" err="1">
                          <a:solidFill>
                            <a:srgbClr val="414141"/>
                          </a:solidFill>
                          <a:latin typeface="Arial"/>
                          <a:ea typeface="Arial"/>
                          <a:cs typeface="Arial"/>
                        </a:rPr>
                        <a:t>Postmes</a:t>
                      </a:r>
                      <a:r>
                        <a:rPr sz="1725" b="0" dirty="0">
                          <a:solidFill>
                            <a:srgbClr val="414141"/>
                          </a:solidFill>
                          <a:latin typeface="Arial"/>
                          <a:ea typeface="Arial"/>
                          <a:cs typeface="Arial"/>
                        </a:rPr>
                        <a:t> et al. (2013)</a:t>
                      </a:r>
                    </a:p>
                  </a:txBody>
                  <a:tcPr>
                    <a:solidFill>
                      <a:srgbClr val="FFFFFF"/>
                    </a:solidFill>
                  </a:tcPr>
                </a:tc>
                <a:extLst>
                  <a:ext uri="{0D108BD9-81ED-4DB2-BD59-A6C34878D82A}">
                    <a16:rowId xmlns:a16="http://schemas.microsoft.com/office/drawing/2014/main" val="10003"/>
                  </a:ext>
                </a:extLst>
              </a:tr>
            </a:tbl>
          </a:graphicData>
        </a:graphic>
      </p:graphicFrame>
      <p:sp>
        <p:nvSpPr>
          <p:cNvPr id="500" name="Previsione del controllo della manipolazione">
            <a:extLst>
              <a:ext uri="{FF2B5EF4-FFF2-40B4-BE49-F238E27FC236}">
                <a16:creationId xmlns:a16="http://schemas.microsoft.com/office/drawing/2014/main" id="{51BE5182-E487-4719-A432-F7AE47398560}"/>
              </a:ext>
            </a:extLst>
          </p:cNvPr>
          <p:cNvSpPr>
            <a:spLocks noGrp="1"/>
          </p:cNvSpPr>
          <p:nvPr/>
        </p:nvSpPr>
        <p:spPr>
          <a:xfrm>
            <a:off x="742950" y="5819775"/>
            <a:ext cx="10706100" cy="314325"/>
          </a:xfrm>
          <a:prstGeom prst="rect">
            <a:avLst/>
          </a:prstGeom>
          <a:noFill/>
          <a:ln w="0">
            <a:noFill/>
          </a:ln>
        </p:spPr>
        <p:txBody>
          <a:bodyPr wrap="square" lIns="0" tIns="0" rIns="0" bIns="0" anchor="t">
            <a:noAutofit/>
          </a:bodyPr>
          <a:lstStyle>
            <a:defPPr>
              <a:defRPr sz="2025" b="1">
                <a:solidFill>
                  <a:srgbClr val="AA0004"/>
                </a:solidFill>
                <a:latin typeface="Arial"/>
                <a:ea typeface="Arial"/>
                <a:cs typeface="Arial"/>
              </a:defRPr>
            </a:defPPr>
          </a:lstStyle>
          <a:p>
            <a:pPr>
              <a:defRPr sz="2025" b="1">
                <a:solidFill>
                  <a:srgbClr val="AA0004"/>
                </a:solidFill>
                <a:latin typeface="Arial"/>
                <a:ea typeface="Arial"/>
                <a:cs typeface="Arial"/>
              </a:defRPr>
            </a:pPr>
            <a:r>
              <a:rPr sz="2025" b="1" dirty="0" err="1">
                <a:solidFill>
                  <a:srgbClr val="AA0004"/>
                </a:solidFill>
                <a:latin typeface="Arial"/>
                <a:ea typeface="Arial"/>
                <a:cs typeface="Arial"/>
              </a:rPr>
              <a:t>Previsione</a:t>
            </a:r>
            <a:r>
              <a:rPr sz="2025" b="1" dirty="0">
                <a:solidFill>
                  <a:srgbClr val="AA0004"/>
                </a:solidFill>
                <a:latin typeface="Arial"/>
                <a:ea typeface="Arial"/>
                <a:cs typeface="Arial"/>
              </a:rPr>
              <a:t>: </a:t>
            </a:r>
            <a:r>
              <a:rPr sz="2025" b="1" dirty="0" err="1">
                <a:solidFill>
                  <a:srgbClr val="AA0004"/>
                </a:solidFill>
                <a:latin typeface="Arial"/>
                <a:ea typeface="Arial"/>
                <a:cs typeface="Arial"/>
              </a:rPr>
              <a:t>minore</a:t>
            </a:r>
            <a:r>
              <a:rPr sz="2025" b="1" dirty="0">
                <a:solidFill>
                  <a:srgbClr val="AA0004"/>
                </a:solidFill>
                <a:latin typeface="Arial"/>
                <a:ea typeface="Arial"/>
                <a:cs typeface="Arial"/>
              </a:rPr>
              <a:t> </a:t>
            </a:r>
            <a:r>
              <a:rPr sz="2025" b="1" dirty="0" err="1">
                <a:solidFill>
                  <a:srgbClr val="AA0004"/>
                </a:solidFill>
                <a:latin typeface="Arial"/>
                <a:ea typeface="Arial"/>
                <a:cs typeface="Arial"/>
              </a:rPr>
              <a:t>felicità</a:t>
            </a:r>
            <a:r>
              <a:rPr sz="2025" b="1" dirty="0">
                <a:solidFill>
                  <a:srgbClr val="AA0004"/>
                </a:solidFill>
                <a:latin typeface="Arial"/>
                <a:ea typeface="Arial"/>
                <a:cs typeface="Arial"/>
              </a:rPr>
              <a:t> dopo il </a:t>
            </a:r>
            <a:r>
              <a:rPr sz="2025" b="1" dirty="0" err="1">
                <a:solidFill>
                  <a:srgbClr val="AA0004"/>
                </a:solidFill>
                <a:latin typeface="Arial"/>
                <a:ea typeface="Arial"/>
                <a:cs typeface="Arial"/>
              </a:rPr>
              <a:t>blocco</a:t>
            </a:r>
            <a:r>
              <a:rPr sz="2025" b="1" dirty="0">
                <a:solidFill>
                  <a:srgbClr val="AA0004"/>
                </a:solidFill>
                <a:latin typeface="Arial"/>
                <a:ea typeface="Arial"/>
                <a:cs typeface="Arial"/>
              </a:rPr>
              <a:t> di </a:t>
            </a:r>
            <a:r>
              <a:rPr sz="2025" b="1" dirty="0" err="1">
                <a:solidFill>
                  <a:srgbClr val="AA0004"/>
                </a:solidFill>
                <a:latin typeface="Arial"/>
                <a:ea typeface="Arial"/>
                <a:cs typeface="Arial"/>
              </a:rPr>
              <a:t>perdita</a:t>
            </a:r>
            <a:endParaRPr sz="2025" b="1" dirty="0">
              <a:solidFill>
                <a:srgbClr val="AA0004"/>
              </a:solidFill>
              <a:latin typeface="Arial"/>
              <a:ea typeface="Arial"/>
              <a:cs typeface="Arial"/>
            </a:endParaRPr>
          </a:p>
        </p:txBody>
      </p:sp>
      <p:sp>
        <p:nvSpPr>
          <p:cNvPr id="501" name="Fonti della previsione">
            <a:extLst>
              <a:ext uri="{FF2B5EF4-FFF2-40B4-BE49-F238E27FC236}">
                <a16:creationId xmlns:a16="http://schemas.microsoft.com/office/drawing/2014/main" id="{D94E94FC-3248-4244-B1F6-7082DD67D03B}"/>
              </a:ext>
            </a:extLst>
          </p:cNvPr>
          <p:cNvSpPr>
            <a:spLocks noGrp="1"/>
          </p:cNvSpPr>
          <p:nvPr/>
        </p:nvSpPr>
        <p:spPr>
          <a:xfrm>
            <a:off x="742950" y="6162675"/>
            <a:ext cx="10706100" cy="238125"/>
          </a:xfrm>
          <a:prstGeom prst="rect">
            <a:avLst/>
          </a:prstGeom>
          <a:noFill/>
          <a:ln w="0">
            <a:noFill/>
          </a:ln>
        </p:spPr>
        <p:txBody>
          <a:bodyPr wrap="square" lIns="0" tIns="0" rIns="0" bIns="0" anchor="t">
            <a:noAutofit/>
          </a:bodyPr>
          <a:lstStyle>
            <a:defPPr>
              <a:defRPr sz="1275" b="0">
                <a:solidFill>
                  <a:srgbClr val="707070"/>
                </a:solidFill>
                <a:latin typeface="Arial"/>
                <a:ea typeface="Arial"/>
                <a:cs typeface="Arial"/>
              </a:defRPr>
            </a:defPPr>
          </a:lstStyle>
          <a:p>
            <a:pPr>
              <a:defRPr sz="1275" b="0">
                <a:solidFill>
                  <a:srgbClr val="707070"/>
                </a:solidFill>
                <a:latin typeface="Arial"/>
                <a:ea typeface="Arial"/>
                <a:cs typeface="Arial"/>
              </a:defRPr>
            </a:pPr>
            <a:r>
              <a:rPr sz="1275" b="0">
                <a:solidFill>
                  <a:srgbClr val="707070"/>
                </a:solidFill>
                <a:latin typeface="Arial"/>
                <a:ea typeface="Arial"/>
                <a:cs typeface="Arial"/>
              </a:rPr>
              <a:t>Messaggi: Nabi et al. (2020); framing monetario: Young et al. (2019); lotterie: van Lieshout et al. (2021)</a:t>
            </a:r>
          </a:p>
        </p:txBody>
      </p:sp>
    </p:spTree>
    <p:extLst>
      <p:ext uri="{BB962C8B-B14F-4D97-AF65-F5344CB8AC3E}">
        <p14:creationId xmlns:p14="http://schemas.microsoft.com/office/powerpoint/2010/main" val="1536022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4" name="Sezione">
            <a:extLst>
              <a:ext uri="{FF2B5EF4-FFF2-40B4-BE49-F238E27FC236}">
                <a16:creationId xmlns:a16="http://schemas.microsoft.com/office/drawing/2014/main" id="{B4A625DB-06F9-43EF-94C6-3C5711E135EB}"/>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Metodo</a:t>
            </a:r>
          </a:p>
        </p:txBody>
      </p:sp>
      <p:sp>
        <p:nvSpPr>
          <p:cNvPr id="2" name="Titolo">
            <a:extLst>
              <a:ext uri="{FF2B5EF4-FFF2-40B4-BE49-F238E27FC236}">
                <a16:creationId xmlns:a16="http://schemas.microsoft.com/office/drawing/2014/main" id="{94175FFF-CA9F-4142-8D9D-C3BB062D67CD}"/>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lang="it-IT" sz="2550" b="1" dirty="0">
                <a:solidFill>
                  <a:srgbClr val="AA0004"/>
                </a:solidFill>
                <a:latin typeface="Arial"/>
                <a:ea typeface="Arial"/>
                <a:cs typeface="Arial"/>
              </a:rPr>
              <a:t>H3: </a:t>
            </a:r>
            <a:r>
              <a:rPr lang="it-IT" sz="2550" b="1">
                <a:solidFill>
                  <a:srgbClr val="AA0004"/>
                </a:solidFill>
                <a:latin typeface="Arial"/>
                <a:ea typeface="Arial"/>
                <a:cs typeface="Arial"/>
              </a:rPr>
              <a:t>possibilità di confronto </a:t>
            </a:r>
            <a:r>
              <a:rPr lang="it-IT" sz="2550" b="1" dirty="0">
                <a:solidFill>
                  <a:srgbClr val="AA0004"/>
                </a:solidFill>
                <a:latin typeface="Arial"/>
                <a:ea typeface="Arial"/>
                <a:cs typeface="Arial"/>
              </a:rPr>
              <a:t>verso l’alto</a:t>
            </a:r>
            <a:endParaRPr sz="2550" b="1" dirty="0">
              <a:solidFill>
                <a:srgbClr val="AA0004"/>
              </a:solidFill>
              <a:latin typeface="Arial"/>
              <a:ea typeface="Arial"/>
              <a:cs typeface="Arial"/>
            </a:endParaRPr>
          </a:p>
        </p:txBody>
      </p:sp>
      <p:sp>
        <p:nvSpPr>
          <p:cNvPr id="3" name="11">
            <a:extLst>
              <a:ext uri="{FF2B5EF4-FFF2-40B4-BE49-F238E27FC236}">
                <a16:creationId xmlns:a16="http://schemas.microsoft.com/office/drawing/2014/main" id="{D9BCC545-26F6-4685-9AFC-2C62C7462282}"/>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10</a:t>
            </a:r>
            <a:endParaRPr sz="1425" b="0">
              <a:solidFill>
                <a:srgbClr val="707070"/>
              </a:solidFill>
              <a:latin typeface="Arial"/>
              <a:ea typeface="Arial"/>
              <a:cs typeface="Arial"/>
            </a:endParaRPr>
          </a:p>
        </p:txBody>
      </p:sp>
      <p:sp>
        <p:nvSpPr>
          <p:cNvPr id="4" name="Dopo l’esito peggiore: $10">
            <a:extLst>
              <a:ext uri="{FF2B5EF4-FFF2-40B4-BE49-F238E27FC236}">
                <a16:creationId xmlns:a16="http://schemas.microsoft.com/office/drawing/2014/main" id="{484C65A4-7E60-4C49-B295-0CACBCB7F9C9}"/>
              </a:ext>
            </a:extLst>
          </p:cNvPr>
          <p:cNvSpPr>
            <a:spLocks noGrp="1"/>
          </p:cNvSpPr>
          <p:nvPr/>
        </p:nvSpPr>
        <p:spPr>
          <a:xfrm>
            <a:off x="762206" y="1994467"/>
            <a:ext cx="4972050" cy="381000"/>
          </a:xfrm>
          <a:prstGeom prst="rect">
            <a:avLst/>
          </a:prstGeom>
          <a:noFill/>
          <a:ln w="0">
            <a:noFill/>
          </a:ln>
        </p:spPr>
        <p:txBody>
          <a:bodyPr wrap="square" lIns="0" tIns="0" rIns="0" bIns="0" anchor="t">
            <a:noAutofit/>
          </a:bodyPr>
          <a:lstStyle>
            <a:defPPr algn="l">
              <a:defRPr sz="2175" b="1">
                <a:solidFill>
                  <a:srgbClr val="AA0004"/>
                </a:solidFill>
                <a:latin typeface="Arial"/>
                <a:ea typeface="Arial"/>
                <a:cs typeface="Arial"/>
              </a:defRPr>
            </a:defPPr>
          </a:lstStyle>
          <a:p>
            <a:pPr algn="l">
              <a:defRPr sz="2175" b="1">
                <a:solidFill>
                  <a:srgbClr val="AA0004"/>
                </a:solidFill>
                <a:latin typeface="Arial"/>
                <a:ea typeface="Arial"/>
                <a:cs typeface="Arial"/>
              </a:defRPr>
            </a:pPr>
            <a:r>
              <a:rPr sz="2175" b="1">
                <a:solidFill>
                  <a:srgbClr val="AA0004"/>
                </a:solidFill>
                <a:latin typeface="Arial"/>
                <a:ea typeface="Arial"/>
                <a:cs typeface="Arial"/>
              </a:rPr>
              <a:t>Dopo l’esito peggiore: $10</a:t>
            </a:r>
          </a:p>
        </p:txBody>
      </p:sp>
      <p:sp>
        <p:nvSpPr>
          <p:cNvPr id="5" name="Dopo l’esito migliore: $50">
            <a:extLst>
              <a:ext uri="{FF2B5EF4-FFF2-40B4-BE49-F238E27FC236}">
                <a16:creationId xmlns:a16="http://schemas.microsoft.com/office/drawing/2014/main" id="{8B126049-2E5B-4844-B622-E0BE19478801}"/>
              </a:ext>
            </a:extLst>
          </p:cNvPr>
          <p:cNvSpPr>
            <a:spLocks noGrp="1"/>
          </p:cNvSpPr>
          <p:nvPr/>
        </p:nvSpPr>
        <p:spPr>
          <a:xfrm>
            <a:off x="6562931" y="1994467"/>
            <a:ext cx="4905375" cy="381000"/>
          </a:xfrm>
          <a:prstGeom prst="rect">
            <a:avLst/>
          </a:prstGeom>
          <a:noFill/>
          <a:ln w="0">
            <a:noFill/>
          </a:ln>
        </p:spPr>
        <p:txBody>
          <a:bodyPr wrap="square" lIns="0" tIns="0" rIns="0" bIns="0" anchor="t">
            <a:noAutofit/>
          </a:bodyPr>
          <a:lstStyle>
            <a:defPPr algn="l">
              <a:defRPr sz="2175" b="1">
                <a:solidFill>
                  <a:srgbClr val="AA0004"/>
                </a:solidFill>
                <a:latin typeface="Arial"/>
                <a:ea typeface="Arial"/>
                <a:cs typeface="Arial"/>
              </a:defRPr>
            </a:defPPr>
          </a:lstStyle>
          <a:p>
            <a:pPr algn="l">
              <a:defRPr sz="2175" b="1">
                <a:solidFill>
                  <a:srgbClr val="AA0004"/>
                </a:solidFill>
                <a:latin typeface="Arial"/>
                <a:ea typeface="Arial"/>
                <a:cs typeface="Arial"/>
              </a:defRPr>
            </a:pPr>
            <a:r>
              <a:rPr sz="2175" b="1">
                <a:solidFill>
                  <a:srgbClr val="AA0004"/>
                </a:solidFill>
                <a:latin typeface="Arial"/>
                <a:ea typeface="Arial"/>
                <a:cs typeface="Arial"/>
              </a:rPr>
              <a:t>Dopo l’esito migliore: $50</a:t>
            </a:r>
          </a:p>
        </p:txBody>
      </p:sp>
      <p:pic>
        <p:nvPicPr>
          <p:cNvPr id="6" name="Immagine 5">
            <a:extLst>
              <a:ext uri="{FF2B5EF4-FFF2-40B4-BE49-F238E27FC236}">
                <a16:creationId xmlns:a16="http://schemas.microsoft.com/office/drawing/2014/main" id="{370FC024-E5B6-427F-ABD2-029CD6FEF283}"/>
              </a:ext>
            </a:extLst>
          </p:cNvPr>
          <p:cNvPicPr>
            <a:picLocks noChangeAspect="1"/>
          </p:cNvPicPr>
          <p:nvPr/>
        </p:nvPicPr>
        <p:blipFill>
          <a:blip r:embed="rId4"/>
          <a:stretch/>
        </p:blipFill>
        <p:spPr>
          <a:xfrm>
            <a:off x="762951" y="2594542"/>
            <a:ext cx="2970311" cy="2733675"/>
          </a:xfrm>
          <a:prstGeom prst="rect">
            <a:avLst/>
          </a:prstGeom>
        </p:spPr>
      </p:pic>
      <p:pic>
        <p:nvPicPr>
          <p:cNvPr id="7" name="Immagine 6">
            <a:extLst>
              <a:ext uri="{FF2B5EF4-FFF2-40B4-BE49-F238E27FC236}">
                <a16:creationId xmlns:a16="http://schemas.microsoft.com/office/drawing/2014/main" id="{337BC181-4ED1-48EE-B6EC-701ACB8AB8D7}"/>
              </a:ext>
            </a:extLst>
          </p:cNvPr>
          <p:cNvPicPr>
            <a:picLocks noChangeAspect="1"/>
          </p:cNvPicPr>
          <p:nvPr/>
        </p:nvPicPr>
        <p:blipFill>
          <a:blip r:embed="rId5"/>
          <a:stretch/>
        </p:blipFill>
        <p:spPr>
          <a:xfrm>
            <a:off x="6562931" y="2595952"/>
            <a:ext cx="3019425" cy="2730855"/>
          </a:xfrm>
          <a:prstGeom prst="rect">
            <a:avLst/>
          </a:prstGeom>
        </p:spPr>
      </p:pic>
      <p:sp>
        <p:nvSpPr>
          <p:cNvPr id="8" name="$10: uguale&#10;&#10;$50: migliore">
            <a:extLst>
              <a:ext uri="{FF2B5EF4-FFF2-40B4-BE49-F238E27FC236}">
                <a16:creationId xmlns:a16="http://schemas.microsoft.com/office/drawing/2014/main" id="{DA346CF5-7EC3-4E18-97B9-37E3963CE896}"/>
              </a:ext>
            </a:extLst>
          </p:cNvPr>
          <p:cNvSpPr>
            <a:spLocks noGrp="1"/>
          </p:cNvSpPr>
          <p:nvPr/>
        </p:nvSpPr>
        <p:spPr>
          <a:xfrm>
            <a:off x="4000706" y="2975542"/>
            <a:ext cx="1857375" cy="1238250"/>
          </a:xfrm>
          <a:prstGeom prst="rect">
            <a:avLst/>
          </a:prstGeom>
          <a:noFill/>
          <a:ln w="0">
            <a:noFill/>
          </a:ln>
        </p:spPr>
        <p:txBody>
          <a:bodyPr wrap="square" lIns="0" tIns="0" rIns="0" bIns="0" anchor="t">
            <a:noAutofit/>
          </a:bodyPr>
          <a:lstStyle>
            <a:defPPr algn="l">
              <a:defRPr sz="2025" b="0">
                <a:solidFill>
                  <a:srgbClr val="414141"/>
                </a:solidFill>
                <a:latin typeface="Arial"/>
                <a:ea typeface="Arial"/>
                <a:cs typeface="Arial"/>
              </a:defRPr>
            </a:defPPr>
          </a:lstStyle>
          <a:p>
            <a:pPr algn="l">
              <a:defRPr sz="2025" b="0">
                <a:solidFill>
                  <a:srgbClr val="414141"/>
                </a:solidFill>
                <a:latin typeface="Arial"/>
                <a:ea typeface="Arial"/>
                <a:cs typeface="Arial"/>
              </a:defRPr>
            </a:pPr>
            <a:r>
              <a:rPr sz="2025" b="0">
                <a:solidFill>
                  <a:srgbClr val="414141"/>
                </a:solidFill>
                <a:latin typeface="Arial"/>
                <a:ea typeface="Arial"/>
                <a:cs typeface="Arial"/>
              </a:rPr>
              <a:t>$10: uguale</a:t>
            </a:r>
          </a:p>
          <a:p>
            <a:endParaRPr sz="2025" b="0">
              <a:solidFill>
                <a:srgbClr val="414141"/>
              </a:solidFill>
              <a:latin typeface="Arial"/>
              <a:ea typeface="Arial"/>
              <a:cs typeface="Arial"/>
            </a:endParaRPr>
          </a:p>
          <a:p>
            <a:pPr algn="l">
              <a:defRPr sz="2025" b="0">
                <a:solidFill>
                  <a:srgbClr val="414141"/>
                </a:solidFill>
                <a:latin typeface="Arial"/>
                <a:ea typeface="Arial"/>
                <a:cs typeface="Arial"/>
              </a:defRPr>
            </a:pPr>
            <a:r>
              <a:rPr sz="2025" b="0">
                <a:solidFill>
                  <a:srgbClr val="414141"/>
                </a:solidFill>
                <a:latin typeface="Arial"/>
                <a:ea typeface="Arial"/>
                <a:cs typeface="Arial"/>
              </a:rPr>
              <a:t>$50: migliore</a:t>
            </a:r>
          </a:p>
        </p:txBody>
      </p:sp>
      <p:sp>
        <p:nvSpPr>
          <p:cNvPr id="9" name="Laterale o&#10;verso l’alto">
            <a:extLst>
              <a:ext uri="{FF2B5EF4-FFF2-40B4-BE49-F238E27FC236}">
                <a16:creationId xmlns:a16="http://schemas.microsoft.com/office/drawing/2014/main" id="{C4367BD4-A7D4-4E7C-BE6E-A389D148A293}"/>
              </a:ext>
            </a:extLst>
          </p:cNvPr>
          <p:cNvSpPr>
            <a:spLocks noGrp="1"/>
          </p:cNvSpPr>
          <p:nvPr/>
        </p:nvSpPr>
        <p:spPr>
          <a:xfrm>
            <a:off x="3895931" y="4604317"/>
            <a:ext cx="1924050" cy="819150"/>
          </a:xfrm>
          <a:prstGeom prst="rect">
            <a:avLst/>
          </a:prstGeom>
          <a:noFill/>
          <a:ln w="0">
            <a:noFill/>
          </a:ln>
        </p:spPr>
        <p:txBody>
          <a:bodyPr wrap="square" lIns="0" tIns="0" rIns="0" bIns="0" anchor="t">
            <a:noAutofit/>
          </a:bodyPr>
          <a:lstStyle>
            <a:defPPr algn="l">
              <a:defRPr sz="2025" b="1">
                <a:solidFill>
                  <a:srgbClr val="AA0004"/>
                </a:solidFill>
                <a:latin typeface="Arial"/>
                <a:ea typeface="Arial"/>
                <a:cs typeface="Arial"/>
              </a:defRPr>
            </a:defPPr>
          </a:lstStyle>
          <a:p>
            <a:pPr algn="l">
              <a:defRPr sz="2025" b="1">
                <a:solidFill>
                  <a:srgbClr val="AA0004"/>
                </a:solidFill>
                <a:latin typeface="Arial"/>
                <a:ea typeface="Arial"/>
                <a:cs typeface="Arial"/>
              </a:defRPr>
            </a:pPr>
            <a:r>
              <a:rPr sz="2025" b="1">
                <a:solidFill>
                  <a:srgbClr val="AA0004"/>
                </a:solidFill>
                <a:latin typeface="Arial"/>
                <a:ea typeface="Arial"/>
                <a:cs typeface="Arial"/>
              </a:rPr>
              <a:t>Laterale o</a:t>
            </a:r>
          </a:p>
          <a:p>
            <a:pPr algn="l">
              <a:defRPr sz="2025" b="1">
                <a:solidFill>
                  <a:srgbClr val="AA0004"/>
                </a:solidFill>
                <a:latin typeface="Arial"/>
                <a:ea typeface="Arial"/>
                <a:cs typeface="Arial"/>
              </a:defRPr>
            </a:pPr>
            <a:r>
              <a:rPr sz="2025" b="1">
                <a:solidFill>
                  <a:srgbClr val="AA0004"/>
                </a:solidFill>
                <a:latin typeface="Arial"/>
                <a:ea typeface="Arial"/>
                <a:cs typeface="Arial"/>
              </a:rPr>
              <a:t>verso l’alto</a:t>
            </a:r>
          </a:p>
        </p:txBody>
      </p:sp>
      <p:sp>
        <p:nvSpPr>
          <p:cNvPr id="10" name="$50: uguale&#10;&#10;$10: peggiore">
            <a:extLst>
              <a:ext uri="{FF2B5EF4-FFF2-40B4-BE49-F238E27FC236}">
                <a16:creationId xmlns:a16="http://schemas.microsoft.com/office/drawing/2014/main" id="{BA07CC14-8F44-4E25-8113-B88F49F87382}"/>
              </a:ext>
            </a:extLst>
          </p:cNvPr>
          <p:cNvSpPr>
            <a:spLocks noGrp="1"/>
          </p:cNvSpPr>
          <p:nvPr/>
        </p:nvSpPr>
        <p:spPr>
          <a:xfrm>
            <a:off x="9830006" y="2975542"/>
            <a:ext cx="1724025" cy="1238250"/>
          </a:xfrm>
          <a:prstGeom prst="rect">
            <a:avLst/>
          </a:prstGeom>
          <a:noFill/>
          <a:ln w="0">
            <a:noFill/>
          </a:ln>
        </p:spPr>
        <p:txBody>
          <a:bodyPr wrap="square" lIns="0" tIns="0" rIns="0" bIns="0" anchor="t">
            <a:noAutofit/>
          </a:bodyPr>
          <a:lstStyle>
            <a:defPPr algn="l">
              <a:defRPr sz="2025" b="0">
                <a:solidFill>
                  <a:srgbClr val="414141"/>
                </a:solidFill>
                <a:latin typeface="Arial"/>
                <a:ea typeface="Arial"/>
                <a:cs typeface="Arial"/>
              </a:defRPr>
            </a:defPPr>
          </a:lstStyle>
          <a:p>
            <a:pPr algn="l">
              <a:defRPr sz="2025" b="0">
                <a:solidFill>
                  <a:srgbClr val="414141"/>
                </a:solidFill>
                <a:latin typeface="Arial"/>
                <a:ea typeface="Arial"/>
                <a:cs typeface="Arial"/>
              </a:defRPr>
            </a:pPr>
            <a:r>
              <a:rPr sz="2025" b="0">
                <a:solidFill>
                  <a:srgbClr val="414141"/>
                </a:solidFill>
                <a:latin typeface="Arial"/>
                <a:ea typeface="Arial"/>
                <a:cs typeface="Arial"/>
              </a:rPr>
              <a:t>$50: uguale</a:t>
            </a:r>
          </a:p>
          <a:p>
            <a:endParaRPr sz="2025" b="0">
              <a:solidFill>
                <a:srgbClr val="414141"/>
              </a:solidFill>
              <a:latin typeface="Arial"/>
              <a:ea typeface="Arial"/>
              <a:cs typeface="Arial"/>
            </a:endParaRPr>
          </a:p>
          <a:p>
            <a:pPr algn="l">
              <a:defRPr sz="2025" b="0">
                <a:solidFill>
                  <a:srgbClr val="414141"/>
                </a:solidFill>
                <a:latin typeface="Arial"/>
                <a:ea typeface="Arial"/>
                <a:cs typeface="Arial"/>
              </a:defRPr>
            </a:pPr>
            <a:r>
              <a:rPr sz="2025" b="0">
                <a:solidFill>
                  <a:srgbClr val="414141"/>
                </a:solidFill>
                <a:latin typeface="Arial"/>
                <a:ea typeface="Arial"/>
                <a:cs typeface="Arial"/>
              </a:rPr>
              <a:t>$10: peggiore</a:t>
            </a:r>
          </a:p>
        </p:txBody>
      </p:sp>
      <p:sp>
        <p:nvSpPr>
          <p:cNvPr id="11" name="Laterale o&#10;verso il basso">
            <a:extLst>
              <a:ext uri="{FF2B5EF4-FFF2-40B4-BE49-F238E27FC236}">
                <a16:creationId xmlns:a16="http://schemas.microsoft.com/office/drawing/2014/main" id="{994606F3-49CC-41D8-8895-23360227114E}"/>
              </a:ext>
            </a:extLst>
          </p:cNvPr>
          <p:cNvSpPr>
            <a:spLocks noGrp="1"/>
          </p:cNvSpPr>
          <p:nvPr/>
        </p:nvSpPr>
        <p:spPr>
          <a:xfrm>
            <a:off x="9744281" y="4604317"/>
            <a:ext cx="1809750" cy="819150"/>
          </a:xfrm>
          <a:prstGeom prst="rect">
            <a:avLst/>
          </a:prstGeom>
          <a:noFill/>
          <a:ln w="0">
            <a:noFill/>
          </a:ln>
        </p:spPr>
        <p:txBody>
          <a:bodyPr wrap="square" lIns="0" tIns="0" rIns="0" bIns="0" anchor="t">
            <a:noAutofit/>
          </a:bodyPr>
          <a:lstStyle>
            <a:defPPr algn="l">
              <a:defRPr sz="2025" b="1">
                <a:solidFill>
                  <a:srgbClr val="AA0004"/>
                </a:solidFill>
                <a:latin typeface="Arial"/>
                <a:ea typeface="Arial"/>
                <a:cs typeface="Arial"/>
              </a:defRPr>
            </a:defPPr>
          </a:lstStyle>
          <a:p>
            <a:pPr algn="l">
              <a:defRPr sz="2025" b="1">
                <a:solidFill>
                  <a:srgbClr val="AA0004"/>
                </a:solidFill>
                <a:latin typeface="Arial"/>
                <a:ea typeface="Arial"/>
                <a:cs typeface="Arial"/>
              </a:defRPr>
            </a:pPr>
            <a:r>
              <a:rPr sz="2025" b="1">
                <a:solidFill>
                  <a:srgbClr val="AA0004"/>
                </a:solidFill>
                <a:latin typeface="Arial"/>
                <a:ea typeface="Arial"/>
                <a:cs typeface="Arial"/>
              </a:rPr>
              <a:t>Laterale o</a:t>
            </a:r>
          </a:p>
          <a:p>
            <a:pPr algn="l">
              <a:defRPr sz="2025" b="1">
                <a:solidFill>
                  <a:srgbClr val="AA0004"/>
                </a:solidFill>
                <a:latin typeface="Arial"/>
                <a:ea typeface="Arial"/>
                <a:cs typeface="Arial"/>
              </a:defRPr>
            </a:pPr>
            <a:r>
              <a:rPr sz="2025" b="1">
                <a:solidFill>
                  <a:srgbClr val="AA0004"/>
                </a:solidFill>
                <a:latin typeface="Arial"/>
                <a:ea typeface="Arial"/>
                <a:cs typeface="Arial"/>
              </a:rPr>
              <a:t>verso il basso</a:t>
            </a:r>
          </a:p>
        </p:txBody>
      </p:sp>
    </p:spTree>
    <p:extLst>
      <p:ext uri="{BB962C8B-B14F-4D97-AF65-F5344CB8AC3E}">
        <p14:creationId xmlns:p14="http://schemas.microsoft.com/office/powerpoint/2010/main" val="318003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4" name="Sezione">
            <a:extLst>
              <a:ext uri="{FF2B5EF4-FFF2-40B4-BE49-F238E27FC236}">
                <a16:creationId xmlns:a16="http://schemas.microsoft.com/office/drawing/2014/main" id="{F847FED5-793C-4961-A71F-CD8F07A544A9}"/>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Metodo</a:t>
            </a:r>
          </a:p>
        </p:txBody>
      </p:sp>
      <p:sp>
        <p:nvSpPr>
          <p:cNvPr id="2" name="Titolo">
            <a:extLst>
              <a:ext uri="{FF2B5EF4-FFF2-40B4-BE49-F238E27FC236}">
                <a16:creationId xmlns:a16="http://schemas.microsoft.com/office/drawing/2014/main" id="{445AEAA6-4B88-4C77-A77E-49EE20C10B6A}"/>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Distribuzione della misura e analisi</a:t>
            </a:r>
          </a:p>
        </p:txBody>
      </p:sp>
      <p:sp>
        <p:nvSpPr>
          <p:cNvPr id="3" name="13">
            <a:extLst>
              <a:ext uri="{FF2B5EF4-FFF2-40B4-BE49-F238E27FC236}">
                <a16:creationId xmlns:a16="http://schemas.microsoft.com/office/drawing/2014/main" id="{FE0F9E15-6395-454C-BD71-BC11C878CC6A}"/>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11</a:t>
            </a:r>
            <a:endParaRPr sz="1425" b="0">
              <a:solidFill>
                <a:srgbClr val="707070"/>
              </a:solidFill>
              <a:latin typeface="Arial"/>
              <a:ea typeface="Arial"/>
              <a:cs typeface="Arial"/>
            </a:endParaRPr>
          </a:p>
        </p:txBody>
      </p:sp>
      <p:sp>
        <p:nvSpPr>
          <p:cNvPr id="4" name="368 / 840 trial: zero richieste">
            <a:extLst>
              <a:ext uri="{FF2B5EF4-FFF2-40B4-BE49-F238E27FC236}">
                <a16:creationId xmlns:a16="http://schemas.microsoft.com/office/drawing/2014/main" id="{D25F54C5-C761-4043-8E2A-BB81E9238697}"/>
              </a:ext>
            </a:extLst>
          </p:cNvPr>
          <p:cNvSpPr>
            <a:spLocks noGrp="1"/>
          </p:cNvSpPr>
          <p:nvPr/>
        </p:nvSpPr>
        <p:spPr>
          <a:xfrm>
            <a:off x="5791200" y="1771650"/>
            <a:ext cx="5667375" cy="409575"/>
          </a:xfrm>
          <a:prstGeom prst="rect">
            <a:avLst/>
          </a:prstGeom>
          <a:noFill/>
          <a:ln w="0">
            <a:noFill/>
          </a:ln>
        </p:spPr>
        <p:txBody>
          <a:bodyPr wrap="square" lIns="0" tIns="0" rIns="0" bIns="0" anchor="t">
            <a:noAutofit/>
          </a:bodyPr>
          <a:lstStyle>
            <a:defPPr algn="l">
              <a:defRPr sz="2250" b="1">
                <a:solidFill>
                  <a:srgbClr val="AA0004"/>
                </a:solidFill>
                <a:latin typeface="Arial"/>
                <a:ea typeface="Arial"/>
                <a:cs typeface="Arial"/>
              </a:defRPr>
            </a:defPPr>
          </a:lstStyle>
          <a:p>
            <a:pPr algn="l">
              <a:defRPr sz="2250" b="1">
                <a:solidFill>
                  <a:srgbClr val="AA0004"/>
                </a:solidFill>
                <a:latin typeface="Arial"/>
                <a:ea typeface="Arial"/>
                <a:cs typeface="Arial"/>
              </a:defRPr>
            </a:pPr>
            <a:r>
              <a:rPr sz="2250" b="1">
                <a:solidFill>
                  <a:srgbClr val="AA0004"/>
                </a:solidFill>
                <a:latin typeface="Arial"/>
                <a:ea typeface="Arial"/>
                <a:cs typeface="Arial"/>
              </a:rPr>
              <a:t>368 / 840 trial: zero richieste</a:t>
            </a:r>
          </a:p>
        </p:txBody>
      </p:sp>
      <p:sp>
        <p:nvSpPr>
          <p:cNvPr id="5" name="43,8% dei trial">
            <a:extLst>
              <a:ext uri="{FF2B5EF4-FFF2-40B4-BE49-F238E27FC236}">
                <a16:creationId xmlns:a16="http://schemas.microsoft.com/office/drawing/2014/main" id="{7F2464FC-F475-4AC7-AF26-8C4AD310552E}"/>
              </a:ext>
            </a:extLst>
          </p:cNvPr>
          <p:cNvSpPr>
            <a:spLocks noGrp="1"/>
          </p:cNvSpPr>
          <p:nvPr/>
        </p:nvSpPr>
        <p:spPr>
          <a:xfrm>
            <a:off x="5791200" y="2238375"/>
            <a:ext cx="5476875" cy="361950"/>
          </a:xfrm>
          <a:prstGeom prst="rect">
            <a:avLst/>
          </a:prstGeom>
          <a:noFill/>
          <a:ln w="0">
            <a:noFill/>
          </a:ln>
        </p:spPr>
        <p:txBody>
          <a:bodyPr wrap="square" lIns="0" tIns="0" rIns="0" bIns="0" anchor="t">
            <a:noAutofit/>
          </a:bodyPr>
          <a:lstStyle>
            <a:defPPr algn="l">
              <a:defRPr sz="2025" b="0">
                <a:solidFill>
                  <a:srgbClr val="414141"/>
                </a:solidFill>
                <a:latin typeface="Arial"/>
                <a:ea typeface="Arial"/>
                <a:cs typeface="Arial"/>
              </a:defRPr>
            </a:defPPr>
          </a:lstStyle>
          <a:p>
            <a:pPr algn="l">
              <a:defRPr sz="2025" b="0">
                <a:solidFill>
                  <a:srgbClr val="414141"/>
                </a:solidFill>
                <a:latin typeface="Arial"/>
                <a:ea typeface="Arial"/>
                <a:cs typeface="Arial"/>
              </a:defRPr>
            </a:pPr>
            <a:r>
              <a:rPr sz="2025" b="0">
                <a:solidFill>
                  <a:srgbClr val="414141"/>
                </a:solidFill>
                <a:latin typeface="Arial"/>
                <a:ea typeface="Arial"/>
                <a:cs typeface="Arial"/>
              </a:rPr>
              <a:t>43,8% dei trial</a:t>
            </a:r>
          </a:p>
        </p:txBody>
      </p:sp>
      <p:graphicFrame>
        <p:nvGraphicFramePr>
          <p:cNvPr id="6" name="Chart">
            <a:extLst>
              <a:ext uri="{FF2B5EF4-FFF2-40B4-BE49-F238E27FC236}">
                <a16:creationId xmlns:a16="http://schemas.microsoft.com/office/drawing/2014/main" id="{1EE09B4C-6EB6-4CE9-9677-28700218830E}"/>
              </a:ext>
            </a:extLst>
          </p:cNvPr>
          <p:cNvGraphicFramePr/>
          <p:nvPr/>
        </p:nvGraphicFramePr>
        <p:xfrm>
          <a:off x="5791200" y="2676525"/>
          <a:ext cx="5629275" cy="3152775"/>
        </p:xfrm>
        <a:graphic>
          <a:graphicData uri="http://schemas.openxmlformats.org/drawingml/2006/chart">
            <c:chart xmlns:c="http://schemas.openxmlformats.org/drawingml/2006/chart" xmlns:r="http://schemas.openxmlformats.org/officeDocument/2006/relationships" r:id="rId4"/>
          </a:graphicData>
        </a:graphic>
      </p:graphicFrame>
      <p:sp>
        <p:nvSpPr>
          <p:cNvPr id="7" name="Connettore diritto 6">
            <a:extLst>
              <a:ext uri="{FF2B5EF4-FFF2-40B4-BE49-F238E27FC236}">
                <a16:creationId xmlns:a16="http://schemas.microsoft.com/office/drawing/2014/main" id="{92E7B88A-D9A4-4992-A7AA-8865EAD95D02}"/>
              </a:ext>
            </a:extLst>
          </p:cNvPr>
          <p:cNvSpPr>
            <a:spLocks noGrp="1"/>
          </p:cNvSpPr>
          <p:nvPr/>
        </p:nvSpPr>
        <p:spPr>
          <a:xfrm>
            <a:off x="5657850" y="1819275"/>
            <a:ext cx="0" cy="4048125"/>
          </a:xfrm>
          <a:prstGeom prst="line">
            <a:avLst/>
          </a:prstGeom>
          <a:noFill/>
          <a:ln w="14288">
            <a:solidFill>
              <a:srgbClr val="C4C4C4"/>
            </a:solidFill>
            <a:prstDash val="solid"/>
          </a:ln>
        </p:spPr>
        <p:txBody>
          <a:bodyPr/>
          <a:lstStyle/>
          <a:p>
            <a:endParaRPr lang="it-IT"/>
          </a:p>
        </p:txBody>
      </p:sp>
      <p:sp>
        <p:nvSpPr>
          <p:cNvPr id="8" name="Modelli a effetti misti">
            <a:extLst>
              <a:ext uri="{FF2B5EF4-FFF2-40B4-BE49-F238E27FC236}">
                <a16:creationId xmlns:a16="http://schemas.microsoft.com/office/drawing/2014/main" id="{5929238D-5167-4B28-BF12-98AFEF7E09FF}"/>
              </a:ext>
            </a:extLst>
          </p:cNvPr>
          <p:cNvSpPr>
            <a:spLocks noGrp="1"/>
          </p:cNvSpPr>
          <p:nvPr/>
        </p:nvSpPr>
        <p:spPr>
          <a:xfrm>
            <a:off x="1057275" y="1809750"/>
            <a:ext cx="4248150" cy="419100"/>
          </a:xfrm>
          <a:prstGeom prst="rect">
            <a:avLst/>
          </a:prstGeom>
          <a:noFill/>
          <a:ln w="0">
            <a:noFill/>
          </a:ln>
        </p:spPr>
        <p:txBody>
          <a:bodyPr wrap="square" lIns="0" tIns="0" rIns="0" bIns="0" anchor="t">
            <a:noAutofit/>
          </a:bodyPr>
          <a:lstStyle>
            <a:defPPr algn="ctr">
              <a:defRPr sz="2250" b="1">
                <a:solidFill>
                  <a:srgbClr val="414141"/>
                </a:solidFill>
                <a:latin typeface="Arial"/>
                <a:ea typeface="Arial"/>
                <a:cs typeface="Arial"/>
              </a:defRPr>
            </a:defPPr>
          </a:lstStyle>
          <a:p>
            <a:pPr algn="ctr">
              <a:defRPr sz="2250" b="1">
                <a:solidFill>
                  <a:srgbClr val="414141"/>
                </a:solidFill>
                <a:latin typeface="Arial"/>
                <a:ea typeface="Arial"/>
                <a:cs typeface="Arial"/>
              </a:defRPr>
            </a:pPr>
            <a:r>
              <a:rPr sz="2250" b="1">
                <a:solidFill>
                  <a:srgbClr val="414141"/>
                </a:solidFill>
                <a:latin typeface="Arial"/>
                <a:ea typeface="Arial"/>
                <a:cs typeface="Arial"/>
              </a:rPr>
              <a:t>Modelli a effetti misti</a:t>
            </a:r>
          </a:p>
        </p:txBody>
      </p:sp>
      <p:sp>
        <p:nvSpPr>
          <p:cNvPr id="9" name="Osservazioni ripetute&#10;negli stessi partecipanti">
            <a:extLst>
              <a:ext uri="{FF2B5EF4-FFF2-40B4-BE49-F238E27FC236}">
                <a16:creationId xmlns:a16="http://schemas.microsoft.com/office/drawing/2014/main" id="{4BEADC66-991C-4456-A963-17E8E3765A17}"/>
              </a:ext>
            </a:extLst>
          </p:cNvPr>
          <p:cNvSpPr>
            <a:spLocks noGrp="1"/>
          </p:cNvSpPr>
          <p:nvPr/>
        </p:nvSpPr>
        <p:spPr>
          <a:xfrm>
            <a:off x="1057275" y="2314575"/>
            <a:ext cx="4248150" cy="628650"/>
          </a:xfrm>
          <a:prstGeom prst="rect">
            <a:avLst/>
          </a:prstGeom>
          <a:noFill/>
          <a:ln w="0">
            <a:noFill/>
          </a:ln>
        </p:spPr>
        <p:txBody>
          <a:bodyPr wrap="square" lIns="0" tIns="0" rIns="0" bIns="0" anchor="t">
            <a:noAutofit/>
          </a:bodyPr>
          <a:lstStyle>
            <a:defPPr algn="ctr">
              <a:defRPr sz="1875" b="0">
                <a:solidFill>
                  <a:srgbClr val="707070"/>
                </a:solidFill>
                <a:latin typeface="Arial"/>
                <a:ea typeface="Arial"/>
                <a:cs typeface="Arial"/>
              </a:defRPr>
            </a:defPPr>
          </a:lstStyle>
          <a:p>
            <a:pPr algn="ctr">
              <a:defRPr sz="1875" b="0">
                <a:solidFill>
                  <a:srgbClr val="707070"/>
                </a:solidFill>
                <a:latin typeface="Arial"/>
                <a:ea typeface="Arial"/>
                <a:cs typeface="Arial"/>
              </a:defRPr>
            </a:pPr>
            <a:r>
              <a:rPr sz="1875" b="0">
                <a:solidFill>
                  <a:srgbClr val="707070"/>
                </a:solidFill>
                <a:latin typeface="Arial"/>
                <a:ea typeface="Arial"/>
                <a:cs typeface="Arial"/>
              </a:rPr>
              <a:t>Osservazioni ripetute</a:t>
            </a:r>
          </a:p>
          <a:p>
            <a:pPr algn="ctr">
              <a:defRPr sz="1875" b="0">
                <a:solidFill>
                  <a:srgbClr val="707070"/>
                </a:solidFill>
                <a:latin typeface="Arial"/>
                <a:ea typeface="Arial"/>
                <a:cs typeface="Arial"/>
              </a:defRPr>
            </a:pPr>
            <a:r>
              <a:rPr sz="1875" b="0">
                <a:solidFill>
                  <a:srgbClr val="707070"/>
                </a:solidFill>
                <a:latin typeface="Arial"/>
                <a:ea typeface="Arial"/>
                <a:cs typeface="Arial"/>
              </a:rPr>
              <a:t>negli stessi partecipanti</a:t>
            </a:r>
          </a:p>
        </p:txBody>
      </p:sp>
      <p:sp>
        <p:nvSpPr>
          <p:cNvPr id="10" name="Connettore diritto 9">
            <a:extLst>
              <a:ext uri="{FF2B5EF4-FFF2-40B4-BE49-F238E27FC236}">
                <a16:creationId xmlns:a16="http://schemas.microsoft.com/office/drawing/2014/main" id="{350AAE9B-1C27-4F51-BB12-D8FB2ECB5C2E}"/>
              </a:ext>
            </a:extLst>
          </p:cNvPr>
          <p:cNvSpPr>
            <a:spLocks noGrp="1"/>
          </p:cNvSpPr>
          <p:nvPr/>
        </p:nvSpPr>
        <p:spPr>
          <a:xfrm>
            <a:off x="3181350" y="3009900"/>
            <a:ext cx="0" cy="257175"/>
          </a:xfrm>
          <a:prstGeom prst="line">
            <a:avLst/>
          </a:prstGeom>
          <a:noFill/>
          <a:ln w="14288">
            <a:solidFill>
              <a:srgbClr val="C4C4C4"/>
            </a:solidFill>
            <a:prstDash val="solid"/>
          </a:ln>
        </p:spPr>
        <p:txBody>
          <a:bodyPr/>
          <a:lstStyle/>
          <a:p>
            <a:endParaRPr lang="it-IT"/>
          </a:p>
        </p:txBody>
      </p:sp>
      <p:sp>
        <p:nvSpPr>
          <p:cNvPr id="11" name="Connettore diritto 10">
            <a:extLst>
              <a:ext uri="{FF2B5EF4-FFF2-40B4-BE49-F238E27FC236}">
                <a16:creationId xmlns:a16="http://schemas.microsoft.com/office/drawing/2014/main" id="{C371ECD2-B32F-43B2-90A9-1DEA1BF66F49}"/>
              </a:ext>
            </a:extLst>
          </p:cNvPr>
          <p:cNvSpPr>
            <a:spLocks noGrp="1"/>
          </p:cNvSpPr>
          <p:nvPr/>
        </p:nvSpPr>
        <p:spPr>
          <a:xfrm>
            <a:off x="2495550" y="3267075"/>
            <a:ext cx="2400300" cy="0"/>
          </a:xfrm>
          <a:prstGeom prst="line">
            <a:avLst/>
          </a:prstGeom>
          <a:noFill/>
          <a:ln w="14288">
            <a:solidFill>
              <a:srgbClr val="C4C4C4"/>
            </a:solidFill>
            <a:prstDash val="solid"/>
          </a:ln>
        </p:spPr>
        <p:txBody>
          <a:bodyPr/>
          <a:lstStyle/>
          <a:p>
            <a:endParaRPr lang="it-IT"/>
          </a:p>
        </p:txBody>
      </p:sp>
      <p:sp>
        <p:nvSpPr>
          <p:cNvPr id="12" name="Connettore diritto 11">
            <a:extLst>
              <a:ext uri="{FF2B5EF4-FFF2-40B4-BE49-F238E27FC236}">
                <a16:creationId xmlns:a16="http://schemas.microsoft.com/office/drawing/2014/main" id="{456341B8-95E0-49FF-BD4F-301E18C39FCB}"/>
              </a:ext>
            </a:extLst>
          </p:cNvPr>
          <p:cNvSpPr>
            <a:spLocks noGrp="1"/>
          </p:cNvSpPr>
          <p:nvPr/>
        </p:nvSpPr>
        <p:spPr>
          <a:xfrm>
            <a:off x="2495550" y="3267075"/>
            <a:ext cx="0" cy="247650"/>
          </a:xfrm>
          <a:prstGeom prst="line">
            <a:avLst/>
          </a:prstGeom>
          <a:noFill/>
          <a:ln w="14288">
            <a:solidFill>
              <a:srgbClr val="C4C4C4"/>
            </a:solidFill>
            <a:prstDash val="solid"/>
          </a:ln>
        </p:spPr>
        <p:txBody>
          <a:bodyPr/>
          <a:lstStyle/>
          <a:p>
            <a:endParaRPr lang="it-IT"/>
          </a:p>
        </p:txBody>
      </p:sp>
      <p:sp>
        <p:nvSpPr>
          <p:cNvPr id="13" name="Connettore diritto 12">
            <a:extLst>
              <a:ext uri="{FF2B5EF4-FFF2-40B4-BE49-F238E27FC236}">
                <a16:creationId xmlns:a16="http://schemas.microsoft.com/office/drawing/2014/main" id="{E1940E87-889A-4022-973B-285220FDDE96}"/>
              </a:ext>
            </a:extLst>
          </p:cNvPr>
          <p:cNvSpPr>
            <a:spLocks noGrp="1"/>
          </p:cNvSpPr>
          <p:nvPr/>
        </p:nvSpPr>
        <p:spPr>
          <a:xfrm>
            <a:off x="4895850" y="3267075"/>
            <a:ext cx="0" cy="247650"/>
          </a:xfrm>
          <a:prstGeom prst="line">
            <a:avLst/>
          </a:prstGeom>
          <a:noFill/>
          <a:ln w="14288">
            <a:solidFill>
              <a:srgbClr val="C4C4C4"/>
            </a:solidFill>
            <a:prstDash val="solid"/>
          </a:ln>
        </p:spPr>
        <p:txBody>
          <a:bodyPr/>
          <a:lstStyle/>
          <a:p>
            <a:endParaRPr lang="it-IT"/>
          </a:p>
        </p:txBody>
      </p:sp>
      <p:sp>
        <p:nvSpPr>
          <p:cNvPr id="14" name="Ricerca di confronto&#10;sociale: modello hurdle">
            <a:extLst>
              <a:ext uri="{FF2B5EF4-FFF2-40B4-BE49-F238E27FC236}">
                <a16:creationId xmlns:a16="http://schemas.microsoft.com/office/drawing/2014/main" id="{ABC4128B-C06A-4F4B-8472-2402355BA131}"/>
              </a:ext>
            </a:extLst>
          </p:cNvPr>
          <p:cNvSpPr>
            <a:spLocks noGrp="1"/>
          </p:cNvSpPr>
          <p:nvPr/>
        </p:nvSpPr>
        <p:spPr>
          <a:xfrm>
            <a:off x="742950" y="3562350"/>
            <a:ext cx="3790950" cy="685800"/>
          </a:xfrm>
          <a:prstGeom prst="rect">
            <a:avLst/>
          </a:prstGeom>
          <a:noFill/>
          <a:ln w="0">
            <a:noFill/>
          </a:ln>
        </p:spPr>
        <p:txBody>
          <a:bodyPr wrap="square" lIns="0" tIns="0" rIns="0" bIns="0" anchor="t">
            <a:noAutofit/>
          </a:bodyPr>
          <a:lstStyle>
            <a:defPPr algn="ctr">
              <a:defRPr sz="2025" b="1">
                <a:solidFill>
                  <a:srgbClr val="414141"/>
                </a:solidFill>
                <a:latin typeface="Arial"/>
                <a:ea typeface="Arial"/>
                <a:cs typeface="Arial"/>
              </a:defRPr>
            </a:defPPr>
          </a:lstStyle>
          <a:p>
            <a:pPr algn="ctr">
              <a:defRPr sz="2025" b="1">
                <a:solidFill>
                  <a:srgbClr val="414141"/>
                </a:solidFill>
                <a:latin typeface="Arial"/>
                <a:ea typeface="Arial"/>
                <a:cs typeface="Arial"/>
              </a:defRPr>
            </a:pPr>
            <a:r>
              <a:rPr sz="2025" b="1">
                <a:solidFill>
                  <a:srgbClr val="414141"/>
                </a:solidFill>
                <a:latin typeface="Arial"/>
                <a:ea typeface="Arial"/>
                <a:cs typeface="Arial"/>
              </a:rPr>
              <a:t>Ricerca di confronto</a:t>
            </a:r>
          </a:p>
          <a:p>
            <a:pPr algn="ctr">
              <a:defRPr sz="2025" b="1">
                <a:solidFill>
                  <a:srgbClr val="414141"/>
                </a:solidFill>
                <a:latin typeface="Arial"/>
                <a:ea typeface="Arial"/>
                <a:cs typeface="Arial"/>
              </a:defRPr>
            </a:pPr>
            <a:r>
              <a:rPr sz="2025" b="1">
                <a:solidFill>
                  <a:srgbClr val="414141"/>
                </a:solidFill>
                <a:latin typeface="Arial"/>
                <a:ea typeface="Arial"/>
                <a:cs typeface="Arial"/>
              </a:rPr>
              <a:t>sociale: modello hurdle</a:t>
            </a:r>
          </a:p>
        </p:txBody>
      </p:sp>
      <p:sp>
        <p:nvSpPr>
          <p:cNvPr id="15" name="…">
            <a:extLst>
              <a:ext uri="{FF2B5EF4-FFF2-40B4-BE49-F238E27FC236}">
                <a16:creationId xmlns:a16="http://schemas.microsoft.com/office/drawing/2014/main" id="{2EFA8586-F09B-4BF7-BA77-E5C9842AFF2B}"/>
              </a:ext>
            </a:extLst>
          </p:cNvPr>
          <p:cNvSpPr>
            <a:spLocks noGrp="1"/>
          </p:cNvSpPr>
          <p:nvPr/>
        </p:nvSpPr>
        <p:spPr>
          <a:xfrm>
            <a:off x="4648200" y="3524250"/>
            <a:ext cx="590550" cy="409575"/>
          </a:xfrm>
          <a:prstGeom prst="rect">
            <a:avLst/>
          </a:prstGeom>
          <a:noFill/>
          <a:ln w="0">
            <a:noFill/>
          </a:ln>
        </p:spPr>
        <p:txBody>
          <a:bodyPr wrap="square" lIns="0" tIns="0" rIns="0" bIns="0" anchor="t">
            <a:noAutofit/>
          </a:bodyPr>
          <a:lstStyle>
            <a:defPPr algn="l">
              <a:defRPr sz="2850" b="0">
                <a:solidFill>
                  <a:srgbClr val="707070"/>
                </a:solidFill>
                <a:latin typeface="Arial"/>
                <a:ea typeface="Arial"/>
                <a:cs typeface="Arial"/>
              </a:defRPr>
            </a:defPPr>
          </a:lstStyle>
          <a:p>
            <a:pPr algn="l">
              <a:defRPr sz="2850" b="0">
                <a:solidFill>
                  <a:srgbClr val="707070"/>
                </a:solidFill>
                <a:latin typeface="Arial"/>
                <a:ea typeface="Arial"/>
                <a:cs typeface="Arial"/>
              </a:defRPr>
            </a:pPr>
            <a:r>
              <a:rPr sz="2850" b="0">
                <a:solidFill>
                  <a:srgbClr val="707070"/>
                </a:solidFill>
                <a:latin typeface="Arial"/>
                <a:ea typeface="Arial"/>
                <a:cs typeface="Arial"/>
              </a:rPr>
              <a:t>…</a:t>
            </a:r>
          </a:p>
        </p:txBody>
      </p:sp>
      <p:sp>
        <p:nvSpPr>
          <p:cNvPr id="16" name="Connettore diritto 15">
            <a:extLst>
              <a:ext uri="{FF2B5EF4-FFF2-40B4-BE49-F238E27FC236}">
                <a16:creationId xmlns:a16="http://schemas.microsoft.com/office/drawing/2014/main" id="{F9080A82-E87F-4AA3-9277-0D6C6FB7CBDE}"/>
              </a:ext>
            </a:extLst>
          </p:cNvPr>
          <p:cNvSpPr>
            <a:spLocks noGrp="1"/>
          </p:cNvSpPr>
          <p:nvPr/>
        </p:nvSpPr>
        <p:spPr>
          <a:xfrm>
            <a:off x="2514600" y="4343400"/>
            <a:ext cx="0" cy="219075"/>
          </a:xfrm>
          <a:prstGeom prst="line">
            <a:avLst/>
          </a:prstGeom>
          <a:noFill/>
          <a:ln w="14288">
            <a:solidFill>
              <a:srgbClr val="C4C4C4"/>
            </a:solidFill>
            <a:prstDash val="solid"/>
          </a:ln>
        </p:spPr>
        <p:txBody>
          <a:bodyPr/>
          <a:lstStyle/>
          <a:p>
            <a:endParaRPr lang="it-IT"/>
          </a:p>
        </p:txBody>
      </p:sp>
      <p:sp>
        <p:nvSpPr>
          <p:cNvPr id="17" name="Connettore diritto 16">
            <a:extLst>
              <a:ext uri="{FF2B5EF4-FFF2-40B4-BE49-F238E27FC236}">
                <a16:creationId xmlns:a16="http://schemas.microsoft.com/office/drawing/2014/main" id="{E7D0486E-B0E1-4C28-92A3-4BC2FD158481}"/>
              </a:ext>
            </a:extLst>
          </p:cNvPr>
          <p:cNvSpPr>
            <a:spLocks noGrp="1"/>
          </p:cNvSpPr>
          <p:nvPr/>
        </p:nvSpPr>
        <p:spPr>
          <a:xfrm>
            <a:off x="1657350" y="4562475"/>
            <a:ext cx="2705100" cy="0"/>
          </a:xfrm>
          <a:prstGeom prst="line">
            <a:avLst/>
          </a:prstGeom>
          <a:noFill/>
          <a:ln w="14288">
            <a:solidFill>
              <a:srgbClr val="C4C4C4"/>
            </a:solidFill>
            <a:prstDash val="solid"/>
          </a:ln>
        </p:spPr>
        <p:txBody>
          <a:bodyPr/>
          <a:lstStyle/>
          <a:p>
            <a:endParaRPr lang="it-IT"/>
          </a:p>
        </p:txBody>
      </p:sp>
      <p:sp>
        <p:nvSpPr>
          <p:cNvPr id="18" name="Connettore diritto 17">
            <a:extLst>
              <a:ext uri="{FF2B5EF4-FFF2-40B4-BE49-F238E27FC236}">
                <a16:creationId xmlns:a16="http://schemas.microsoft.com/office/drawing/2014/main" id="{DF6EB342-3F36-4009-9245-65B497E66A9B}"/>
              </a:ext>
            </a:extLst>
          </p:cNvPr>
          <p:cNvSpPr>
            <a:spLocks noGrp="1"/>
          </p:cNvSpPr>
          <p:nvPr/>
        </p:nvSpPr>
        <p:spPr>
          <a:xfrm>
            <a:off x="1657350" y="4562475"/>
            <a:ext cx="0" cy="228600"/>
          </a:xfrm>
          <a:prstGeom prst="line">
            <a:avLst/>
          </a:prstGeom>
          <a:noFill/>
          <a:ln w="14288">
            <a:solidFill>
              <a:srgbClr val="C4C4C4"/>
            </a:solidFill>
            <a:prstDash val="solid"/>
          </a:ln>
        </p:spPr>
        <p:txBody>
          <a:bodyPr/>
          <a:lstStyle/>
          <a:p>
            <a:endParaRPr lang="it-IT"/>
          </a:p>
        </p:txBody>
      </p:sp>
      <p:sp>
        <p:nvSpPr>
          <p:cNvPr id="19" name="Connettore diritto 18">
            <a:extLst>
              <a:ext uri="{FF2B5EF4-FFF2-40B4-BE49-F238E27FC236}">
                <a16:creationId xmlns:a16="http://schemas.microsoft.com/office/drawing/2014/main" id="{E8E3094C-BAF6-4D0C-8D65-FEB43F568BBE}"/>
              </a:ext>
            </a:extLst>
          </p:cNvPr>
          <p:cNvSpPr>
            <a:spLocks noGrp="1"/>
          </p:cNvSpPr>
          <p:nvPr/>
        </p:nvSpPr>
        <p:spPr>
          <a:xfrm>
            <a:off x="4362450" y="4562475"/>
            <a:ext cx="0" cy="228600"/>
          </a:xfrm>
          <a:prstGeom prst="line">
            <a:avLst/>
          </a:prstGeom>
          <a:noFill/>
          <a:ln w="14288">
            <a:solidFill>
              <a:srgbClr val="C4C4C4"/>
            </a:solidFill>
            <a:prstDash val="solid"/>
          </a:ln>
        </p:spPr>
        <p:txBody>
          <a:bodyPr/>
          <a:lstStyle/>
          <a:p>
            <a:endParaRPr lang="it-IT"/>
          </a:p>
        </p:txBody>
      </p:sp>
      <p:sp>
        <p:nvSpPr>
          <p:cNvPr id="20" name="Inizio">
            <a:extLst>
              <a:ext uri="{FF2B5EF4-FFF2-40B4-BE49-F238E27FC236}">
                <a16:creationId xmlns:a16="http://schemas.microsoft.com/office/drawing/2014/main" id="{D945A570-4C97-47C5-8D2E-AAC571B7B6CD}"/>
              </a:ext>
            </a:extLst>
          </p:cNvPr>
          <p:cNvSpPr>
            <a:spLocks noGrp="1"/>
          </p:cNvSpPr>
          <p:nvPr/>
        </p:nvSpPr>
        <p:spPr>
          <a:xfrm>
            <a:off x="1009650" y="4876800"/>
            <a:ext cx="1619250" cy="371475"/>
          </a:xfrm>
          <a:prstGeom prst="rect">
            <a:avLst/>
          </a:prstGeom>
          <a:noFill/>
          <a:ln w="0">
            <a:noFill/>
          </a:ln>
        </p:spPr>
        <p:txBody>
          <a:bodyPr wrap="square" lIns="0" tIns="0" rIns="0" bIns="0" anchor="t">
            <a:noAutofit/>
          </a:bodyPr>
          <a:lstStyle>
            <a:defPPr algn="ctr">
              <a:defRPr sz="2175" b="1">
                <a:solidFill>
                  <a:srgbClr val="AA0004"/>
                </a:solidFill>
                <a:latin typeface="Arial"/>
                <a:ea typeface="Arial"/>
                <a:cs typeface="Arial"/>
              </a:defRPr>
            </a:defPPr>
          </a:lstStyle>
          <a:p>
            <a:pPr algn="ctr">
              <a:defRPr sz="2175" b="1">
                <a:solidFill>
                  <a:srgbClr val="AA0004"/>
                </a:solidFill>
                <a:latin typeface="Arial"/>
                <a:ea typeface="Arial"/>
                <a:cs typeface="Arial"/>
              </a:defRPr>
            </a:pPr>
            <a:r>
              <a:rPr sz="2175" b="1">
                <a:solidFill>
                  <a:srgbClr val="AA0004"/>
                </a:solidFill>
                <a:latin typeface="Arial"/>
                <a:ea typeface="Arial"/>
                <a:cs typeface="Arial"/>
              </a:rPr>
              <a:t>Inizio</a:t>
            </a:r>
          </a:p>
        </p:txBody>
      </p:sp>
      <p:sp>
        <p:nvSpPr>
          <p:cNvPr id="21" name="Almeno un esito?">
            <a:extLst>
              <a:ext uri="{FF2B5EF4-FFF2-40B4-BE49-F238E27FC236}">
                <a16:creationId xmlns:a16="http://schemas.microsoft.com/office/drawing/2014/main" id="{A28449BB-8E9D-4BEB-8BDB-3F10309266C3}"/>
              </a:ext>
            </a:extLst>
          </p:cNvPr>
          <p:cNvSpPr>
            <a:spLocks noGrp="1"/>
          </p:cNvSpPr>
          <p:nvPr/>
        </p:nvSpPr>
        <p:spPr>
          <a:xfrm>
            <a:off x="876300" y="5334000"/>
            <a:ext cx="1962150" cy="628650"/>
          </a:xfrm>
          <a:prstGeom prst="rect">
            <a:avLst/>
          </a:prstGeom>
          <a:noFill/>
          <a:ln w="0">
            <a:noFill/>
          </a:ln>
        </p:spPr>
        <p:txBody>
          <a:bodyPr wrap="square" lIns="0" tIns="0" rIns="0" bIns="0" anchor="t">
            <a:noAutofit/>
          </a:bodyPr>
          <a:lstStyle>
            <a:defPPr algn="ctr">
              <a:defRPr sz="1875" b="0">
                <a:solidFill>
                  <a:srgbClr val="414141"/>
                </a:solidFill>
                <a:latin typeface="Arial"/>
                <a:ea typeface="Arial"/>
                <a:cs typeface="Arial"/>
              </a:defRPr>
            </a:defPPr>
          </a:lstStyle>
          <a:p>
            <a:pPr algn="ctr">
              <a:defRPr sz="1875" b="0">
                <a:solidFill>
                  <a:srgbClr val="414141"/>
                </a:solidFill>
                <a:latin typeface="Arial"/>
                <a:ea typeface="Arial"/>
                <a:cs typeface="Arial"/>
              </a:defRPr>
            </a:pPr>
            <a:r>
              <a:rPr sz="1875" b="0">
                <a:solidFill>
                  <a:srgbClr val="414141"/>
                </a:solidFill>
                <a:latin typeface="Arial"/>
                <a:ea typeface="Arial"/>
                <a:cs typeface="Arial"/>
              </a:rPr>
              <a:t>Almeno un esito?</a:t>
            </a:r>
          </a:p>
        </p:txBody>
      </p:sp>
      <p:sp>
        <p:nvSpPr>
          <p:cNvPr id="22" name="Estensione">
            <a:extLst>
              <a:ext uri="{FF2B5EF4-FFF2-40B4-BE49-F238E27FC236}">
                <a16:creationId xmlns:a16="http://schemas.microsoft.com/office/drawing/2014/main" id="{E0DAECEC-C6FD-4461-87BC-083BF343A5DA}"/>
              </a:ext>
            </a:extLst>
          </p:cNvPr>
          <p:cNvSpPr>
            <a:spLocks noGrp="1"/>
          </p:cNvSpPr>
          <p:nvPr/>
        </p:nvSpPr>
        <p:spPr>
          <a:xfrm>
            <a:off x="3257550" y="4876800"/>
            <a:ext cx="2047875" cy="371475"/>
          </a:xfrm>
          <a:prstGeom prst="rect">
            <a:avLst/>
          </a:prstGeom>
          <a:noFill/>
          <a:ln w="0">
            <a:noFill/>
          </a:ln>
        </p:spPr>
        <p:txBody>
          <a:bodyPr wrap="square" lIns="0" tIns="0" rIns="0" bIns="0" anchor="t">
            <a:noAutofit/>
          </a:bodyPr>
          <a:lstStyle>
            <a:defPPr algn="ctr">
              <a:defRPr sz="2175" b="1">
                <a:solidFill>
                  <a:srgbClr val="AA0004"/>
                </a:solidFill>
                <a:latin typeface="Arial"/>
                <a:ea typeface="Arial"/>
                <a:cs typeface="Arial"/>
              </a:defRPr>
            </a:defPPr>
          </a:lstStyle>
          <a:p>
            <a:pPr algn="ctr">
              <a:defRPr sz="2175" b="1">
                <a:solidFill>
                  <a:srgbClr val="AA0004"/>
                </a:solidFill>
                <a:latin typeface="Arial"/>
                <a:ea typeface="Arial"/>
                <a:cs typeface="Arial"/>
              </a:defRPr>
            </a:pPr>
            <a:r>
              <a:rPr sz="2175" b="1">
                <a:solidFill>
                  <a:srgbClr val="AA0004"/>
                </a:solidFill>
                <a:latin typeface="Arial"/>
                <a:ea typeface="Arial"/>
                <a:cs typeface="Arial"/>
              </a:rPr>
              <a:t>Estensione</a:t>
            </a:r>
          </a:p>
        </p:txBody>
      </p:sp>
      <p:sp>
        <p:nvSpPr>
          <p:cNvPr id="23" name="Quanti esiti,&#10;dopo l’inizio?">
            <a:extLst>
              <a:ext uri="{FF2B5EF4-FFF2-40B4-BE49-F238E27FC236}">
                <a16:creationId xmlns:a16="http://schemas.microsoft.com/office/drawing/2014/main" id="{FA4128BA-36FA-458A-AB9E-A6497B6854FC}"/>
              </a:ext>
            </a:extLst>
          </p:cNvPr>
          <p:cNvSpPr>
            <a:spLocks noGrp="1"/>
          </p:cNvSpPr>
          <p:nvPr/>
        </p:nvSpPr>
        <p:spPr>
          <a:xfrm>
            <a:off x="3219450" y="5305425"/>
            <a:ext cx="2162175" cy="723900"/>
          </a:xfrm>
          <a:prstGeom prst="rect">
            <a:avLst/>
          </a:prstGeom>
          <a:noFill/>
          <a:ln w="0">
            <a:noFill/>
          </a:ln>
        </p:spPr>
        <p:txBody>
          <a:bodyPr wrap="square" lIns="0" tIns="0" rIns="0" bIns="0" anchor="t">
            <a:noAutofit/>
          </a:bodyPr>
          <a:lstStyle>
            <a:defPPr algn="ctr">
              <a:defRPr sz="1875" b="0">
                <a:solidFill>
                  <a:srgbClr val="414141"/>
                </a:solidFill>
                <a:latin typeface="Arial"/>
                <a:ea typeface="Arial"/>
                <a:cs typeface="Arial"/>
              </a:defRPr>
            </a:defPPr>
          </a:lstStyle>
          <a:p>
            <a:pPr algn="ctr">
              <a:defRPr sz="1875" b="0">
                <a:solidFill>
                  <a:srgbClr val="414141"/>
                </a:solidFill>
                <a:latin typeface="Arial"/>
                <a:ea typeface="Arial"/>
                <a:cs typeface="Arial"/>
              </a:defRPr>
            </a:pPr>
            <a:r>
              <a:rPr sz="1875" b="0">
                <a:solidFill>
                  <a:srgbClr val="414141"/>
                </a:solidFill>
                <a:latin typeface="Arial"/>
                <a:ea typeface="Arial"/>
                <a:cs typeface="Arial"/>
              </a:rPr>
              <a:t>Quanti esiti,</a:t>
            </a:r>
          </a:p>
          <a:p>
            <a:pPr algn="ctr">
              <a:defRPr sz="1875" b="0">
                <a:solidFill>
                  <a:srgbClr val="414141"/>
                </a:solidFill>
                <a:latin typeface="Arial"/>
                <a:ea typeface="Arial"/>
                <a:cs typeface="Arial"/>
              </a:defRPr>
            </a:pPr>
            <a:r>
              <a:rPr sz="1875" b="0">
                <a:solidFill>
                  <a:srgbClr val="414141"/>
                </a:solidFill>
                <a:latin typeface="Arial"/>
                <a:ea typeface="Arial"/>
                <a:cs typeface="Arial"/>
              </a:rPr>
              <a:t>dopo l’inizio?</a:t>
            </a:r>
          </a:p>
        </p:txBody>
      </p:sp>
    </p:spTree>
    <p:extLst>
      <p:ext uri="{BB962C8B-B14F-4D97-AF65-F5344CB8AC3E}">
        <p14:creationId xmlns:p14="http://schemas.microsoft.com/office/powerpoint/2010/main" val="302444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7" name="Sezione">
            <a:extLst>
              <a:ext uri="{FF2B5EF4-FFF2-40B4-BE49-F238E27FC236}">
                <a16:creationId xmlns:a16="http://schemas.microsoft.com/office/drawing/2014/main" id="{D3C82D28-804A-400C-A975-1B9600A553A7}"/>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Risultati</a:t>
            </a:r>
          </a:p>
        </p:txBody>
      </p:sp>
      <p:sp>
        <p:nvSpPr>
          <p:cNvPr id="2" name="Titolo">
            <a:extLst>
              <a:ext uri="{FF2B5EF4-FFF2-40B4-BE49-F238E27FC236}">
                <a16:creationId xmlns:a16="http://schemas.microsoft.com/office/drawing/2014/main" id="{A6DE9CA4-C91F-4A09-B4A8-5B8156E924EE}"/>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Controllo della manipolazione e H1</a:t>
            </a:r>
          </a:p>
        </p:txBody>
      </p:sp>
      <p:sp>
        <p:nvSpPr>
          <p:cNvPr id="3" name="14">
            <a:extLst>
              <a:ext uri="{FF2B5EF4-FFF2-40B4-BE49-F238E27FC236}">
                <a16:creationId xmlns:a16="http://schemas.microsoft.com/office/drawing/2014/main" id="{83F9F0DE-1AEE-477E-B894-82359FE809E3}"/>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12</a:t>
            </a:r>
            <a:endParaRPr sz="1425" b="0">
              <a:solidFill>
                <a:srgbClr val="707070"/>
              </a:solidFill>
              <a:latin typeface="Arial"/>
              <a:ea typeface="Arial"/>
              <a:cs typeface="Arial"/>
            </a:endParaRPr>
          </a:p>
        </p:txBody>
      </p:sp>
      <p:sp>
        <p:nvSpPr>
          <p:cNvPr id="4" name="Felicità momentanea">
            <a:extLst>
              <a:ext uri="{FF2B5EF4-FFF2-40B4-BE49-F238E27FC236}">
                <a16:creationId xmlns:a16="http://schemas.microsoft.com/office/drawing/2014/main" id="{DC0D20EB-535F-4BFF-B3D2-01431ACE771B}"/>
              </a:ext>
            </a:extLst>
          </p:cNvPr>
          <p:cNvSpPr>
            <a:spLocks noGrp="1"/>
          </p:cNvSpPr>
          <p:nvPr/>
        </p:nvSpPr>
        <p:spPr>
          <a:xfrm>
            <a:off x="742950" y="1790700"/>
            <a:ext cx="4572000" cy="400050"/>
          </a:xfrm>
          <a:prstGeom prst="rect">
            <a:avLst/>
          </a:prstGeom>
          <a:noFill/>
          <a:ln w="0">
            <a:noFill/>
          </a:ln>
        </p:spPr>
        <p:txBody>
          <a:bodyPr wrap="square" lIns="0" tIns="0" rIns="0" bIns="0" anchor="t">
            <a:noAutofit/>
          </a:bodyPr>
          <a:lstStyle>
            <a:defPPr algn="l">
              <a:defRPr sz="2250" b="1">
                <a:solidFill>
                  <a:srgbClr val="AA0004"/>
                </a:solidFill>
                <a:latin typeface="Arial"/>
                <a:ea typeface="Arial"/>
                <a:cs typeface="Arial"/>
              </a:defRPr>
            </a:defPPr>
          </a:lstStyle>
          <a:p>
            <a:pPr algn="l">
              <a:defRPr sz="2250" b="1">
                <a:solidFill>
                  <a:srgbClr val="AA0004"/>
                </a:solidFill>
                <a:latin typeface="Arial"/>
                <a:ea typeface="Arial"/>
                <a:cs typeface="Arial"/>
              </a:defRPr>
            </a:pPr>
            <a:r>
              <a:rPr sz="2250" b="1">
                <a:solidFill>
                  <a:srgbClr val="AA0004"/>
                </a:solidFill>
                <a:latin typeface="Arial"/>
                <a:ea typeface="Arial"/>
                <a:cs typeface="Arial"/>
              </a:rPr>
              <a:t>Felicità momentanea</a:t>
            </a:r>
          </a:p>
        </p:txBody>
      </p:sp>
      <p:sp>
        <p:nvSpPr>
          <p:cNvPr id="5" name="62,24">
            <a:extLst>
              <a:ext uri="{FF2B5EF4-FFF2-40B4-BE49-F238E27FC236}">
                <a16:creationId xmlns:a16="http://schemas.microsoft.com/office/drawing/2014/main" id="{9674B076-A090-41E8-BF7B-D56B7C3F03E5}"/>
              </a:ext>
            </a:extLst>
          </p:cNvPr>
          <p:cNvSpPr>
            <a:spLocks noGrp="1"/>
          </p:cNvSpPr>
          <p:nvPr/>
        </p:nvSpPr>
        <p:spPr>
          <a:xfrm>
            <a:off x="742950" y="2476500"/>
            <a:ext cx="2124075" cy="628650"/>
          </a:xfrm>
          <a:prstGeom prst="rect">
            <a:avLst/>
          </a:prstGeom>
          <a:noFill/>
          <a:ln w="0">
            <a:noFill/>
          </a:ln>
        </p:spPr>
        <p:txBody>
          <a:bodyPr wrap="square" lIns="0" tIns="0" rIns="0" bIns="0" anchor="t">
            <a:noAutofit/>
          </a:bodyPr>
          <a:lstStyle>
            <a:defPPr algn="l">
              <a:defRPr sz="3675" b="1">
                <a:solidFill>
                  <a:srgbClr val="414141"/>
                </a:solidFill>
                <a:latin typeface="Arial"/>
                <a:ea typeface="Arial"/>
                <a:cs typeface="Arial"/>
              </a:defRPr>
            </a:defPPr>
          </a:lstStyle>
          <a:p>
            <a:pPr algn="l">
              <a:defRPr sz="3675" b="1">
                <a:solidFill>
                  <a:srgbClr val="414141"/>
                </a:solidFill>
                <a:latin typeface="Arial"/>
                <a:ea typeface="Arial"/>
                <a:cs typeface="Arial"/>
              </a:defRPr>
            </a:pPr>
            <a:r>
              <a:rPr sz="3675" b="1">
                <a:solidFill>
                  <a:srgbClr val="414141"/>
                </a:solidFill>
                <a:latin typeface="Arial"/>
                <a:ea typeface="Arial"/>
                <a:cs typeface="Arial"/>
              </a:rPr>
              <a:t>62,24</a:t>
            </a:r>
          </a:p>
        </p:txBody>
      </p:sp>
      <p:sp>
        <p:nvSpPr>
          <p:cNvPr id="6" name="44,57">
            <a:extLst>
              <a:ext uri="{FF2B5EF4-FFF2-40B4-BE49-F238E27FC236}">
                <a16:creationId xmlns:a16="http://schemas.microsoft.com/office/drawing/2014/main" id="{61536122-3677-43A5-9F81-FA640274C9C8}"/>
              </a:ext>
            </a:extLst>
          </p:cNvPr>
          <p:cNvSpPr>
            <a:spLocks noGrp="1"/>
          </p:cNvSpPr>
          <p:nvPr/>
        </p:nvSpPr>
        <p:spPr>
          <a:xfrm>
            <a:off x="3200400" y="2476500"/>
            <a:ext cx="2038350" cy="628650"/>
          </a:xfrm>
          <a:prstGeom prst="rect">
            <a:avLst/>
          </a:prstGeom>
          <a:noFill/>
          <a:ln w="0">
            <a:noFill/>
          </a:ln>
        </p:spPr>
        <p:txBody>
          <a:bodyPr wrap="square" lIns="0" tIns="0" rIns="0" bIns="0" anchor="t">
            <a:noAutofit/>
          </a:bodyPr>
          <a:lstStyle>
            <a:defPPr algn="l">
              <a:defRPr sz="3675" b="1">
                <a:solidFill>
                  <a:srgbClr val="414141"/>
                </a:solidFill>
                <a:latin typeface="Arial"/>
                <a:ea typeface="Arial"/>
                <a:cs typeface="Arial"/>
              </a:defRPr>
            </a:defPPr>
          </a:lstStyle>
          <a:p>
            <a:pPr algn="l">
              <a:defRPr sz="3675" b="1">
                <a:solidFill>
                  <a:srgbClr val="414141"/>
                </a:solidFill>
                <a:latin typeface="Arial"/>
                <a:ea typeface="Arial"/>
                <a:cs typeface="Arial"/>
              </a:defRPr>
            </a:pPr>
            <a:r>
              <a:rPr sz="3675" b="1">
                <a:solidFill>
                  <a:srgbClr val="414141"/>
                </a:solidFill>
                <a:latin typeface="Arial"/>
                <a:ea typeface="Arial"/>
                <a:cs typeface="Arial"/>
              </a:rPr>
              <a:t>44,57</a:t>
            </a:r>
          </a:p>
        </p:txBody>
      </p:sp>
      <p:sp>
        <p:nvSpPr>
          <p:cNvPr id="7" name="Guadagno">
            <a:extLst>
              <a:ext uri="{FF2B5EF4-FFF2-40B4-BE49-F238E27FC236}">
                <a16:creationId xmlns:a16="http://schemas.microsoft.com/office/drawing/2014/main" id="{C38395E4-B830-468F-91F0-E572FBBB53FE}"/>
              </a:ext>
            </a:extLst>
          </p:cNvPr>
          <p:cNvSpPr>
            <a:spLocks noGrp="1"/>
          </p:cNvSpPr>
          <p:nvPr/>
        </p:nvSpPr>
        <p:spPr>
          <a:xfrm>
            <a:off x="742950" y="3219450"/>
            <a:ext cx="2095500" cy="342900"/>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a:solidFill>
                  <a:srgbClr val="414141"/>
                </a:solidFill>
                <a:latin typeface="Arial"/>
                <a:ea typeface="Arial"/>
                <a:cs typeface="Arial"/>
              </a:rPr>
              <a:t>Guadagno</a:t>
            </a:r>
          </a:p>
        </p:txBody>
      </p:sp>
      <p:sp>
        <p:nvSpPr>
          <p:cNvPr id="8" name="Perdita">
            <a:extLst>
              <a:ext uri="{FF2B5EF4-FFF2-40B4-BE49-F238E27FC236}">
                <a16:creationId xmlns:a16="http://schemas.microsoft.com/office/drawing/2014/main" id="{F3404B24-49E8-4E46-A475-58CF56ED8F2D}"/>
              </a:ext>
            </a:extLst>
          </p:cNvPr>
          <p:cNvSpPr>
            <a:spLocks noGrp="1"/>
          </p:cNvSpPr>
          <p:nvPr/>
        </p:nvSpPr>
        <p:spPr>
          <a:xfrm>
            <a:off x="3200400" y="3219450"/>
            <a:ext cx="2095500" cy="342900"/>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a:solidFill>
                  <a:srgbClr val="414141"/>
                </a:solidFill>
                <a:latin typeface="Arial"/>
                <a:ea typeface="Arial"/>
                <a:cs typeface="Arial"/>
              </a:rPr>
              <a:t>Perdita</a:t>
            </a:r>
          </a:p>
        </p:txBody>
      </p:sp>
      <p:sp>
        <p:nvSpPr>
          <p:cNvPr id="9" name="Medie osservate su scala 0–100">
            <a:extLst>
              <a:ext uri="{FF2B5EF4-FFF2-40B4-BE49-F238E27FC236}">
                <a16:creationId xmlns:a16="http://schemas.microsoft.com/office/drawing/2014/main" id="{5E6586C6-56C9-4345-BDAF-D12A5EB5EB62}"/>
              </a:ext>
            </a:extLst>
          </p:cNvPr>
          <p:cNvSpPr>
            <a:spLocks noGrp="1"/>
          </p:cNvSpPr>
          <p:nvPr/>
        </p:nvSpPr>
        <p:spPr>
          <a:xfrm>
            <a:off x="742950" y="3781425"/>
            <a:ext cx="4600575" cy="361950"/>
          </a:xfrm>
          <a:prstGeom prst="rect">
            <a:avLst/>
          </a:prstGeom>
          <a:noFill/>
          <a:ln w="0">
            <a:noFill/>
          </a:ln>
        </p:spPr>
        <p:txBody>
          <a:bodyPr wrap="square" lIns="0" tIns="0" rIns="0" bIns="0" anchor="t">
            <a:noAutofit/>
          </a:bodyPr>
          <a:lstStyle>
            <a:defPPr algn="l">
              <a:defRPr sz="1800" b="0">
                <a:solidFill>
                  <a:srgbClr val="707070"/>
                </a:solidFill>
                <a:latin typeface="Arial"/>
                <a:ea typeface="Arial"/>
                <a:cs typeface="Arial"/>
              </a:defRPr>
            </a:defPPr>
          </a:lstStyle>
          <a:p>
            <a:pPr algn="l">
              <a:defRPr sz="1800" b="0">
                <a:solidFill>
                  <a:srgbClr val="707070"/>
                </a:solidFill>
                <a:latin typeface="Arial"/>
                <a:ea typeface="Arial"/>
                <a:cs typeface="Arial"/>
              </a:defRPr>
            </a:pPr>
            <a:r>
              <a:rPr sz="1800" b="0">
                <a:solidFill>
                  <a:srgbClr val="707070"/>
                </a:solidFill>
                <a:latin typeface="Arial"/>
                <a:ea typeface="Arial"/>
                <a:cs typeface="Arial"/>
              </a:rPr>
              <a:t>Medie osservate su scala 0–100</a:t>
            </a:r>
          </a:p>
        </p:txBody>
      </p:sp>
      <p:sp>
        <p:nvSpPr>
          <p:cNvPr id="10" name="Perdita meno guadagno&#10;b = −17,68&#10;IC 95% [−21,52, −13,83]&#10;p &lt;">
            <a:extLst>
              <a:ext uri="{FF2B5EF4-FFF2-40B4-BE49-F238E27FC236}">
                <a16:creationId xmlns:a16="http://schemas.microsoft.com/office/drawing/2014/main" id="{6200CA88-7C99-4EB0-A098-8A4B1A98E198}"/>
              </a:ext>
            </a:extLst>
          </p:cNvPr>
          <p:cNvSpPr>
            <a:spLocks noGrp="1"/>
          </p:cNvSpPr>
          <p:nvPr/>
        </p:nvSpPr>
        <p:spPr>
          <a:xfrm>
            <a:off x="742950" y="4362450"/>
            <a:ext cx="4638675" cy="1333500"/>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dirty="0">
                <a:solidFill>
                  <a:srgbClr val="414141"/>
                </a:solidFill>
                <a:latin typeface="Arial"/>
                <a:ea typeface="Arial"/>
                <a:cs typeface="Arial"/>
              </a:rPr>
              <a:t>Perdita </a:t>
            </a:r>
            <a:r>
              <a:rPr lang="it-IT" sz="1950" dirty="0">
                <a:solidFill>
                  <a:srgbClr val="414141"/>
                </a:solidFill>
                <a:latin typeface="Arial"/>
                <a:ea typeface="Arial"/>
                <a:cs typeface="Arial"/>
              </a:rPr>
              <a:t>&lt;</a:t>
            </a:r>
            <a:r>
              <a:rPr sz="1950" b="0" dirty="0">
                <a:solidFill>
                  <a:srgbClr val="414141"/>
                </a:solidFill>
                <a:latin typeface="Arial"/>
                <a:ea typeface="Arial"/>
                <a:cs typeface="Arial"/>
              </a:rPr>
              <a:t> </a:t>
            </a:r>
            <a:r>
              <a:rPr sz="1950" b="0" dirty="0" err="1">
                <a:solidFill>
                  <a:srgbClr val="414141"/>
                </a:solidFill>
                <a:latin typeface="Arial"/>
                <a:ea typeface="Arial"/>
                <a:cs typeface="Arial"/>
              </a:rPr>
              <a:t>guadagno</a:t>
            </a:r>
            <a:endParaRPr sz="1950" b="0" dirty="0">
              <a:solidFill>
                <a:srgbClr val="414141"/>
              </a:solidFill>
              <a:latin typeface="Arial"/>
              <a:ea typeface="Arial"/>
              <a:cs typeface="Arial"/>
            </a:endParaRPr>
          </a:p>
          <a:p>
            <a:pPr algn="l">
              <a:defRPr sz="1950" b="0">
                <a:solidFill>
                  <a:srgbClr val="414141"/>
                </a:solidFill>
                <a:latin typeface="Arial"/>
                <a:ea typeface="Arial"/>
                <a:cs typeface="Arial"/>
              </a:defRPr>
            </a:pPr>
            <a:r>
              <a:rPr sz="1950" b="0" i="1" dirty="0">
                <a:solidFill>
                  <a:srgbClr val="414141"/>
                </a:solidFill>
                <a:latin typeface="Arial"/>
                <a:ea typeface="Arial"/>
                <a:cs typeface="Arial"/>
              </a:rPr>
              <a:t>b</a:t>
            </a:r>
            <a:r>
              <a:rPr sz="1950" b="0" dirty="0">
                <a:solidFill>
                  <a:srgbClr val="414141"/>
                </a:solidFill>
                <a:latin typeface="Arial"/>
                <a:ea typeface="Arial"/>
                <a:cs typeface="Arial"/>
              </a:rPr>
              <a:t> = −17,68</a:t>
            </a:r>
          </a:p>
          <a:p>
            <a:pPr algn="l">
              <a:defRPr sz="1950" b="0">
                <a:solidFill>
                  <a:srgbClr val="414141"/>
                </a:solidFill>
                <a:latin typeface="Arial"/>
                <a:ea typeface="Arial"/>
                <a:cs typeface="Arial"/>
              </a:defRPr>
            </a:pPr>
            <a:r>
              <a:rPr sz="1950" b="0" dirty="0">
                <a:solidFill>
                  <a:srgbClr val="414141"/>
                </a:solidFill>
                <a:latin typeface="Arial"/>
                <a:ea typeface="Arial"/>
                <a:cs typeface="Arial"/>
              </a:rPr>
              <a:t>IC 95% [−21,52, −13,83]</a:t>
            </a:r>
          </a:p>
          <a:p>
            <a:pPr algn="l">
              <a:defRPr sz="1950" b="0">
                <a:solidFill>
                  <a:srgbClr val="414141"/>
                </a:solidFill>
                <a:latin typeface="Arial"/>
                <a:ea typeface="Arial"/>
                <a:cs typeface="Arial"/>
              </a:defRPr>
            </a:pPr>
            <a:r>
              <a:rPr sz="1950" b="0" i="1" dirty="0">
                <a:solidFill>
                  <a:srgbClr val="414141"/>
                </a:solidFill>
                <a:latin typeface="Arial"/>
                <a:ea typeface="Arial"/>
                <a:cs typeface="Arial"/>
              </a:rPr>
              <a:t>p</a:t>
            </a:r>
            <a:r>
              <a:rPr sz="1950" b="0" dirty="0">
                <a:solidFill>
                  <a:srgbClr val="414141"/>
                </a:solidFill>
                <a:latin typeface="Arial"/>
                <a:ea typeface="Arial"/>
                <a:cs typeface="Arial"/>
              </a:rPr>
              <a:t> &lt; .001</a:t>
            </a:r>
          </a:p>
        </p:txBody>
      </p:sp>
      <p:sp>
        <p:nvSpPr>
          <p:cNvPr id="11" name="Connettore diritto 10">
            <a:extLst>
              <a:ext uri="{FF2B5EF4-FFF2-40B4-BE49-F238E27FC236}">
                <a16:creationId xmlns:a16="http://schemas.microsoft.com/office/drawing/2014/main" id="{AF48F949-35BD-4EDF-ADE8-214FEDA9BBDB}"/>
              </a:ext>
            </a:extLst>
          </p:cNvPr>
          <p:cNvSpPr>
            <a:spLocks noGrp="1"/>
          </p:cNvSpPr>
          <p:nvPr/>
        </p:nvSpPr>
        <p:spPr>
          <a:xfrm>
            <a:off x="5781675" y="1781175"/>
            <a:ext cx="0" cy="4171950"/>
          </a:xfrm>
          <a:prstGeom prst="line">
            <a:avLst/>
          </a:prstGeom>
          <a:noFill/>
          <a:ln w="14288">
            <a:solidFill>
              <a:srgbClr val="C4C4C4"/>
            </a:solidFill>
            <a:prstDash val="solid"/>
          </a:ln>
        </p:spPr>
        <p:txBody>
          <a:bodyPr/>
          <a:lstStyle/>
          <a:p>
            <a:endParaRPr lang="it-IT"/>
          </a:p>
        </p:txBody>
      </p:sp>
      <p:sp>
        <p:nvSpPr>
          <p:cNvPr id="12" name="H1 · Ricerca di confronto sociale">
            <a:extLst>
              <a:ext uri="{FF2B5EF4-FFF2-40B4-BE49-F238E27FC236}">
                <a16:creationId xmlns:a16="http://schemas.microsoft.com/office/drawing/2014/main" id="{A4CB9349-6ACD-4C90-A80B-551368D77EFD}"/>
              </a:ext>
            </a:extLst>
          </p:cNvPr>
          <p:cNvSpPr>
            <a:spLocks noGrp="1"/>
          </p:cNvSpPr>
          <p:nvPr/>
        </p:nvSpPr>
        <p:spPr>
          <a:xfrm>
            <a:off x="6229350" y="1790700"/>
            <a:ext cx="5219700" cy="695325"/>
          </a:xfrm>
          <a:prstGeom prst="rect">
            <a:avLst/>
          </a:prstGeom>
          <a:noFill/>
          <a:ln w="0">
            <a:noFill/>
          </a:ln>
        </p:spPr>
        <p:txBody>
          <a:bodyPr wrap="square" lIns="0" tIns="0" rIns="0" bIns="0" anchor="t">
            <a:noAutofit/>
          </a:bodyPr>
          <a:lstStyle>
            <a:defPPr algn="l">
              <a:defRPr sz="2175" b="1">
                <a:solidFill>
                  <a:srgbClr val="AA0004"/>
                </a:solidFill>
                <a:latin typeface="Arial"/>
                <a:ea typeface="Arial"/>
                <a:cs typeface="Arial"/>
              </a:defRPr>
            </a:defPPr>
          </a:lstStyle>
          <a:p>
            <a:pPr algn="l">
              <a:defRPr sz="2175" b="1">
                <a:solidFill>
                  <a:srgbClr val="AA0004"/>
                </a:solidFill>
                <a:latin typeface="Arial"/>
                <a:ea typeface="Arial"/>
                <a:cs typeface="Arial"/>
              </a:defRPr>
            </a:pPr>
            <a:r>
              <a:rPr sz="2175" b="1">
                <a:solidFill>
                  <a:srgbClr val="AA0004"/>
                </a:solidFill>
                <a:latin typeface="Arial"/>
                <a:ea typeface="Arial"/>
                <a:cs typeface="Arial"/>
              </a:rPr>
              <a:t>H1 · Ricerca di confronto sociale</a:t>
            </a:r>
          </a:p>
        </p:txBody>
      </p:sp>
      <p:sp>
        <p:nvSpPr>
          <p:cNvPr id="13" name="Contrasto: perdita vs guadagno">
            <a:extLst>
              <a:ext uri="{FF2B5EF4-FFF2-40B4-BE49-F238E27FC236}">
                <a16:creationId xmlns:a16="http://schemas.microsoft.com/office/drawing/2014/main" id="{8732786E-AE60-4337-B83E-6E77D82F6AC5}"/>
              </a:ext>
            </a:extLst>
          </p:cNvPr>
          <p:cNvSpPr>
            <a:spLocks noGrp="1"/>
          </p:cNvSpPr>
          <p:nvPr/>
        </p:nvSpPr>
        <p:spPr>
          <a:xfrm>
            <a:off x="6229350" y="2619375"/>
            <a:ext cx="5219700" cy="333375"/>
          </a:xfrm>
          <a:prstGeom prst="rect">
            <a:avLst/>
          </a:prstGeom>
          <a:noFill/>
          <a:ln w="0">
            <a:noFill/>
          </a:ln>
        </p:spPr>
        <p:txBody>
          <a:bodyPr wrap="square" lIns="0" tIns="0" rIns="0" bIns="0" anchor="t">
            <a:noAutofit/>
          </a:bodyPr>
          <a:lstStyle>
            <a:defPPr algn="l">
              <a:defRPr sz="1800" b="0">
                <a:solidFill>
                  <a:srgbClr val="707070"/>
                </a:solidFill>
                <a:latin typeface="Arial"/>
                <a:ea typeface="Arial"/>
                <a:cs typeface="Arial"/>
              </a:defRPr>
            </a:defPPr>
          </a:lstStyle>
          <a:p>
            <a:pPr algn="l">
              <a:defRPr sz="1800" b="0">
                <a:solidFill>
                  <a:srgbClr val="707070"/>
                </a:solidFill>
                <a:latin typeface="Arial"/>
                <a:ea typeface="Arial"/>
                <a:cs typeface="Arial"/>
              </a:defRPr>
            </a:pPr>
            <a:r>
              <a:rPr sz="1800" b="0">
                <a:solidFill>
                  <a:srgbClr val="707070"/>
                </a:solidFill>
                <a:latin typeface="Arial"/>
                <a:ea typeface="Arial"/>
                <a:cs typeface="Arial"/>
              </a:rPr>
              <a:t>Contrasto: perdita vs guadagno</a:t>
            </a:r>
          </a:p>
        </p:txBody>
      </p:sp>
      <p:graphicFrame>
        <p:nvGraphicFramePr>
          <p:cNvPr id="14" name="Tabella 13">
            <a:extLst>
              <a:ext uri="{FF2B5EF4-FFF2-40B4-BE49-F238E27FC236}">
                <a16:creationId xmlns:a16="http://schemas.microsoft.com/office/drawing/2014/main" id="{8B210A8E-72E0-411E-A4D9-DE73D457E68D}"/>
              </a:ext>
            </a:extLst>
          </p:cNvPr>
          <p:cNvGraphicFramePr/>
          <p:nvPr/>
        </p:nvGraphicFramePr>
        <p:xfrm>
          <a:off x="6229350" y="3124200"/>
          <a:ext cx="5219700" cy="1990726"/>
        </p:xfrm>
        <a:graphic>
          <a:graphicData uri="http://schemas.openxmlformats.org/drawingml/2006/table">
            <a:tbl>
              <a:tblPr/>
              <a:tblGrid>
                <a:gridCol w="1581150">
                  <a:extLst>
                    <a:ext uri="{9D8B030D-6E8A-4147-A177-3AD203B41FA5}">
                      <a16:colId xmlns:a16="http://schemas.microsoft.com/office/drawing/2014/main" val="20000"/>
                    </a:ext>
                  </a:extLst>
                </a:gridCol>
                <a:gridCol w="253365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tblGrid>
              <a:tr h="495300">
                <a:tc>
                  <a:txBody>
                    <a:bodyPr/>
                    <a:lstStyle/>
                    <a:p>
                      <a:r>
                        <a:rPr sz="1800" b="1">
                          <a:solidFill>
                            <a:srgbClr val="FFFFFF"/>
                          </a:solidFill>
                          <a:latin typeface="Arial"/>
                          <a:ea typeface="Arial"/>
                          <a:cs typeface="Arial"/>
                        </a:rPr>
                        <a:t>Componente</a:t>
                      </a:r>
                    </a:p>
                  </a:txBody>
                  <a:tcPr>
                    <a:solidFill>
                      <a:srgbClr val="AA0004"/>
                    </a:solidFill>
                  </a:tcPr>
                </a:tc>
                <a:tc>
                  <a:txBody>
                    <a:bodyPr/>
                    <a:lstStyle/>
                    <a:p>
                      <a:r>
                        <a:rPr sz="1800" b="1">
                          <a:solidFill>
                            <a:srgbClr val="FFFFFF"/>
                          </a:solidFill>
                          <a:latin typeface="Arial"/>
                          <a:ea typeface="Arial"/>
                          <a:cs typeface="Arial"/>
                        </a:rPr>
                        <a:t>Stima e IC 95%</a:t>
                      </a:r>
                    </a:p>
                  </a:txBody>
                  <a:tcPr>
                    <a:solidFill>
                      <a:srgbClr val="AA0004"/>
                    </a:solidFill>
                  </a:tcPr>
                </a:tc>
                <a:tc>
                  <a:txBody>
                    <a:bodyPr/>
                    <a:lstStyle/>
                    <a:p>
                      <a:r>
                        <a:rPr sz="1800" b="1" i="1">
                          <a:solidFill>
                            <a:srgbClr val="FFFFFF"/>
                          </a:solidFill>
                          <a:latin typeface="Arial"/>
                          <a:ea typeface="Arial"/>
                          <a:cs typeface="Arial"/>
                        </a:rPr>
                        <a:t>p</a:t>
                      </a:r>
                    </a:p>
                  </a:txBody>
                  <a:tcPr>
                    <a:solidFill>
                      <a:srgbClr val="AA0004"/>
                    </a:solidFill>
                  </a:tcPr>
                </a:tc>
                <a:extLst>
                  <a:ext uri="{0D108BD9-81ED-4DB2-BD59-A6C34878D82A}">
                    <a16:rowId xmlns:a16="http://schemas.microsoft.com/office/drawing/2014/main" val="10000"/>
                  </a:ext>
                </a:extLst>
              </a:tr>
              <a:tr h="747713">
                <a:tc>
                  <a:txBody>
                    <a:bodyPr/>
                    <a:lstStyle/>
                    <a:p>
                      <a:r>
                        <a:rPr sz="1800" b="0">
                          <a:solidFill>
                            <a:srgbClr val="414141"/>
                          </a:solidFill>
                          <a:latin typeface="Arial"/>
                          <a:ea typeface="Arial"/>
                          <a:cs typeface="Arial"/>
                        </a:rPr>
                        <a:t>Inizio</a:t>
                      </a:r>
                    </a:p>
                  </a:txBody>
                  <a:tcPr>
                    <a:solidFill>
                      <a:srgbClr val="FFFFFF"/>
                    </a:solidFill>
                  </a:tcPr>
                </a:tc>
                <a:tc>
                  <a:txBody>
                    <a:bodyPr/>
                    <a:lstStyle/>
                    <a:p>
                      <a:r>
                        <a:rPr sz="1800" b="0">
                          <a:solidFill>
                            <a:srgbClr val="414141"/>
                          </a:solidFill>
                          <a:latin typeface="Arial"/>
                          <a:ea typeface="Arial"/>
                          <a:cs typeface="Arial"/>
                        </a:rPr>
                        <a:t>OR = 1,09</a:t>
                      </a:r>
                    </a:p>
                    <a:p>
                      <a:r>
                        <a:rPr sz="1800" b="0">
                          <a:solidFill>
                            <a:srgbClr val="414141"/>
                          </a:solidFill>
                          <a:latin typeface="Arial"/>
                          <a:ea typeface="Arial"/>
                          <a:cs typeface="Arial"/>
                        </a:rPr>
                        <a:t>[0,70, 1,70]</a:t>
                      </a:r>
                    </a:p>
                  </a:txBody>
                  <a:tcPr>
                    <a:solidFill>
                      <a:srgbClr val="FFFFFF"/>
                    </a:solidFill>
                  </a:tcPr>
                </a:tc>
                <a:tc>
                  <a:txBody>
                    <a:bodyPr/>
                    <a:lstStyle/>
                    <a:p>
                      <a:r>
                        <a:rPr sz="1800" b="0">
                          <a:solidFill>
                            <a:srgbClr val="414141"/>
                          </a:solidFill>
                          <a:latin typeface="Arial"/>
                          <a:ea typeface="Arial"/>
                          <a:cs typeface="Arial"/>
                        </a:rPr>
                        <a:t>.693</a:t>
                      </a:r>
                    </a:p>
                  </a:txBody>
                  <a:tcPr>
                    <a:solidFill>
                      <a:srgbClr val="FFFFFF"/>
                    </a:solidFill>
                  </a:tcPr>
                </a:tc>
                <a:extLst>
                  <a:ext uri="{0D108BD9-81ED-4DB2-BD59-A6C34878D82A}">
                    <a16:rowId xmlns:a16="http://schemas.microsoft.com/office/drawing/2014/main" val="10001"/>
                  </a:ext>
                </a:extLst>
              </a:tr>
              <a:tr h="747713">
                <a:tc>
                  <a:txBody>
                    <a:bodyPr/>
                    <a:lstStyle/>
                    <a:p>
                      <a:r>
                        <a:rPr sz="1800" b="0">
                          <a:solidFill>
                            <a:srgbClr val="414141"/>
                          </a:solidFill>
                          <a:latin typeface="Arial"/>
                          <a:ea typeface="Arial"/>
                          <a:cs typeface="Arial"/>
                        </a:rPr>
                        <a:t>Estensione</a:t>
                      </a:r>
                    </a:p>
                  </a:txBody>
                  <a:tcPr>
                    <a:solidFill>
                      <a:srgbClr val="F4F4F4"/>
                    </a:solidFill>
                  </a:tcPr>
                </a:tc>
                <a:tc>
                  <a:txBody>
                    <a:bodyPr/>
                    <a:lstStyle/>
                    <a:p>
                      <a:r>
                        <a:rPr sz="1800" b="0">
                          <a:solidFill>
                            <a:srgbClr val="414141"/>
                          </a:solidFill>
                          <a:latin typeface="Arial"/>
                          <a:ea typeface="Arial"/>
                          <a:cs typeface="Arial"/>
                        </a:rPr>
                        <a:t>IRR = 0,97</a:t>
                      </a:r>
                    </a:p>
                    <a:p>
                      <a:r>
                        <a:rPr sz="1800" b="0">
                          <a:solidFill>
                            <a:srgbClr val="414141"/>
                          </a:solidFill>
                          <a:latin typeface="Arial"/>
                          <a:ea typeface="Arial"/>
                          <a:cs typeface="Arial"/>
                        </a:rPr>
                        <a:t>[0,87, 1,08]</a:t>
                      </a:r>
                    </a:p>
                  </a:txBody>
                  <a:tcPr>
                    <a:solidFill>
                      <a:srgbClr val="F4F4F4"/>
                    </a:solidFill>
                  </a:tcPr>
                </a:tc>
                <a:tc>
                  <a:txBody>
                    <a:bodyPr/>
                    <a:lstStyle/>
                    <a:p>
                      <a:r>
                        <a:rPr sz="1800" b="0">
                          <a:solidFill>
                            <a:srgbClr val="414141"/>
                          </a:solidFill>
                          <a:latin typeface="Arial"/>
                          <a:ea typeface="Arial"/>
                          <a:cs typeface="Arial"/>
                        </a:rPr>
                        <a:t>.573</a:t>
                      </a:r>
                    </a:p>
                  </a:txBody>
                  <a:tcPr>
                    <a:solidFill>
                      <a:srgbClr val="F4F4F4"/>
                    </a:solidFill>
                  </a:tcPr>
                </a:tc>
                <a:extLst>
                  <a:ext uri="{0D108BD9-81ED-4DB2-BD59-A6C34878D82A}">
                    <a16:rowId xmlns:a16="http://schemas.microsoft.com/office/drawing/2014/main" val="10002"/>
                  </a:ext>
                </a:extLst>
              </a:tr>
            </a:tbl>
          </a:graphicData>
        </a:graphic>
      </p:graphicFrame>
      <p:sp>
        <p:nvSpPr>
          <p:cNvPr id="15" name="H1 non supportata">
            <a:extLst>
              <a:ext uri="{FF2B5EF4-FFF2-40B4-BE49-F238E27FC236}">
                <a16:creationId xmlns:a16="http://schemas.microsoft.com/office/drawing/2014/main" id="{3BA12D84-5B80-46E8-A02D-9D30AD6156A3}"/>
              </a:ext>
            </a:extLst>
          </p:cNvPr>
          <p:cNvSpPr>
            <a:spLocks noGrp="1"/>
          </p:cNvSpPr>
          <p:nvPr/>
        </p:nvSpPr>
        <p:spPr>
          <a:xfrm>
            <a:off x="6229350" y="5362575"/>
            <a:ext cx="5219700" cy="457200"/>
          </a:xfrm>
          <a:prstGeom prst="rect">
            <a:avLst/>
          </a:prstGeom>
          <a:noFill/>
          <a:ln w="0">
            <a:noFill/>
          </a:ln>
        </p:spPr>
        <p:txBody>
          <a:bodyPr wrap="square" lIns="0" tIns="0" rIns="0" bIns="0" anchor="t">
            <a:noAutofit/>
          </a:bodyPr>
          <a:lstStyle>
            <a:defPPr algn="l">
              <a:defRPr sz="2400" b="1">
                <a:solidFill>
                  <a:srgbClr val="AA0004"/>
                </a:solidFill>
                <a:latin typeface="Arial"/>
                <a:ea typeface="Arial"/>
                <a:cs typeface="Arial"/>
              </a:defRPr>
            </a:defPPr>
          </a:lstStyle>
          <a:p>
            <a:pPr algn="l">
              <a:defRPr sz="2400" b="1">
                <a:solidFill>
                  <a:srgbClr val="AA0004"/>
                </a:solidFill>
                <a:latin typeface="Arial"/>
                <a:ea typeface="Arial"/>
                <a:cs typeface="Arial"/>
              </a:defRPr>
            </a:pPr>
            <a:r>
              <a:rPr sz="2400" b="1">
                <a:solidFill>
                  <a:srgbClr val="AA0004"/>
                </a:solidFill>
                <a:latin typeface="Arial"/>
                <a:ea typeface="Arial"/>
                <a:cs typeface="Arial"/>
              </a:rPr>
              <a:t>H1 non supportata</a:t>
            </a:r>
          </a:p>
        </p:txBody>
      </p:sp>
      <p:sp>
        <p:nvSpPr>
          <p:cNvPr id="16" name="Nessuna evidenza della minore ricerca prevista">
            <a:extLst>
              <a:ext uri="{FF2B5EF4-FFF2-40B4-BE49-F238E27FC236}">
                <a16:creationId xmlns:a16="http://schemas.microsoft.com/office/drawing/2014/main" id="{9EDAC5BF-9E84-4A3D-AED1-603FBAAE42CE}"/>
              </a:ext>
            </a:extLst>
          </p:cNvPr>
          <p:cNvSpPr>
            <a:spLocks noGrp="1"/>
          </p:cNvSpPr>
          <p:nvPr/>
        </p:nvSpPr>
        <p:spPr>
          <a:xfrm>
            <a:off x="6229350" y="5791200"/>
            <a:ext cx="5219700" cy="419100"/>
          </a:xfrm>
          <a:prstGeom prst="rect">
            <a:avLst/>
          </a:prstGeom>
          <a:noFill/>
          <a:ln w="0">
            <a:noFill/>
          </a:ln>
        </p:spPr>
        <p:txBody>
          <a:bodyPr wrap="square" lIns="0" tIns="0" rIns="0" bIns="0" anchor="t">
            <a:noAutofit/>
          </a:bodyPr>
          <a:lstStyle>
            <a:defPPr algn="l">
              <a:defRPr sz="1725" b="0">
                <a:solidFill>
                  <a:srgbClr val="414141"/>
                </a:solidFill>
                <a:latin typeface="Arial"/>
                <a:ea typeface="Arial"/>
                <a:cs typeface="Arial"/>
              </a:defRPr>
            </a:defPPr>
          </a:lstStyle>
          <a:p>
            <a:pPr algn="l">
              <a:defRPr sz="1725" b="0">
                <a:solidFill>
                  <a:srgbClr val="414141"/>
                </a:solidFill>
                <a:latin typeface="Arial"/>
                <a:ea typeface="Arial"/>
                <a:cs typeface="Arial"/>
              </a:defRPr>
            </a:pPr>
            <a:r>
              <a:rPr sz="1725" b="0">
                <a:solidFill>
                  <a:srgbClr val="414141"/>
                </a:solidFill>
                <a:latin typeface="Arial"/>
                <a:ea typeface="Arial"/>
                <a:cs typeface="Arial"/>
              </a:rPr>
              <a:t>Nessuna evidenza della minore ricerca prevista</a:t>
            </a:r>
          </a:p>
        </p:txBody>
      </p:sp>
    </p:spTree>
    <p:extLst>
      <p:ext uri="{BB962C8B-B14F-4D97-AF65-F5344CB8AC3E}">
        <p14:creationId xmlns:p14="http://schemas.microsoft.com/office/powerpoint/2010/main" val="824204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 name="Sezione">
            <a:extLst>
              <a:ext uri="{FF2B5EF4-FFF2-40B4-BE49-F238E27FC236}">
                <a16:creationId xmlns:a16="http://schemas.microsoft.com/office/drawing/2014/main" id="{DFD15AB7-4E25-44D7-977D-0F1927585B7C}"/>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Risultati</a:t>
            </a:r>
          </a:p>
        </p:txBody>
      </p:sp>
      <p:sp>
        <p:nvSpPr>
          <p:cNvPr id="2" name="Titolo">
            <a:extLst>
              <a:ext uri="{FF2B5EF4-FFF2-40B4-BE49-F238E27FC236}">
                <a16:creationId xmlns:a16="http://schemas.microsoft.com/office/drawing/2014/main" id="{77193886-5BBE-466E-A1B2-75B2822EFD83}"/>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H2 · Identificazione e ricerca</a:t>
            </a:r>
          </a:p>
        </p:txBody>
      </p:sp>
      <p:sp>
        <p:nvSpPr>
          <p:cNvPr id="3" name="15">
            <a:extLst>
              <a:ext uri="{FF2B5EF4-FFF2-40B4-BE49-F238E27FC236}">
                <a16:creationId xmlns:a16="http://schemas.microsoft.com/office/drawing/2014/main" id="{35C848F6-FA43-447F-9968-5CB0591D50BB}"/>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13</a:t>
            </a:r>
            <a:endParaRPr sz="1425" b="0">
              <a:solidFill>
                <a:srgbClr val="707070"/>
              </a:solidFill>
              <a:latin typeface="Arial"/>
              <a:ea typeface="Arial"/>
              <a:cs typeface="Arial"/>
            </a:endParaRPr>
          </a:p>
        </p:txBody>
      </p:sp>
      <p:pic>
        <p:nvPicPr>
          <p:cNvPr id="4" name="Immagine 3">
            <a:extLst>
              <a:ext uri="{FF2B5EF4-FFF2-40B4-BE49-F238E27FC236}">
                <a16:creationId xmlns:a16="http://schemas.microsoft.com/office/drawing/2014/main" id="{FA104E1F-E553-4090-A3D3-A73D5E41512C}"/>
              </a:ext>
            </a:extLst>
          </p:cNvPr>
          <p:cNvPicPr>
            <a:picLocks noChangeAspect="1"/>
          </p:cNvPicPr>
          <p:nvPr/>
        </p:nvPicPr>
        <p:blipFill>
          <a:blip r:embed="rId4"/>
          <a:stretch/>
        </p:blipFill>
        <p:spPr>
          <a:xfrm>
            <a:off x="6323135" y="2241410"/>
            <a:ext cx="5432181" cy="3880129"/>
          </a:xfrm>
          <a:prstGeom prst="rect">
            <a:avLst/>
          </a:prstGeom>
        </p:spPr>
      </p:pic>
      <p:sp>
        <p:nvSpPr>
          <p:cNvPr id="100" name="H2 heading">
            <a:extLst>
              <a:ext uri="{FF2B5EF4-FFF2-40B4-BE49-F238E27FC236}">
                <a16:creationId xmlns:a16="http://schemas.microsoft.com/office/drawing/2014/main" id="{9A6FBBFD-C01B-472F-9523-A5FBD733BA54}"/>
              </a:ext>
            </a:extLst>
          </p:cNvPr>
          <p:cNvSpPr>
            <a:spLocks noGrp="1"/>
          </p:cNvSpPr>
          <p:nvPr/>
        </p:nvSpPr>
        <p:spPr>
          <a:xfrm>
            <a:off x="742950" y="1762125"/>
            <a:ext cx="6096000" cy="295275"/>
          </a:xfrm>
          <a:prstGeom prst="rect">
            <a:avLst/>
          </a:prstGeom>
          <a:noFill/>
          <a:ln w="0">
            <a:noFill/>
          </a:ln>
        </p:spPr>
        <p:txBody>
          <a:bodyPr>
            <a:noAutofit/>
          </a:bodyPr>
          <a:lstStyle>
            <a:defPPr>
              <a:defRPr sz="1875" b="1">
                <a:solidFill>
                  <a:srgbClr val="B00000"/>
                </a:solidFill>
                <a:latin typeface="Arial"/>
                <a:ea typeface="Arial"/>
                <a:cs typeface="Arial"/>
              </a:defRPr>
            </a:defPPr>
          </a:lstStyle>
          <a:p>
            <a:pPr>
              <a:defRPr sz="1875" b="1">
                <a:solidFill>
                  <a:srgbClr val="B00000"/>
                </a:solidFill>
                <a:latin typeface="Arial"/>
                <a:ea typeface="Arial"/>
                <a:cs typeface="Arial"/>
              </a:defRPr>
            </a:pPr>
            <a:r>
              <a:rPr sz="1875" b="1">
                <a:solidFill>
                  <a:srgbClr val="B00000"/>
                </a:solidFill>
                <a:latin typeface="Arial"/>
                <a:ea typeface="Arial"/>
                <a:cs typeface="Arial"/>
              </a:rPr>
              <a:t>H2 · Mediazione non supportata</a:t>
            </a:r>
          </a:p>
        </p:txBody>
      </p:sp>
      <p:sp>
        <p:nvSpPr>
          <p:cNvPr id="101" name="H2 initiation">
            <a:extLst>
              <a:ext uri="{FF2B5EF4-FFF2-40B4-BE49-F238E27FC236}">
                <a16:creationId xmlns:a16="http://schemas.microsoft.com/office/drawing/2014/main" id="{02B315A1-C6F6-4545-A561-FAF3C0BB075C}"/>
              </a:ext>
            </a:extLst>
          </p:cNvPr>
          <p:cNvSpPr>
            <a:spLocks noGrp="1"/>
          </p:cNvSpPr>
          <p:nvPr/>
        </p:nvSpPr>
        <p:spPr>
          <a:xfrm>
            <a:off x="742950" y="2152650"/>
            <a:ext cx="6096000" cy="552450"/>
          </a:xfrm>
          <a:prstGeom prst="rect">
            <a:avLst/>
          </a:prstGeom>
          <a:noFill/>
          <a:ln w="0">
            <a:noFill/>
          </a:ln>
        </p:spPr>
        <p:txBody>
          <a:bodyPr>
            <a:noAutofit/>
          </a:bodyPr>
          <a:lstStyle>
            <a:defPPr>
              <a:defRPr sz="1650" b="0">
                <a:solidFill>
                  <a:srgbClr val="444444"/>
                </a:solidFill>
                <a:latin typeface="Arial"/>
                <a:ea typeface="Arial"/>
                <a:cs typeface="Arial"/>
              </a:defRPr>
            </a:defPPr>
          </a:lstStyle>
          <a:p>
            <a:pPr>
              <a:defRPr sz="1650" b="0">
                <a:solidFill>
                  <a:srgbClr val="444444"/>
                </a:solidFill>
                <a:latin typeface="Arial"/>
                <a:ea typeface="Arial"/>
                <a:cs typeface="Arial"/>
              </a:defRPr>
            </a:pPr>
            <a:r>
              <a:rPr sz="1650" b="0">
                <a:solidFill>
                  <a:srgbClr val="444444"/>
                </a:solidFill>
                <a:latin typeface="Arial"/>
                <a:ea typeface="Arial"/>
                <a:cs typeface="Arial"/>
              </a:rPr>
              <a:t>Effetto indiretto sull’inizio: 0,0050</a:t>
            </a:r>
          </a:p>
          <a:p>
            <a:pPr>
              <a:defRPr sz="1650" b="0">
                <a:solidFill>
                  <a:srgbClr val="444444"/>
                </a:solidFill>
                <a:latin typeface="Arial"/>
                <a:ea typeface="Arial"/>
                <a:cs typeface="Arial"/>
              </a:defRPr>
            </a:pPr>
            <a:r>
              <a:rPr sz="1650" b="0">
                <a:solidFill>
                  <a:srgbClr val="444444"/>
                </a:solidFill>
                <a:latin typeface="Arial"/>
                <a:ea typeface="Arial"/>
                <a:cs typeface="Arial"/>
              </a:rPr>
              <a:t>IC 95% [−0,0051, 0,0179]</a:t>
            </a:r>
          </a:p>
        </p:txBody>
      </p:sp>
      <p:sp>
        <p:nvSpPr>
          <p:cNvPr id="102" name="H2 extent">
            <a:extLst>
              <a:ext uri="{FF2B5EF4-FFF2-40B4-BE49-F238E27FC236}">
                <a16:creationId xmlns:a16="http://schemas.microsoft.com/office/drawing/2014/main" id="{74CC03E4-2E65-44BB-90C0-3E63DABAF714}"/>
              </a:ext>
            </a:extLst>
          </p:cNvPr>
          <p:cNvSpPr>
            <a:spLocks noGrp="1"/>
          </p:cNvSpPr>
          <p:nvPr/>
        </p:nvSpPr>
        <p:spPr>
          <a:xfrm>
            <a:off x="742950" y="2743200"/>
            <a:ext cx="6096000" cy="552450"/>
          </a:xfrm>
          <a:prstGeom prst="rect">
            <a:avLst/>
          </a:prstGeom>
          <a:noFill/>
          <a:ln w="0">
            <a:noFill/>
          </a:ln>
        </p:spPr>
        <p:txBody>
          <a:bodyPr>
            <a:noAutofit/>
          </a:bodyPr>
          <a:lstStyle>
            <a:defPPr>
              <a:defRPr sz="1650" b="0">
                <a:solidFill>
                  <a:srgbClr val="444444"/>
                </a:solidFill>
                <a:latin typeface="Arial"/>
                <a:ea typeface="Arial"/>
                <a:cs typeface="Arial"/>
              </a:defRPr>
            </a:defPPr>
          </a:lstStyle>
          <a:p>
            <a:pPr>
              <a:defRPr sz="1650" b="0">
                <a:solidFill>
                  <a:srgbClr val="444444"/>
                </a:solidFill>
                <a:latin typeface="Arial"/>
                <a:ea typeface="Arial"/>
                <a:cs typeface="Arial"/>
              </a:defRPr>
            </a:pPr>
            <a:r>
              <a:rPr sz="1650" b="0">
                <a:solidFill>
                  <a:srgbClr val="444444"/>
                </a:solidFill>
                <a:latin typeface="Arial"/>
                <a:ea typeface="Arial"/>
                <a:cs typeface="Arial"/>
              </a:rPr>
              <a:t>Sull’estensione: −0,0029</a:t>
            </a:r>
          </a:p>
          <a:p>
            <a:pPr>
              <a:defRPr sz="1650" b="0">
                <a:solidFill>
                  <a:srgbClr val="444444"/>
                </a:solidFill>
                <a:latin typeface="Arial"/>
                <a:ea typeface="Arial"/>
                <a:cs typeface="Arial"/>
              </a:defRPr>
            </a:pPr>
            <a:r>
              <a:rPr sz="1650" b="0">
                <a:solidFill>
                  <a:srgbClr val="444444"/>
                </a:solidFill>
                <a:latin typeface="Arial"/>
                <a:ea typeface="Arial"/>
                <a:cs typeface="Arial"/>
              </a:rPr>
              <a:t>IC 95% [−0,0388, 0,0332]</a:t>
            </a:r>
          </a:p>
        </p:txBody>
      </p:sp>
      <p:sp>
        <p:nvSpPr>
          <p:cNvPr id="103" name="H2a heading">
            <a:extLst>
              <a:ext uri="{FF2B5EF4-FFF2-40B4-BE49-F238E27FC236}">
                <a16:creationId xmlns:a16="http://schemas.microsoft.com/office/drawing/2014/main" id="{AF698D66-7954-47D5-B2E0-4AD74699C7A0}"/>
              </a:ext>
            </a:extLst>
          </p:cNvPr>
          <p:cNvSpPr>
            <a:spLocks noGrp="1"/>
          </p:cNvSpPr>
          <p:nvPr/>
        </p:nvSpPr>
        <p:spPr>
          <a:xfrm>
            <a:off x="742950" y="3457575"/>
            <a:ext cx="6191250" cy="285750"/>
          </a:xfrm>
          <a:prstGeom prst="rect">
            <a:avLst/>
          </a:prstGeom>
          <a:noFill/>
          <a:ln w="0">
            <a:noFill/>
          </a:ln>
        </p:spPr>
        <p:txBody>
          <a:bodyPr>
            <a:noAutofit/>
          </a:bodyPr>
          <a:lstStyle>
            <a:defPPr>
              <a:defRPr sz="1800" b="1">
                <a:solidFill>
                  <a:srgbClr val="B00000"/>
                </a:solidFill>
                <a:latin typeface="Arial"/>
                <a:ea typeface="Arial"/>
                <a:cs typeface="Arial"/>
              </a:defRPr>
            </a:defPPr>
          </a:lstStyle>
          <a:p>
            <a:pPr>
              <a:defRPr sz="1800" b="1">
                <a:solidFill>
                  <a:srgbClr val="B00000"/>
                </a:solidFill>
                <a:latin typeface="Arial"/>
                <a:ea typeface="Arial"/>
                <a:cs typeface="Arial"/>
              </a:defRPr>
            </a:pPr>
            <a:r>
              <a:rPr sz="1800" b="1">
                <a:solidFill>
                  <a:srgbClr val="B00000"/>
                </a:solidFill>
                <a:latin typeface="Arial"/>
                <a:ea typeface="Arial"/>
                <a:cs typeface="Arial"/>
              </a:rPr>
              <a:t>H2a · Identificazione: differenza non significativa</a:t>
            </a:r>
          </a:p>
        </p:txBody>
      </p:sp>
      <p:sp>
        <p:nvSpPr>
          <p:cNvPr id="104" name="H2a contrast">
            <a:extLst>
              <a:ext uri="{FF2B5EF4-FFF2-40B4-BE49-F238E27FC236}">
                <a16:creationId xmlns:a16="http://schemas.microsoft.com/office/drawing/2014/main" id="{B4CB6B10-9C27-4622-9FA4-9F90ABE0F146}"/>
              </a:ext>
            </a:extLst>
          </p:cNvPr>
          <p:cNvSpPr>
            <a:spLocks noGrp="1"/>
          </p:cNvSpPr>
          <p:nvPr/>
        </p:nvSpPr>
        <p:spPr>
          <a:xfrm>
            <a:off x="742950" y="3800475"/>
            <a:ext cx="6096000" cy="276225"/>
          </a:xfrm>
          <a:prstGeom prst="rect">
            <a:avLst/>
          </a:prstGeom>
          <a:noFill/>
          <a:ln w="0">
            <a:noFill/>
          </a:ln>
        </p:spPr>
        <p:txBody>
          <a:bodyPr>
            <a:noAutofit/>
          </a:bodyPr>
          <a:lstStyle>
            <a:defPPr>
              <a:defRPr sz="1650" b="0">
                <a:solidFill>
                  <a:srgbClr val="444444"/>
                </a:solidFill>
                <a:latin typeface="Arial"/>
                <a:ea typeface="Arial"/>
                <a:cs typeface="Arial"/>
              </a:defRPr>
            </a:defPPr>
          </a:lstStyle>
          <a:p>
            <a:pPr>
              <a:defRPr sz="1650" b="0">
                <a:solidFill>
                  <a:srgbClr val="444444"/>
                </a:solidFill>
                <a:latin typeface="Arial"/>
                <a:ea typeface="Arial"/>
                <a:cs typeface="Arial"/>
              </a:defRPr>
            </a:pPr>
            <a:r>
              <a:rPr sz="1650" b="0">
                <a:solidFill>
                  <a:srgbClr val="444444"/>
                </a:solidFill>
                <a:latin typeface="Arial"/>
                <a:ea typeface="Arial"/>
                <a:cs typeface="Arial"/>
              </a:rPr>
              <a:t>Perdita rispetto a guadagno</a:t>
            </a:r>
          </a:p>
        </p:txBody>
      </p:sp>
      <p:sp>
        <p:nvSpPr>
          <p:cNvPr id="105" name="H2a statistics">
            <a:extLst>
              <a:ext uri="{FF2B5EF4-FFF2-40B4-BE49-F238E27FC236}">
                <a16:creationId xmlns:a16="http://schemas.microsoft.com/office/drawing/2014/main" id="{1064F2FB-7A47-4EBD-A1D5-335E13DB3A6B}"/>
              </a:ext>
            </a:extLst>
          </p:cNvPr>
          <p:cNvSpPr>
            <a:spLocks noGrp="1"/>
          </p:cNvSpPr>
          <p:nvPr/>
        </p:nvSpPr>
        <p:spPr>
          <a:xfrm>
            <a:off x="742950" y="4086225"/>
            <a:ext cx="6191250" cy="285750"/>
          </a:xfrm>
          <a:prstGeom prst="rect">
            <a:avLst/>
          </a:prstGeom>
          <a:noFill/>
          <a:ln w="0">
            <a:noFill/>
          </a:ln>
        </p:spPr>
        <p:txBody>
          <a:bodyPr>
            <a:noAutofit/>
          </a:bodyPr>
          <a:lstStyle>
            <a:defPPr>
              <a:defRPr sz="1650" b="0">
                <a:solidFill>
                  <a:srgbClr val="444444"/>
                </a:solidFill>
                <a:latin typeface="Arial"/>
                <a:ea typeface="Arial"/>
                <a:cs typeface="Arial"/>
              </a:defRPr>
            </a:defPPr>
          </a:lstStyle>
          <a:p>
            <a:pPr>
              <a:defRPr sz="1650" b="0">
                <a:solidFill>
                  <a:srgbClr val="444444"/>
                </a:solidFill>
                <a:latin typeface="Arial"/>
                <a:ea typeface="Arial"/>
                <a:cs typeface="Arial"/>
              </a:defRPr>
            </a:pPr>
            <a:r>
              <a:rPr sz="1650" b="0">
                <a:solidFill>
                  <a:srgbClr val="444444"/>
                </a:solidFill>
                <a:latin typeface="Arial"/>
                <a:ea typeface="Arial"/>
                <a:cs typeface="Arial"/>
              </a:rPr>
              <a:t>OR = 1,31; IC 95% [0,76, 2,28]; </a:t>
            </a:r>
            <a:r>
              <a:rPr sz="1650" b="0" i="1">
                <a:solidFill>
                  <a:srgbClr val="444444"/>
                </a:solidFill>
                <a:latin typeface="Arial"/>
                <a:ea typeface="Arial"/>
                <a:cs typeface="Arial"/>
              </a:rPr>
              <a:t>p</a:t>
            </a:r>
            <a:r>
              <a:rPr sz="1650" b="0">
                <a:solidFill>
                  <a:srgbClr val="444444"/>
                </a:solidFill>
                <a:latin typeface="Arial"/>
                <a:ea typeface="Arial"/>
                <a:cs typeface="Arial"/>
              </a:rPr>
              <a:t> = .334</a:t>
            </a:r>
          </a:p>
        </p:txBody>
      </p:sp>
      <p:sp>
        <p:nvSpPr>
          <p:cNvPr id="106" name="H2b heading">
            <a:extLst>
              <a:ext uri="{FF2B5EF4-FFF2-40B4-BE49-F238E27FC236}">
                <a16:creationId xmlns:a16="http://schemas.microsoft.com/office/drawing/2014/main" id="{B04CFF51-C003-4C43-B6F4-29C976DD70A5}"/>
              </a:ext>
            </a:extLst>
          </p:cNvPr>
          <p:cNvSpPr>
            <a:spLocks noGrp="1"/>
          </p:cNvSpPr>
          <p:nvPr/>
        </p:nvSpPr>
        <p:spPr>
          <a:xfrm>
            <a:off x="742950" y="4572000"/>
            <a:ext cx="6191250" cy="295275"/>
          </a:xfrm>
          <a:prstGeom prst="rect">
            <a:avLst/>
          </a:prstGeom>
          <a:noFill/>
          <a:ln w="0">
            <a:noFill/>
          </a:ln>
        </p:spPr>
        <p:txBody>
          <a:bodyPr>
            <a:noAutofit/>
          </a:bodyPr>
          <a:lstStyle>
            <a:defPPr>
              <a:defRPr sz="1800" b="1">
                <a:solidFill>
                  <a:srgbClr val="B00000"/>
                </a:solidFill>
                <a:latin typeface="Arial"/>
                <a:ea typeface="Arial"/>
                <a:cs typeface="Arial"/>
              </a:defRPr>
            </a:defPPr>
          </a:lstStyle>
          <a:p>
            <a:pPr>
              <a:defRPr sz="1800" b="1">
                <a:solidFill>
                  <a:srgbClr val="B00000"/>
                </a:solidFill>
                <a:latin typeface="Arial"/>
                <a:ea typeface="Arial"/>
                <a:cs typeface="Arial"/>
              </a:defRPr>
            </a:pPr>
            <a:r>
              <a:rPr sz="1800" b="1">
                <a:solidFill>
                  <a:srgbClr val="B00000"/>
                </a:solidFill>
                <a:latin typeface="Arial"/>
                <a:ea typeface="Arial"/>
                <a:cs typeface="Arial"/>
              </a:rPr>
              <a:t>H2b · Associazione opposta alla previsione</a:t>
            </a:r>
          </a:p>
        </p:txBody>
      </p:sp>
      <p:sp>
        <p:nvSpPr>
          <p:cNvPr id="107" name="H2b initiation">
            <a:extLst>
              <a:ext uri="{FF2B5EF4-FFF2-40B4-BE49-F238E27FC236}">
                <a16:creationId xmlns:a16="http://schemas.microsoft.com/office/drawing/2014/main" id="{1B7BBF81-0834-497F-8640-048ED325A471}"/>
              </a:ext>
            </a:extLst>
          </p:cNvPr>
          <p:cNvSpPr>
            <a:spLocks noGrp="1"/>
          </p:cNvSpPr>
          <p:nvPr/>
        </p:nvSpPr>
        <p:spPr>
          <a:xfrm>
            <a:off x="742950" y="4914900"/>
            <a:ext cx="6191250" cy="266700"/>
          </a:xfrm>
          <a:prstGeom prst="rect">
            <a:avLst/>
          </a:prstGeom>
          <a:noFill/>
          <a:ln w="0">
            <a:noFill/>
          </a:ln>
        </p:spPr>
        <p:txBody>
          <a:bodyPr>
            <a:noAutofit/>
          </a:bodyPr>
          <a:lstStyle>
            <a:defPPr>
              <a:defRPr sz="1650" b="0">
                <a:solidFill>
                  <a:srgbClr val="444444"/>
                </a:solidFill>
                <a:latin typeface="Arial"/>
                <a:ea typeface="Arial"/>
                <a:cs typeface="Arial"/>
              </a:defRPr>
            </a:defPPr>
          </a:lstStyle>
          <a:p>
            <a:pPr>
              <a:defRPr sz="1650" b="0">
                <a:solidFill>
                  <a:srgbClr val="444444"/>
                </a:solidFill>
                <a:latin typeface="Arial"/>
                <a:ea typeface="Arial"/>
                <a:cs typeface="Arial"/>
              </a:defRPr>
            </a:pPr>
            <a:r>
              <a:rPr sz="1650" b="0">
                <a:solidFill>
                  <a:srgbClr val="444444"/>
                </a:solidFill>
                <a:latin typeface="Arial"/>
                <a:ea typeface="Arial"/>
                <a:cs typeface="Arial"/>
              </a:rPr>
              <a:t>Più identificazione, più frequente inizio</a:t>
            </a:r>
          </a:p>
        </p:txBody>
      </p:sp>
      <p:sp>
        <p:nvSpPr>
          <p:cNvPr id="108" name="H2b statistics">
            <a:extLst>
              <a:ext uri="{FF2B5EF4-FFF2-40B4-BE49-F238E27FC236}">
                <a16:creationId xmlns:a16="http://schemas.microsoft.com/office/drawing/2014/main" id="{1DC32726-1459-45C0-A7C9-7AEDCC603C74}"/>
              </a:ext>
            </a:extLst>
          </p:cNvPr>
          <p:cNvSpPr>
            <a:spLocks noGrp="1"/>
          </p:cNvSpPr>
          <p:nvPr/>
        </p:nvSpPr>
        <p:spPr>
          <a:xfrm>
            <a:off x="742950" y="5210175"/>
            <a:ext cx="6191250" cy="285750"/>
          </a:xfrm>
          <a:prstGeom prst="rect">
            <a:avLst/>
          </a:prstGeom>
          <a:noFill/>
          <a:ln w="0">
            <a:noFill/>
          </a:ln>
        </p:spPr>
        <p:txBody>
          <a:bodyPr>
            <a:noAutofit/>
          </a:bodyPr>
          <a:lstStyle>
            <a:defPPr>
              <a:defRPr sz="1650" b="1">
                <a:solidFill>
                  <a:srgbClr val="444444"/>
                </a:solidFill>
                <a:latin typeface="Arial"/>
                <a:ea typeface="Arial"/>
                <a:cs typeface="Arial"/>
              </a:defRPr>
            </a:defPPr>
          </a:lstStyle>
          <a:p>
            <a:pPr>
              <a:defRPr sz="1650" b="1">
                <a:solidFill>
                  <a:srgbClr val="444444"/>
                </a:solidFill>
                <a:latin typeface="Arial"/>
                <a:ea typeface="Arial"/>
                <a:cs typeface="Arial"/>
              </a:defRPr>
            </a:pPr>
            <a:r>
              <a:rPr sz="1650" b="1">
                <a:solidFill>
                  <a:srgbClr val="444444"/>
                </a:solidFill>
                <a:latin typeface="Arial"/>
                <a:ea typeface="Arial"/>
                <a:cs typeface="Arial"/>
              </a:rPr>
              <a:t>OR = 1,23; IC 95% [1,07, 1,41]; </a:t>
            </a:r>
            <a:r>
              <a:rPr sz="1650" b="1" i="1">
                <a:solidFill>
                  <a:srgbClr val="444444"/>
                </a:solidFill>
                <a:latin typeface="Arial"/>
                <a:ea typeface="Arial"/>
                <a:cs typeface="Arial"/>
              </a:rPr>
              <a:t>p</a:t>
            </a:r>
            <a:r>
              <a:rPr sz="1650" b="1">
                <a:solidFill>
                  <a:srgbClr val="444444"/>
                </a:solidFill>
                <a:latin typeface="Arial"/>
                <a:ea typeface="Arial"/>
                <a:cs typeface="Arial"/>
              </a:rPr>
              <a:t> = .003</a:t>
            </a:r>
          </a:p>
        </p:txBody>
      </p:sp>
      <p:sp>
        <p:nvSpPr>
          <p:cNvPr id="109" name="H2b extent">
            <a:extLst>
              <a:ext uri="{FF2B5EF4-FFF2-40B4-BE49-F238E27FC236}">
                <a16:creationId xmlns:a16="http://schemas.microsoft.com/office/drawing/2014/main" id="{DCD7FCC1-D95F-44F8-8B3C-FE783BBC0E54}"/>
              </a:ext>
            </a:extLst>
          </p:cNvPr>
          <p:cNvSpPr>
            <a:spLocks noGrp="1"/>
          </p:cNvSpPr>
          <p:nvPr/>
        </p:nvSpPr>
        <p:spPr>
          <a:xfrm>
            <a:off x="742950" y="5619750"/>
            <a:ext cx="6286500" cy="542925"/>
          </a:xfrm>
          <a:prstGeom prst="rect">
            <a:avLst/>
          </a:prstGeom>
          <a:noFill/>
          <a:ln w="0">
            <a:noFill/>
          </a:ln>
        </p:spPr>
        <p:txBody>
          <a:bodyPr>
            <a:noAutofit/>
          </a:bodyPr>
          <a:lstStyle>
            <a:defPPr>
              <a:defRPr sz="1575" b="0">
                <a:solidFill>
                  <a:srgbClr val="444444"/>
                </a:solidFill>
                <a:latin typeface="Arial"/>
                <a:ea typeface="Arial"/>
                <a:cs typeface="Arial"/>
              </a:defRPr>
            </a:defPPr>
          </a:lstStyle>
          <a:p>
            <a:pPr>
              <a:defRPr sz="1575" b="0">
                <a:solidFill>
                  <a:srgbClr val="444444"/>
                </a:solidFill>
                <a:latin typeface="Arial"/>
                <a:ea typeface="Arial"/>
                <a:cs typeface="Arial"/>
              </a:defRPr>
            </a:pPr>
            <a:r>
              <a:rPr sz="1575" b="0">
                <a:solidFill>
                  <a:srgbClr val="444444"/>
                </a:solidFill>
                <a:latin typeface="Arial"/>
                <a:ea typeface="Arial"/>
                <a:cs typeface="Arial"/>
              </a:rPr>
              <a:t>Estensione non significativa</a:t>
            </a:r>
          </a:p>
          <a:p>
            <a:pPr>
              <a:defRPr sz="1575" b="0">
                <a:solidFill>
                  <a:srgbClr val="444444"/>
                </a:solidFill>
                <a:latin typeface="Arial"/>
                <a:ea typeface="Arial"/>
                <a:cs typeface="Arial"/>
              </a:defRPr>
            </a:pPr>
            <a:r>
              <a:rPr sz="1575" b="0">
                <a:solidFill>
                  <a:srgbClr val="444444"/>
                </a:solidFill>
                <a:latin typeface="Arial"/>
                <a:ea typeface="Arial"/>
                <a:cs typeface="Arial"/>
              </a:rPr>
              <a:t>IRR = 0,99; IC 95% [0,94, 1,05]; </a:t>
            </a:r>
            <a:r>
              <a:rPr sz="1575" b="0" i="1">
                <a:solidFill>
                  <a:srgbClr val="444444"/>
                </a:solidFill>
                <a:latin typeface="Arial"/>
                <a:ea typeface="Arial"/>
                <a:cs typeface="Arial"/>
              </a:rPr>
              <a:t>p</a:t>
            </a:r>
            <a:r>
              <a:rPr sz="1575" b="0">
                <a:solidFill>
                  <a:srgbClr val="444444"/>
                </a:solidFill>
                <a:latin typeface="Arial"/>
                <a:ea typeface="Arial"/>
                <a:cs typeface="Arial"/>
              </a:rPr>
              <a:t> = .797</a:t>
            </a:r>
          </a:p>
        </p:txBody>
      </p:sp>
      <p:sp>
        <p:nvSpPr>
          <p:cNvPr id="110" name="Chart heading">
            <a:extLst>
              <a:ext uri="{FF2B5EF4-FFF2-40B4-BE49-F238E27FC236}">
                <a16:creationId xmlns:a16="http://schemas.microsoft.com/office/drawing/2014/main" id="{FCF035EB-7E4C-422F-ACCF-84C609F1A934}"/>
              </a:ext>
            </a:extLst>
          </p:cNvPr>
          <p:cNvSpPr>
            <a:spLocks noGrp="1"/>
          </p:cNvSpPr>
          <p:nvPr/>
        </p:nvSpPr>
        <p:spPr>
          <a:xfrm>
            <a:off x="6696075" y="1762125"/>
            <a:ext cx="4543425" cy="542925"/>
          </a:xfrm>
          <a:prstGeom prst="rect">
            <a:avLst/>
          </a:prstGeom>
          <a:noFill/>
          <a:ln w="0">
            <a:noFill/>
          </a:ln>
        </p:spPr>
        <p:txBody>
          <a:bodyPr>
            <a:noAutofit/>
          </a:bodyPr>
          <a:lstStyle>
            <a:defPPr>
              <a:defRPr sz="1650" b="1">
                <a:solidFill>
                  <a:srgbClr val="444444"/>
                </a:solidFill>
                <a:latin typeface="Arial"/>
                <a:ea typeface="Arial"/>
                <a:cs typeface="Arial"/>
              </a:defRPr>
            </a:defPPr>
          </a:lstStyle>
          <a:p>
            <a:pPr>
              <a:defRPr sz="1650" b="1">
                <a:solidFill>
                  <a:srgbClr val="444444"/>
                </a:solidFill>
                <a:latin typeface="Arial"/>
                <a:ea typeface="Arial"/>
                <a:cs typeface="Arial"/>
              </a:defRPr>
            </a:pPr>
            <a:r>
              <a:rPr sz="1650" b="1">
                <a:solidFill>
                  <a:srgbClr val="444444"/>
                </a:solidFill>
                <a:latin typeface="Arial"/>
                <a:ea typeface="Arial"/>
                <a:cs typeface="Arial"/>
              </a:rPr>
              <a:t>H2b · Identificazione e inizio della ricerca</a:t>
            </a:r>
          </a:p>
        </p:txBody>
      </p:sp>
    </p:spTree>
    <p:extLst>
      <p:ext uri="{BB962C8B-B14F-4D97-AF65-F5344CB8AC3E}">
        <p14:creationId xmlns:p14="http://schemas.microsoft.com/office/powerpoint/2010/main" val="668822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 name="Sezione">
            <a:extLst>
              <a:ext uri="{FF2B5EF4-FFF2-40B4-BE49-F238E27FC236}">
                <a16:creationId xmlns:a16="http://schemas.microsoft.com/office/drawing/2014/main" id="{248851A2-6F18-4014-9891-DCB89EB62542}"/>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Risultati</a:t>
            </a:r>
          </a:p>
        </p:txBody>
      </p:sp>
      <p:sp>
        <p:nvSpPr>
          <p:cNvPr id="2" name="Titolo">
            <a:extLst>
              <a:ext uri="{FF2B5EF4-FFF2-40B4-BE49-F238E27FC236}">
                <a16:creationId xmlns:a16="http://schemas.microsoft.com/office/drawing/2014/main" id="{D9CEFFF6-F434-4848-8374-5BB921313712}"/>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H3 · Inizio della ricerca e direzione possibile</a:t>
            </a:r>
          </a:p>
        </p:txBody>
      </p:sp>
      <p:sp>
        <p:nvSpPr>
          <p:cNvPr id="3" name="16">
            <a:extLst>
              <a:ext uri="{FF2B5EF4-FFF2-40B4-BE49-F238E27FC236}">
                <a16:creationId xmlns:a16="http://schemas.microsoft.com/office/drawing/2014/main" id="{1E6A5314-F298-4A3B-8C67-AF33F0396BC4}"/>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14</a:t>
            </a:r>
            <a:endParaRPr sz="1425" b="0">
              <a:solidFill>
                <a:srgbClr val="707070"/>
              </a:solidFill>
              <a:latin typeface="Arial"/>
              <a:ea typeface="Arial"/>
              <a:cs typeface="Arial"/>
            </a:endParaRPr>
          </a:p>
        </p:txBody>
      </p:sp>
      <p:pic>
        <p:nvPicPr>
          <p:cNvPr id="4" name="Immagine 3">
            <a:extLst>
              <a:ext uri="{FF2B5EF4-FFF2-40B4-BE49-F238E27FC236}">
                <a16:creationId xmlns:a16="http://schemas.microsoft.com/office/drawing/2014/main" id="{EBD6C1C5-5451-4DE7-A0BA-F685555E73A1}"/>
              </a:ext>
            </a:extLst>
          </p:cNvPr>
          <p:cNvPicPr>
            <a:picLocks noChangeAspect="1"/>
          </p:cNvPicPr>
          <p:nvPr/>
        </p:nvPicPr>
        <p:blipFill>
          <a:blip r:embed="rId4"/>
          <a:stretch/>
        </p:blipFill>
        <p:spPr>
          <a:xfrm>
            <a:off x="601028" y="1809750"/>
            <a:ext cx="6427470" cy="4591050"/>
          </a:xfrm>
          <a:prstGeom prst="rect">
            <a:avLst/>
          </a:prstGeom>
        </p:spPr>
      </p:pic>
      <p:sp>
        <p:nvSpPr>
          <p:cNvPr id="5" name="Probabilità osservate">
            <a:extLst>
              <a:ext uri="{FF2B5EF4-FFF2-40B4-BE49-F238E27FC236}">
                <a16:creationId xmlns:a16="http://schemas.microsoft.com/office/drawing/2014/main" id="{74FED0E3-E8AF-427B-9B8D-755AC8F5E6C3}"/>
              </a:ext>
            </a:extLst>
          </p:cNvPr>
          <p:cNvSpPr>
            <a:spLocks noGrp="1"/>
          </p:cNvSpPr>
          <p:nvPr/>
        </p:nvSpPr>
        <p:spPr>
          <a:xfrm>
            <a:off x="7467600" y="1800225"/>
            <a:ext cx="4000500" cy="371475"/>
          </a:xfrm>
          <a:prstGeom prst="rect">
            <a:avLst/>
          </a:prstGeom>
          <a:noFill/>
          <a:ln w="0">
            <a:noFill/>
          </a:ln>
        </p:spPr>
        <p:txBody>
          <a:bodyPr wrap="square" lIns="0" tIns="0" rIns="0" bIns="0" anchor="t">
            <a:noAutofit/>
          </a:bodyPr>
          <a:lstStyle>
            <a:defPPr algn="l">
              <a:defRPr sz="2175" b="1">
                <a:solidFill>
                  <a:srgbClr val="414141"/>
                </a:solidFill>
                <a:latin typeface="Arial"/>
                <a:ea typeface="Arial"/>
                <a:cs typeface="Arial"/>
              </a:defRPr>
            </a:defPPr>
          </a:lstStyle>
          <a:p>
            <a:pPr algn="l">
              <a:defRPr sz="2175" b="1">
                <a:solidFill>
                  <a:srgbClr val="414141"/>
                </a:solidFill>
                <a:latin typeface="Arial"/>
                <a:ea typeface="Arial"/>
                <a:cs typeface="Arial"/>
              </a:defRPr>
            </a:pPr>
            <a:r>
              <a:rPr sz="2175" b="1">
                <a:solidFill>
                  <a:srgbClr val="414141"/>
                </a:solidFill>
                <a:latin typeface="Arial"/>
                <a:ea typeface="Arial"/>
                <a:cs typeface="Arial"/>
              </a:rPr>
              <a:t>Probabilità osservate</a:t>
            </a:r>
          </a:p>
        </p:txBody>
      </p:sp>
      <p:sp>
        <p:nvSpPr>
          <p:cNvPr id="6" name="60,8%: esito peggiore&#10;52,8%: esito migliore">
            <a:extLst>
              <a:ext uri="{FF2B5EF4-FFF2-40B4-BE49-F238E27FC236}">
                <a16:creationId xmlns:a16="http://schemas.microsoft.com/office/drawing/2014/main" id="{B674969A-4ACA-4B0A-BC0B-FFF3A9515E9D}"/>
              </a:ext>
            </a:extLst>
          </p:cNvPr>
          <p:cNvSpPr>
            <a:spLocks noGrp="1"/>
          </p:cNvSpPr>
          <p:nvPr/>
        </p:nvSpPr>
        <p:spPr>
          <a:xfrm>
            <a:off x="7467600" y="2257425"/>
            <a:ext cx="4000500" cy="781050"/>
          </a:xfrm>
          <a:prstGeom prst="rect">
            <a:avLst/>
          </a:prstGeom>
          <a:noFill/>
          <a:ln w="0">
            <a:noFill/>
          </a:ln>
        </p:spPr>
        <p:txBody>
          <a:bodyPr wrap="square" lIns="0" tIns="0" rIns="0" bIns="0" anchor="t">
            <a:noAutofit/>
          </a:bodyPr>
          <a:lstStyle>
            <a:defPPr algn="l">
              <a:defRPr sz="2100" b="0">
                <a:solidFill>
                  <a:srgbClr val="414141"/>
                </a:solidFill>
                <a:latin typeface="Arial"/>
                <a:ea typeface="Arial"/>
                <a:cs typeface="Arial"/>
              </a:defRPr>
            </a:defPPr>
          </a:lstStyle>
          <a:p>
            <a:pPr algn="l">
              <a:defRPr sz="2100" b="0">
                <a:solidFill>
                  <a:srgbClr val="414141"/>
                </a:solidFill>
                <a:latin typeface="Arial"/>
                <a:ea typeface="Arial"/>
                <a:cs typeface="Arial"/>
              </a:defRPr>
            </a:pPr>
            <a:r>
              <a:rPr sz="2100" b="0">
                <a:solidFill>
                  <a:srgbClr val="414141"/>
                </a:solidFill>
                <a:latin typeface="Arial"/>
                <a:ea typeface="Arial"/>
                <a:cs typeface="Arial"/>
              </a:rPr>
              <a:t>60,8%: esito peggiore</a:t>
            </a:r>
          </a:p>
          <a:p>
            <a:pPr algn="l">
              <a:defRPr sz="2100" b="0">
                <a:solidFill>
                  <a:srgbClr val="414141"/>
                </a:solidFill>
                <a:latin typeface="Arial"/>
                <a:ea typeface="Arial"/>
                <a:cs typeface="Arial"/>
              </a:defRPr>
            </a:pPr>
            <a:r>
              <a:rPr sz="2100" b="0">
                <a:solidFill>
                  <a:srgbClr val="414141"/>
                </a:solidFill>
                <a:latin typeface="Arial"/>
                <a:ea typeface="Arial"/>
                <a:cs typeface="Arial"/>
              </a:rPr>
              <a:t>52,8%: esito migliore</a:t>
            </a:r>
          </a:p>
        </p:txBody>
      </p:sp>
      <p:sp>
        <p:nvSpPr>
          <p:cNvPr id="7" name="OR = 1,65">
            <a:extLst>
              <a:ext uri="{FF2B5EF4-FFF2-40B4-BE49-F238E27FC236}">
                <a16:creationId xmlns:a16="http://schemas.microsoft.com/office/drawing/2014/main" id="{EB8538AF-EE95-4BCB-8D97-5954E78F65BF}"/>
              </a:ext>
            </a:extLst>
          </p:cNvPr>
          <p:cNvSpPr>
            <a:spLocks noGrp="1"/>
          </p:cNvSpPr>
          <p:nvPr/>
        </p:nvSpPr>
        <p:spPr>
          <a:xfrm>
            <a:off x="7467600" y="3209925"/>
            <a:ext cx="4000500" cy="533400"/>
          </a:xfrm>
          <a:prstGeom prst="rect">
            <a:avLst/>
          </a:prstGeom>
          <a:noFill/>
          <a:ln w="0">
            <a:noFill/>
          </a:ln>
        </p:spPr>
        <p:txBody>
          <a:bodyPr wrap="square" lIns="0" tIns="0" rIns="0" bIns="0" anchor="t">
            <a:noAutofit/>
          </a:bodyPr>
          <a:lstStyle>
            <a:defPPr algn="l">
              <a:defRPr sz="3150" b="1">
                <a:solidFill>
                  <a:srgbClr val="AA0004"/>
                </a:solidFill>
                <a:latin typeface="Arial"/>
                <a:ea typeface="Arial"/>
                <a:cs typeface="Arial"/>
              </a:defRPr>
            </a:defPPr>
          </a:lstStyle>
          <a:p>
            <a:pPr algn="l">
              <a:defRPr sz="3150" b="1">
                <a:solidFill>
                  <a:srgbClr val="AA0004"/>
                </a:solidFill>
                <a:latin typeface="Arial"/>
                <a:ea typeface="Arial"/>
                <a:cs typeface="Arial"/>
              </a:defRPr>
            </a:pPr>
            <a:r>
              <a:rPr sz="3150" b="1">
                <a:solidFill>
                  <a:srgbClr val="AA0004"/>
                </a:solidFill>
                <a:latin typeface="Arial"/>
                <a:ea typeface="Arial"/>
                <a:cs typeface="Arial"/>
              </a:rPr>
              <a:t>OR = 1,65</a:t>
            </a:r>
          </a:p>
        </p:txBody>
      </p:sp>
      <p:sp>
        <p:nvSpPr>
          <p:cNvPr id="8" name="Esito peggiore vs migliore&#10;IC 95% [1,13, 2,40]&#10;p = .009">
            <a:extLst>
              <a:ext uri="{FF2B5EF4-FFF2-40B4-BE49-F238E27FC236}">
                <a16:creationId xmlns:a16="http://schemas.microsoft.com/office/drawing/2014/main" id="{491AAEE0-304E-4BB7-961A-8192F5C1DD16}"/>
              </a:ext>
            </a:extLst>
          </p:cNvPr>
          <p:cNvSpPr>
            <a:spLocks noGrp="1"/>
          </p:cNvSpPr>
          <p:nvPr/>
        </p:nvSpPr>
        <p:spPr>
          <a:xfrm>
            <a:off x="7467600" y="3810000"/>
            <a:ext cx="4000500" cy="1028700"/>
          </a:xfrm>
          <a:prstGeom prst="rect">
            <a:avLst/>
          </a:prstGeom>
          <a:noFill/>
          <a:ln w="0">
            <a:noFill/>
          </a:ln>
        </p:spPr>
        <p:txBody>
          <a:bodyPr wrap="square" lIns="0" tIns="0" rIns="0" bIns="0" anchor="t">
            <a:noAutofit/>
          </a:bodyPr>
          <a:lstStyle>
            <a:defPPr algn="l">
              <a:defRPr sz="1950" b="0">
                <a:solidFill>
                  <a:srgbClr val="414141"/>
                </a:solidFill>
                <a:latin typeface="Arial"/>
                <a:ea typeface="Arial"/>
                <a:cs typeface="Arial"/>
              </a:defRPr>
            </a:defPPr>
          </a:lstStyle>
          <a:p>
            <a:pPr algn="l">
              <a:defRPr sz="1950" b="0">
                <a:solidFill>
                  <a:srgbClr val="414141"/>
                </a:solidFill>
                <a:latin typeface="Arial"/>
                <a:ea typeface="Arial"/>
                <a:cs typeface="Arial"/>
              </a:defRPr>
            </a:pPr>
            <a:r>
              <a:rPr sz="1950" b="0">
                <a:solidFill>
                  <a:srgbClr val="414141"/>
                </a:solidFill>
                <a:latin typeface="Arial"/>
                <a:ea typeface="Arial"/>
                <a:cs typeface="Arial"/>
              </a:rPr>
              <a:t>Esito peggiore vs migliore</a:t>
            </a:r>
          </a:p>
          <a:p>
            <a:pPr algn="l">
              <a:defRPr sz="1950" b="0">
                <a:solidFill>
                  <a:srgbClr val="414141"/>
                </a:solidFill>
                <a:latin typeface="Arial"/>
                <a:ea typeface="Arial"/>
                <a:cs typeface="Arial"/>
              </a:defRPr>
            </a:pPr>
            <a:r>
              <a:rPr sz="1950" b="0">
                <a:solidFill>
                  <a:srgbClr val="414141"/>
                </a:solidFill>
                <a:latin typeface="Arial"/>
                <a:ea typeface="Arial"/>
                <a:cs typeface="Arial"/>
              </a:rPr>
              <a:t>IC 95% [1,13, 2,40]</a:t>
            </a:r>
          </a:p>
          <a:p>
            <a:pPr algn="l">
              <a:defRPr sz="1950" b="0">
                <a:solidFill>
                  <a:srgbClr val="414141"/>
                </a:solidFill>
                <a:latin typeface="Arial"/>
                <a:ea typeface="Arial"/>
                <a:cs typeface="Arial"/>
              </a:defRPr>
            </a:pPr>
            <a:r>
              <a:rPr sz="1950" b="0" i="1">
                <a:solidFill>
                  <a:srgbClr val="414141"/>
                </a:solidFill>
                <a:latin typeface="Arial"/>
                <a:ea typeface="Arial"/>
                <a:cs typeface="Arial"/>
              </a:rPr>
              <a:t>p</a:t>
            </a:r>
            <a:r>
              <a:rPr sz="1950" b="0">
                <a:solidFill>
                  <a:srgbClr val="414141"/>
                </a:solidFill>
                <a:latin typeface="Arial"/>
                <a:ea typeface="Arial"/>
                <a:cs typeface="Arial"/>
              </a:rPr>
              <a:t> = .009</a:t>
            </a:r>
          </a:p>
        </p:txBody>
      </p:sp>
      <p:sp>
        <p:nvSpPr>
          <p:cNvPr id="9" name="H3: supporto per l’inizio">
            <a:extLst>
              <a:ext uri="{FF2B5EF4-FFF2-40B4-BE49-F238E27FC236}">
                <a16:creationId xmlns:a16="http://schemas.microsoft.com/office/drawing/2014/main" id="{11A6E908-BD4D-41A9-AF82-6925F6293E48}"/>
              </a:ext>
            </a:extLst>
          </p:cNvPr>
          <p:cNvSpPr>
            <a:spLocks noGrp="1"/>
          </p:cNvSpPr>
          <p:nvPr/>
        </p:nvSpPr>
        <p:spPr>
          <a:xfrm>
            <a:off x="7467600" y="4972050"/>
            <a:ext cx="4000500" cy="390525"/>
          </a:xfrm>
          <a:prstGeom prst="rect">
            <a:avLst/>
          </a:prstGeom>
          <a:noFill/>
          <a:ln w="0">
            <a:noFill/>
          </a:ln>
        </p:spPr>
        <p:txBody>
          <a:bodyPr wrap="square" lIns="0" tIns="0" rIns="0" bIns="0" anchor="t">
            <a:noAutofit/>
          </a:bodyPr>
          <a:lstStyle>
            <a:defPPr algn="l">
              <a:defRPr sz="2175" b="1">
                <a:solidFill>
                  <a:srgbClr val="AA0004"/>
                </a:solidFill>
                <a:latin typeface="Arial"/>
                <a:ea typeface="Arial"/>
                <a:cs typeface="Arial"/>
              </a:defRPr>
            </a:defPPr>
          </a:lstStyle>
          <a:p>
            <a:pPr algn="l">
              <a:defRPr sz="2175" b="1">
                <a:solidFill>
                  <a:srgbClr val="AA0004"/>
                </a:solidFill>
                <a:latin typeface="Arial"/>
                <a:ea typeface="Arial"/>
                <a:cs typeface="Arial"/>
              </a:defRPr>
            </a:pPr>
            <a:r>
              <a:rPr sz="2175" b="1">
                <a:solidFill>
                  <a:srgbClr val="AA0004"/>
                </a:solidFill>
                <a:latin typeface="Arial"/>
                <a:ea typeface="Arial"/>
                <a:cs typeface="Arial"/>
              </a:rPr>
              <a:t>H3: supporto per l’inizio</a:t>
            </a:r>
          </a:p>
        </p:txBody>
      </p:sp>
      <p:sp>
        <p:nvSpPr>
          <p:cNvPr id="10" name="Estensione: nessuna evidenza&#10;IRR = 1,06; IC 95% [0,96, 1,17]">
            <a:extLst>
              <a:ext uri="{FF2B5EF4-FFF2-40B4-BE49-F238E27FC236}">
                <a16:creationId xmlns:a16="http://schemas.microsoft.com/office/drawing/2014/main" id="{E5C87FA6-C551-4526-B10E-AABF0A7F93B9}"/>
              </a:ext>
            </a:extLst>
          </p:cNvPr>
          <p:cNvSpPr>
            <a:spLocks noGrp="1"/>
          </p:cNvSpPr>
          <p:nvPr/>
        </p:nvSpPr>
        <p:spPr>
          <a:xfrm>
            <a:off x="7467600" y="5448300"/>
            <a:ext cx="4000500" cy="866775"/>
          </a:xfrm>
          <a:prstGeom prst="rect">
            <a:avLst/>
          </a:prstGeom>
          <a:noFill/>
          <a:ln w="0">
            <a:noFill/>
          </a:ln>
        </p:spPr>
        <p:txBody>
          <a:bodyPr wrap="square" lIns="0" tIns="0" rIns="0" bIns="0" anchor="t">
            <a:noAutofit/>
          </a:bodyPr>
          <a:lstStyle>
            <a:defPPr algn="l">
              <a:defRPr sz="1725" b="0">
                <a:solidFill>
                  <a:srgbClr val="414141"/>
                </a:solidFill>
                <a:latin typeface="Arial"/>
                <a:ea typeface="Arial"/>
                <a:cs typeface="Arial"/>
              </a:defRPr>
            </a:defPPr>
          </a:lstStyle>
          <a:p>
            <a:pPr algn="l">
              <a:defRPr sz="1725" b="0">
                <a:solidFill>
                  <a:srgbClr val="414141"/>
                </a:solidFill>
                <a:latin typeface="Arial"/>
                <a:ea typeface="Arial"/>
                <a:cs typeface="Arial"/>
              </a:defRPr>
            </a:pPr>
            <a:r>
              <a:rPr sz="1725" b="0">
                <a:solidFill>
                  <a:srgbClr val="414141"/>
                </a:solidFill>
                <a:latin typeface="Arial"/>
                <a:ea typeface="Arial"/>
                <a:cs typeface="Arial"/>
              </a:rPr>
              <a:t>Estensione: nessuna evidenza</a:t>
            </a:r>
          </a:p>
          <a:p>
            <a:pPr algn="l">
              <a:defRPr sz="1725" b="0">
                <a:solidFill>
                  <a:srgbClr val="414141"/>
                </a:solidFill>
                <a:latin typeface="Arial"/>
                <a:ea typeface="Arial"/>
                <a:cs typeface="Arial"/>
              </a:defRPr>
            </a:pPr>
            <a:r>
              <a:rPr sz="1725" b="0">
                <a:solidFill>
                  <a:srgbClr val="414141"/>
                </a:solidFill>
                <a:latin typeface="Arial"/>
                <a:ea typeface="Arial"/>
                <a:cs typeface="Arial"/>
              </a:rPr>
              <a:t>IRR = 1,06; IC 95% [0,96, 1,17]</a:t>
            </a:r>
          </a:p>
          <a:p>
            <a:pPr algn="l">
              <a:defRPr sz="1725" b="0">
                <a:solidFill>
                  <a:srgbClr val="414141"/>
                </a:solidFill>
                <a:latin typeface="Arial"/>
                <a:ea typeface="Arial"/>
                <a:cs typeface="Arial"/>
              </a:defRPr>
            </a:pPr>
            <a:r>
              <a:rPr sz="1725" b="0" i="1">
                <a:solidFill>
                  <a:srgbClr val="414141"/>
                </a:solidFill>
                <a:latin typeface="Arial"/>
                <a:ea typeface="Arial"/>
                <a:cs typeface="Arial"/>
              </a:rPr>
              <a:t>p</a:t>
            </a:r>
            <a:r>
              <a:rPr sz="1725" b="0">
                <a:solidFill>
                  <a:srgbClr val="414141"/>
                </a:solidFill>
                <a:latin typeface="Arial"/>
                <a:ea typeface="Arial"/>
                <a:cs typeface="Arial"/>
              </a:rPr>
              <a:t> = .262</a:t>
            </a:r>
          </a:p>
        </p:txBody>
      </p:sp>
      <p:sp>
        <p:nvSpPr>
          <p:cNvPr id="11" name="Descrittive: medie per partecipante e IC 95%">
            <a:extLst>
              <a:ext uri="{FF2B5EF4-FFF2-40B4-BE49-F238E27FC236}">
                <a16:creationId xmlns:a16="http://schemas.microsoft.com/office/drawing/2014/main" id="{509525C6-14F1-4035-B02A-1B794578CFA3}"/>
              </a:ext>
            </a:extLst>
          </p:cNvPr>
          <p:cNvSpPr>
            <a:spLocks noGrp="1"/>
          </p:cNvSpPr>
          <p:nvPr/>
        </p:nvSpPr>
        <p:spPr>
          <a:xfrm>
            <a:off x="952500" y="1581150"/>
            <a:ext cx="5962650" cy="238125"/>
          </a:xfrm>
          <a:prstGeom prst="rect">
            <a:avLst/>
          </a:prstGeom>
          <a:noFill/>
          <a:ln w="0">
            <a:noFill/>
          </a:ln>
        </p:spPr>
        <p:txBody>
          <a:bodyPr wrap="square" lIns="0" tIns="0" rIns="0" bIns="0" anchor="t">
            <a:noAutofit/>
          </a:bodyPr>
          <a:lstStyle>
            <a:defPPr algn="l">
              <a:defRPr sz="1350" b="0">
                <a:solidFill>
                  <a:srgbClr val="707070"/>
                </a:solidFill>
                <a:latin typeface="Arial"/>
                <a:ea typeface="Arial"/>
                <a:cs typeface="Arial"/>
              </a:defRPr>
            </a:defPPr>
          </a:lstStyle>
          <a:p>
            <a:pPr algn="l">
              <a:defRPr sz="1350" b="0">
                <a:solidFill>
                  <a:srgbClr val="707070"/>
                </a:solidFill>
                <a:latin typeface="Arial"/>
                <a:ea typeface="Arial"/>
                <a:cs typeface="Arial"/>
              </a:defRPr>
            </a:pPr>
            <a:r>
              <a:rPr sz="1350" b="0">
                <a:solidFill>
                  <a:srgbClr val="707070"/>
                </a:solidFill>
                <a:latin typeface="Arial"/>
                <a:ea typeface="Arial"/>
                <a:cs typeface="Arial"/>
              </a:rPr>
              <a:t>Descrittive: medie per partecipante e IC 95%</a:t>
            </a:r>
          </a:p>
        </p:txBody>
      </p:sp>
    </p:spTree>
    <p:extLst>
      <p:ext uri="{BB962C8B-B14F-4D97-AF65-F5344CB8AC3E}">
        <p14:creationId xmlns:p14="http://schemas.microsoft.com/office/powerpoint/2010/main" val="1178612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4" name="Sezione">
            <a:extLst>
              <a:ext uri="{FF2B5EF4-FFF2-40B4-BE49-F238E27FC236}">
                <a16:creationId xmlns:a16="http://schemas.microsoft.com/office/drawing/2014/main" id="{7E40A048-8312-4566-BC23-BEA5314B6405}"/>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Discussione</a:t>
            </a:r>
          </a:p>
        </p:txBody>
      </p:sp>
      <p:sp>
        <p:nvSpPr>
          <p:cNvPr id="2" name="Titolo">
            <a:extLst>
              <a:ext uri="{FF2B5EF4-FFF2-40B4-BE49-F238E27FC236}">
                <a16:creationId xmlns:a16="http://schemas.microsoft.com/office/drawing/2014/main" id="{38783444-B412-4BFB-9177-ABCE98E118DE}"/>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lang="it-IT" sz="2550" b="1" dirty="0">
                <a:solidFill>
                  <a:srgbClr val="AA0004"/>
                </a:solidFill>
                <a:latin typeface="Arial"/>
                <a:ea typeface="Arial"/>
                <a:cs typeface="Arial"/>
              </a:rPr>
              <a:t>Sintesi dei risultati</a:t>
            </a:r>
            <a:endParaRPr sz="2550" b="1" dirty="0">
              <a:solidFill>
                <a:srgbClr val="AA0004"/>
              </a:solidFill>
              <a:latin typeface="Arial"/>
              <a:ea typeface="Arial"/>
              <a:cs typeface="Arial"/>
            </a:endParaRPr>
          </a:p>
        </p:txBody>
      </p:sp>
      <p:sp>
        <p:nvSpPr>
          <p:cNvPr id="3" name="17">
            <a:extLst>
              <a:ext uri="{FF2B5EF4-FFF2-40B4-BE49-F238E27FC236}">
                <a16:creationId xmlns:a16="http://schemas.microsoft.com/office/drawing/2014/main" id="{C227AC1E-C8E2-4141-A7A8-1536E457775A}"/>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15</a:t>
            </a:r>
            <a:endParaRPr sz="1425" b="0">
              <a:solidFill>
                <a:srgbClr val="707070"/>
              </a:solidFill>
              <a:latin typeface="Arial"/>
              <a:ea typeface="Arial"/>
              <a:cs typeface="Arial"/>
            </a:endParaRPr>
          </a:p>
        </p:txBody>
      </p:sp>
      <p:sp>
        <p:nvSpPr>
          <p:cNvPr id="4" name="Dominio">
            <a:extLst>
              <a:ext uri="{FF2B5EF4-FFF2-40B4-BE49-F238E27FC236}">
                <a16:creationId xmlns:a16="http://schemas.microsoft.com/office/drawing/2014/main" id="{8D09415C-68C2-43E6-A6AC-B08162257786}"/>
              </a:ext>
            </a:extLst>
          </p:cNvPr>
          <p:cNvSpPr>
            <a:spLocks noGrp="1"/>
          </p:cNvSpPr>
          <p:nvPr/>
        </p:nvSpPr>
        <p:spPr>
          <a:xfrm>
            <a:off x="742950" y="1838325"/>
            <a:ext cx="2981325" cy="666750"/>
          </a:xfrm>
          <a:prstGeom prst="rect">
            <a:avLst/>
          </a:prstGeom>
          <a:noFill/>
          <a:ln w="0">
            <a:noFill/>
          </a:ln>
        </p:spPr>
        <p:txBody>
          <a:bodyPr wrap="square" lIns="0" tIns="0" rIns="0" bIns="0" anchor="t">
            <a:noAutofit/>
          </a:bodyPr>
          <a:lstStyle>
            <a:defPPr algn="l">
              <a:defRPr sz="2175" b="1">
                <a:solidFill>
                  <a:srgbClr val="AA0004"/>
                </a:solidFill>
                <a:latin typeface="Arial"/>
                <a:ea typeface="Arial"/>
                <a:cs typeface="Arial"/>
              </a:defRPr>
            </a:defPPr>
          </a:lstStyle>
          <a:p>
            <a:pPr algn="l">
              <a:defRPr sz="2175" b="1">
                <a:solidFill>
                  <a:srgbClr val="AA0004"/>
                </a:solidFill>
                <a:latin typeface="Arial"/>
                <a:ea typeface="Arial"/>
                <a:cs typeface="Arial"/>
              </a:defRPr>
            </a:pPr>
            <a:r>
              <a:rPr sz="2175" b="1">
                <a:solidFill>
                  <a:srgbClr val="AA0004"/>
                </a:solidFill>
                <a:latin typeface="Arial"/>
                <a:ea typeface="Arial"/>
                <a:cs typeface="Arial"/>
              </a:rPr>
              <a:t>Dominio</a:t>
            </a:r>
          </a:p>
        </p:txBody>
      </p:sp>
      <p:sp>
        <p:nvSpPr>
          <p:cNvPr id="5" name="La felicità cambia, ma non emerge la differenza&#10;prevista nel">
            <a:extLst>
              <a:ext uri="{FF2B5EF4-FFF2-40B4-BE49-F238E27FC236}">
                <a16:creationId xmlns:a16="http://schemas.microsoft.com/office/drawing/2014/main" id="{4527AFA6-5BF3-4E84-AEFC-F143E9938842}"/>
              </a:ext>
            </a:extLst>
          </p:cNvPr>
          <p:cNvSpPr>
            <a:spLocks noGrp="1"/>
          </p:cNvSpPr>
          <p:nvPr/>
        </p:nvSpPr>
        <p:spPr>
          <a:xfrm>
            <a:off x="4076700" y="1838325"/>
            <a:ext cx="7372350" cy="828675"/>
          </a:xfrm>
          <a:prstGeom prst="rect">
            <a:avLst/>
          </a:prstGeom>
          <a:noFill/>
          <a:ln w="0">
            <a:noFill/>
          </a:ln>
        </p:spPr>
        <p:txBody>
          <a:bodyPr wrap="square" lIns="0" tIns="0" rIns="0" bIns="0" anchor="t">
            <a:noAutofit/>
          </a:bodyPr>
          <a:lstStyle>
            <a:defPPr algn="l">
              <a:defRPr sz="2100" b="0">
                <a:solidFill>
                  <a:srgbClr val="414141"/>
                </a:solidFill>
                <a:latin typeface="Arial"/>
                <a:ea typeface="Arial"/>
                <a:cs typeface="Arial"/>
              </a:defRPr>
            </a:defPPr>
          </a:lstStyle>
          <a:p>
            <a:pPr algn="l">
              <a:defRPr sz="2100" b="0">
                <a:solidFill>
                  <a:srgbClr val="414141"/>
                </a:solidFill>
                <a:latin typeface="Arial"/>
                <a:ea typeface="Arial"/>
                <a:cs typeface="Arial"/>
              </a:defRPr>
            </a:pPr>
            <a:r>
              <a:rPr lang="it-IT" sz="2100" b="0" dirty="0">
                <a:solidFill>
                  <a:srgbClr val="414141"/>
                </a:solidFill>
                <a:latin typeface="Arial"/>
                <a:ea typeface="Arial"/>
                <a:cs typeface="Arial"/>
              </a:rPr>
              <a:t>La felicità cambia, ma non emerge la differenza</a:t>
            </a:r>
          </a:p>
          <a:p>
            <a:pPr algn="l">
              <a:defRPr sz="2100" b="0">
                <a:solidFill>
                  <a:srgbClr val="414141"/>
                </a:solidFill>
                <a:latin typeface="Arial"/>
                <a:ea typeface="Arial"/>
                <a:cs typeface="Arial"/>
              </a:defRPr>
            </a:pPr>
            <a:r>
              <a:rPr lang="it-IT" sz="2100" b="0" dirty="0">
                <a:solidFill>
                  <a:srgbClr val="414141"/>
                </a:solidFill>
                <a:latin typeface="Arial"/>
                <a:ea typeface="Arial"/>
                <a:cs typeface="Arial"/>
              </a:rPr>
              <a:t>prevista nella ricerca.</a:t>
            </a:r>
          </a:p>
        </p:txBody>
      </p:sp>
      <p:sp>
        <p:nvSpPr>
          <p:cNvPr id="6" name="Connettore diritto 5">
            <a:extLst>
              <a:ext uri="{FF2B5EF4-FFF2-40B4-BE49-F238E27FC236}">
                <a16:creationId xmlns:a16="http://schemas.microsoft.com/office/drawing/2014/main" id="{F2BAE508-47E2-4346-93E1-8EFAA9C0AC04}"/>
              </a:ext>
            </a:extLst>
          </p:cNvPr>
          <p:cNvSpPr>
            <a:spLocks noGrp="1"/>
          </p:cNvSpPr>
          <p:nvPr/>
        </p:nvSpPr>
        <p:spPr>
          <a:xfrm>
            <a:off x="742950" y="2828925"/>
            <a:ext cx="10706100" cy="0"/>
          </a:xfrm>
          <a:prstGeom prst="line">
            <a:avLst/>
          </a:prstGeom>
          <a:noFill/>
          <a:ln w="14288">
            <a:solidFill>
              <a:srgbClr val="C4C4C4"/>
            </a:solidFill>
            <a:prstDash val="solid"/>
          </a:ln>
        </p:spPr>
        <p:txBody>
          <a:bodyPr/>
          <a:lstStyle/>
          <a:p>
            <a:endParaRPr lang="it-IT"/>
          </a:p>
        </p:txBody>
      </p:sp>
      <p:sp>
        <p:nvSpPr>
          <p:cNvPr id="7" name="Identificazione">
            <a:extLst>
              <a:ext uri="{FF2B5EF4-FFF2-40B4-BE49-F238E27FC236}">
                <a16:creationId xmlns:a16="http://schemas.microsoft.com/office/drawing/2014/main" id="{DC5B619E-25EE-4C28-B8CB-D622FA557E1A}"/>
              </a:ext>
            </a:extLst>
          </p:cNvPr>
          <p:cNvSpPr>
            <a:spLocks noGrp="1"/>
          </p:cNvSpPr>
          <p:nvPr/>
        </p:nvSpPr>
        <p:spPr>
          <a:xfrm>
            <a:off x="742950" y="3028950"/>
            <a:ext cx="2981325" cy="666750"/>
          </a:xfrm>
          <a:prstGeom prst="rect">
            <a:avLst/>
          </a:prstGeom>
          <a:noFill/>
          <a:ln w="0">
            <a:noFill/>
          </a:ln>
        </p:spPr>
        <p:txBody>
          <a:bodyPr wrap="square" lIns="0" tIns="0" rIns="0" bIns="0" anchor="t">
            <a:noAutofit/>
          </a:bodyPr>
          <a:lstStyle>
            <a:defPPr algn="l">
              <a:defRPr sz="2175" b="1">
                <a:solidFill>
                  <a:srgbClr val="AA0004"/>
                </a:solidFill>
                <a:latin typeface="Arial"/>
                <a:ea typeface="Arial"/>
                <a:cs typeface="Arial"/>
              </a:defRPr>
            </a:defPPr>
          </a:lstStyle>
          <a:p>
            <a:pPr algn="l">
              <a:defRPr sz="2175" b="1">
                <a:solidFill>
                  <a:srgbClr val="AA0004"/>
                </a:solidFill>
                <a:latin typeface="Arial"/>
                <a:ea typeface="Arial"/>
                <a:cs typeface="Arial"/>
              </a:defRPr>
            </a:pPr>
            <a:r>
              <a:rPr sz="2175" b="1">
                <a:solidFill>
                  <a:srgbClr val="AA0004"/>
                </a:solidFill>
                <a:latin typeface="Arial"/>
                <a:ea typeface="Arial"/>
                <a:cs typeface="Arial"/>
              </a:rPr>
              <a:t>Identificazione</a:t>
            </a:r>
          </a:p>
        </p:txBody>
      </p:sp>
      <p:sp>
        <p:nvSpPr>
          <p:cNvPr id="8" name="Associazione positiva con l’avvio, contraria a H2b.&#10;Il mecca">
            <a:extLst>
              <a:ext uri="{FF2B5EF4-FFF2-40B4-BE49-F238E27FC236}">
                <a16:creationId xmlns:a16="http://schemas.microsoft.com/office/drawing/2014/main" id="{CC2AAD06-0A56-4152-BBA7-61074803BED2}"/>
              </a:ext>
            </a:extLst>
          </p:cNvPr>
          <p:cNvSpPr>
            <a:spLocks noGrp="1"/>
          </p:cNvSpPr>
          <p:nvPr/>
        </p:nvSpPr>
        <p:spPr>
          <a:xfrm>
            <a:off x="4076700" y="3028950"/>
            <a:ext cx="7372350" cy="828675"/>
          </a:xfrm>
          <a:prstGeom prst="rect">
            <a:avLst/>
          </a:prstGeom>
          <a:noFill/>
          <a:ln w="0">
            <a:noFill/>
          </a:ln>
        </p:spPr>
        <p:txBody>
          <a:bodyPr wrap="square" lIns="0" tIns="0" rIns="0" bIns="0" anchor="t">
            <a:noAutofit/>
          </a:bodyPr>
          <a:lstStyle>
            <a:defPPr algn="l">
              <a:defRPr sz="2100" b="0">
                <a:solidFill>
                  <a:srgbClr val="414141"/>
                </a:solidFill>
                <a:latin typeface="Arial"/>
                <a:ea typeface="Arial"/>
                <a:cs typeface="Arial"/>
              </a:defRPr>
            </a:defPPr>
          </a:lstStyle>
          <a:p>
            <a:pPr algn="l">
              <a:defRPr sz="2100" b="0">
                <a:solidFill>
                  <a:srgbClr val="414141"/>
                </a:solidFill>
                <a:latin typeface="Arial"/>
                <a:ea typeface="Arial"/>
                <a:cs typeface="Arial"/>
              </a:defRPr>
            </a:pPr>
            <a:r>
              <a:rPr sz="2100" b="0" dirty="0" err="1">
                <a:solidFill>
                  <a:srgbClr val="414141"/>
                </a:solidFill>
                <a:latin typeface="Arial"/>
                <a:ea typeface="Arial"/>
                <a:cs typeface="Arial"/>
              </a:rPr>
              <a:t>Associazione</a:t>
            </a:r>
            <a:r>
              <a:rPr sz="2100" b="0" dirty="0">
                <a:solidFill>
                  <a:srgbClr val="414141"/>
                </a:solidFill>
                <a:latin typeface="Arial"/>
                <a:ea typeface="Arial"/>
                <a:cs typeface="Arial"/>
              </a:rPr>
              <a:t> </a:t>
            </a:r>
            <a:r>
              <a:rPr sz="2100" b="0" dirty="0" err="1">
                <a:solidFill>
                  <a:srgbClr val="414141"/>
                </a:solidFill>
                <a:latin typeface="Arial"/>
                <a:ea typeface="Arial"/>
                <a:cs typeface="Arial"/>
              </a:rPr>
              <a:t>positiva</a:t>
            </a:r>
            <a:r>
              <a:rPr sz="2100" b="0" dirty="0">
                <a:solidFill>
                  <a:srgbClr val="414141"/>
                </a:solidFill>
                <a:latin typeface="Arial"/>
                <a:ea typeface="Arial"/>
                <a:cs typeface="Arial"/>
              </a:rPr>
              <a:t> con </a:t>
            </a:r>
            <a:r>
              <a:rPr sz="2100" b="0" dirty="0" err="1">
                <a:solidFill>
                  <a:srgbClr val="414141"/>
                </a:solidFill>
                <a:latin typeface="Arial"/>
                <a:ea typeface="Arial"/>
                <a:cs typeface="Arial"/>
              </a:rPr>
              <a:t>l’avvio</a:t>
            </a:r>
            <a:r>
              <a:rPr sz="2100" b="0" dirty="0">
                <a:solidFill>
                  <a:srgbClr val="414141"/>
                </a:solidFill>
                <a:latin typeface="Arial"/>
                <a:ea typeface="Arial"/>
                <a:cs typeface="Arial"/>
              </a:rPr>
              <a:t>, </a:t>
            </a:r>
            <a:r>
              <a:rPr sz="2100" b="0" dirty="0" err="1">
                <a:solidFill>
                  <a:srgbClr val="414141"/>
                </a:solidFill>
                <a:latin typeface="Arial"/>
                <a:ea typeface="Arial"/>
                <a:cs typeface="Arial"/>
              </a:rPr>
              <a:t>contraria</a:t>
            </a:r>
            <a:r>
              <a:rPr sz="2100" b="0" dirty="0">
                <a:solidFill>
                  <a:srgbClr val="414141"/>
                </a:solidFill>
                <a:latin typeface="Arial"/>
                <a:ea typeface="Arial"/>
                <a:cs typeface="Arial"/>
              </a:rPr>
              <a:t> a H2b.</a:t>
            </a:r>
          </a:p>
          <a:p>
            <a:pPr algn="l">
              <a:defRPr sz="2100" b="0">
                <a:solidFill>
                  <a:srgbClr val="414141"/>
                </a:solidFill>
                <a:latin typeface="Arial"/>
                <a:ea typeface="Arial"/>
                <a:cs typeface="Arial"/>
              </a:defRPr>
            </a:pPr>
            <a:r>
              <a:rPr lang="it-IT" sz="2100" dirty="0">
                <a:solidFill>
                  <a:srgbClr val="414141"/>
                </a:solidFill>
                <a:latin typeface="Arial"/>
                <a:ea typeface="Arial"/>
                <a:cs typeface="Arial"/>
              </a:rPr>
              <a:t>Direzione causale?</a:t>
            </a:r>
            <a:endParaRPr sz="2100" b="0" dirty="0">
              <a:solidFill>
                <a:srgbClr val="414141"/>
              </a:solidFill>
              <a:latin typeface="Arial"/>
              <a:ea typeface="Arial"/>
              <a:cs typeface="Arial"/>
            </a:endParaRPr>
          </a:p>
        </p:txBody>
      </p:sp>
      <p:sp>
        <p:nvSpPr>
          <p:cNvPr id="9" name="Connettore diritto 8">
            <a:extLst>
              <a:ext uri="{FF2B5EF4-FFF2-40B4-BE49-F238E27FC236}">
                <a16:creationId xmlns:a16="http://schemas.microsoft.com/office/drawing/2014/main" id="{07F8D114-D5F7-47A6-B20B-ECD6F4715507}"/>
              </a:ext>
            </a:extLst>
          </p:cNvPr>
          <p:cNvSpPr>
            <a:spLocks noGrp="1"/>
          </p:cNvSpPr>
          <p:nvPr/>
        </p:nvSpPr>
        <p:spPr>
          <a:xfrm>
            <a:off x="742950" y="4019550"/>
            <a:ext cx="10706100" cy="0"/>
          </a:xfrm>
          <a:prstGeom prst="line">
            <a:avLst/>
          </a:prstGeom>
          <a:noFill/>
          <a:ln w="14288">
            <a:solidFill>
              <a:srgbClr val="C4C4C4"/>
            </a:solidFill>
            <a:prstDash val="solid"/>
          </a:ln>
        </p:spPr>
        <p:txBody>
          <a:bodyPr/>
          <a:lstStyle/>
          <a:p>
            <a:endParaRPr lang="it-IT"/>
          </a:p>
        </p:txBody>
      </p:sp>
      <p:sp>
        <p:nvSpPr>
          <p:cNvPr id="10" name="Direzione possibile">
            <a:extLst>
              <a:ext uri="{FF2B5EF4-FFF2-40B4-BE49-F238E27FC236}">
                <a16:creationId xmlns:a16="http://schemas.microsoft.com/office/drawing/2014/main" id="{F96A419B-DB5D-460C-BCEA-98CD82FB6396}"/>
              </a:ext>
            </a:extLst>
          </p:cNvPr>
          <p:cNvSpPr>
            <a:spLocks noGrp="1"/>
          </p:cNvSpPr>
          <p:nvPr/>
        </p:nvSpPr>
        <p:spPr>
          <a:xfrm>
            <a:off x="742950" y="4219575"/>
            <a:ext cx="2981325" cy="666750"/>
          </a:xfrm>
          <a:prstGeom prst="rect">
            <a:avLst/>
          </a:prstGeom>
          <a:noFill/>
          <a:ln w="0">
            <a:noFill/>
          </a:ln>
        </p:spPr>
        <p:txBody>
          <a:bodyPr wrap="square" lIns="0" tIns="0" rIns="0" bIns="0" anchor="t">
            <a:noAutofit/>
          </a:bodyPr>
          <a:lstStyle>
            <a:defPPr algn="l">
              <a:defRPr sz="2175" b="1">
                <a:solidFill>
                  <a:srgbClr val="AA0004"/>
                </a:solidFill>
                <a:latin typeface="Arial"/>
                <a:ea typeface="Arial"/>
                <a:cs typeface="Arial"/>
              </a:defRPr>
            </a:defPPr>
          </a:lstStyle>
          <a:p>
            <a:pPr algn="l">
              <a:defRPr sz="2175" b="1">
                <a:solidFill>
                  <a:srgbClr val="AA0004"/>
                </a:solidFill>
                <a:latin typeface="Arial"/>
                <a:ea typeface="Arial"/>
                <a:cs typeface="Arial"/>
              </a:defRPr>
            </a:pPr>
            <a:r>
              <a:rPr sz="2175" b="1" dirty="0" err="1">
                <a:solidFill>
                  <a:srgbClr val="AA0004"/>
                </a:solidFill>
                <a:latin typeface="Arial"/>
                <a:ea typeface="Arial"/>
                <a:cs typeface="Arial"/>
              </a:rPr>
              <a:t>Direzione</a:t>
            </a:r>
            <a:r>
              <a:rPr sz="2175" b="1" dirty="0">
                <a:solidFill>
                  <a:srgbClr val="AA0004"/>
                </a:solidFill>
                <a:latin typeface="Arial"/>
                <a:ea typeface="Arial"/>
                <a:cs typeface="Arial"/>
              </a:rPr>
              <a:t> </a:t>
            </a:r>
            <a:r>
              <a:rPr lang="it-IT" sz="2175" b="1" dirty="0">
                <a:solidFill>
                  <a:srgbClr val="AA0004"/>
                </a:solidFill>
                <a:latin typeface="Arial"/>
                <a:ea typeface="Arial"/>
                <a:cs typeface="Arial"/>
              </a:rPr>
              <a:t>di confronto</a:t>
            </a:r>
            <a:endParaRPr sz="2175" b="1" dirty="0">
              <a:solidFill>
                <a:srgbClr val="AA0004"/>
              </a:solidFill>
              <a:latin typeface="Arial"/>
              <a:ea typeface="Arial"/>
              <a:cs typeface="Arial"/>
            </a:endParaRPr>
          </a:p>
        </p:txBody>
      </p:sp>
      <p:sp>
        <p:nvSpPr>
          <p:cNvPr id="11" name="Avvio più frequente quando è possibile il confronto&#10;verso l’">
            <a:extLst>
              <a:ext uri="{FF2B5EF4-FFF2-40B4-BE49-F238E27FC236}">
                <a16:creationId xmlns:a16="http://schemas.microsoft.com/office/drawing/2014/main" id="{9465FC33-36EB-49AE-973A-1A3A4492E1F5}"/>
              </a:ext>
            </a:extLst>
          </p:cNvPr>
          <p:cNvSpPr>
            <a:spLocks noGrp="1"/>
          </p:cNvSpPr>
          <p:nvPr/>
        </p:nvSpPr>
        <p:spPr>
          <a:xfrm>
            <a:off x="4076700" y="4219575"/>
            <a:ext cx="7372350" cy="828675"/>
          </a:xfrm>
          <a:prstGeom prst="rect">
            <a:avLst/>
          </a:prstGeom>
          <a:noFill/>
          <a:ln w="0">
            <a:noFill/>
          </a:ln>
        </p:spPr>
        <p:txBody>
          <a:bodyPr wrap="square" lIns="0" tIns="0" rIns="0" bIns="0" anchor="t">
            <a:noAutofit/>
          </a:bodyPr>
          <a:lstStyle>
            <a:defPPr algn="l">
              <a:defRPr sz="2100" b="0">
                <a:solidFill>
                  <a:srgbClr val="414141"/>
                </a:solidFill>
                <a:latin typeface="Arial"/>
                <a:ea typeface="Arial"/>
                <a:cs typeface="Arial"/>
              </a:defRPr>
            </a:defPPr>
          </a:lstStyle>
          <a:p>
            <a:pPr algn="l">
              <a:defRPr sz="2100" b="0">
                <a:solidFill>
                  <a:srgbClr val="414141"/>
                </a:solidFill>
                <a:latin typeface="Arial"/>
                <a:ea typeface="Arial"/>
                <a:cs typeface="Arial"/>
              </a:defRPr>
            </a:pPr>
            <a:r>
              <a:rPr sz="2100" b="0" dirty="0" err="1">
                <a:solidFill>
                  <a:srgbClr val="414141"/>
                </a:solidFill>
                <a:latin typeface="Arial"/>
                <a:ea typeface="Arial"/>
                <a:cs typeface="Arial"/>
              </a:rPr>
              <a:t>Avvio</a:t>
            </a:r>
            <a:r>
              <a:rPr sz="2100" b="0" dirty="0">
                <a:solidFill>
                  <a:srgbClr val="414141"/>
                </a:solidFill>
                <a:latin typeface="Arial"/>
                <a:ea typeface="Arial"/>
                <a:cs typeface="Arial"/>
              </a:rPr>
              <a:t> </a:t>
            </a:r>
            <a:r>
              <a:rPr sz="2100" b="0" dirty="0" err="1">
                <a:solidFill>
                  <a:srgbClr val="414141"/>
                </a:solidFill>
                <a:latin typeface="Arial"/>
                <a:ea typeface="Arial"/>
                <a:cs typeface="Arial"/>
              </a:rPr>
              <a:t>più</a:t>
            </a:r>
            <a:r>
              <a:rPr sz="2100" b="0" dirty="0">
                <a:solidFill>
                  <a:srgbClr val="414141"/>
                </a:solidFill>
                <a:latin typeface="Arial"/>
                <a:ea typeface="Arial"/>
                <a:cs typeface="Arial"/>
              </a:rPr>
              <a:t> </a:t>
            </a:r>
            <a:r>
              <a:rPr sz="2100" b="0" dirty="0" err="1">
                <a:solidFill>
                  <a:srgbClr val="414141"/>
                </a:solidFill>
                <a:latin typeface="Arial"/>
                <a:ea typeface="Arial"/>
                <a:cs typeface="Arial"/>
              </a:rPr>
              <a:t>frequente</a:t>
            </a:r>
            <a:r>
              <a:rPr sz="2100" b="0" dirty="0">
                <a:solidFill>
                  <a:srgbClr val="414141"/>
                </a:solidFill>
                <a:latin typeface="Arial"/>
                <a:ea typeface="Arial"/>
                <a:cs typeface="Arial"/>
              </a:rPr>
              <a:t> </a:t>
            </a:r>
            <a:r>
              <a:rPr sz="2100" b="0" dirty="0" err="1">
                <a:solidFill>
                  <a:srgbClr val="414141"/>
                </a:solidFill>
                <a:latin typeface="Arial"/>
                <a:ea typeface="Arial"/>
                <a:cs typeface="Arial"/>
              </a:rPr>
              <a:t>quando</a:t>
            </a:r>
            <a:r>
              <a:rPr sz="2100" b="0" dirty="0">
                <a:solidFill>
                  <a:srgbClr val="414141"/>
                </a:solidFill>
                <a:latin typeface="Arial"/>
                <a:ea typeface="Arial"/>
                <a:cs typeface="Arial"/>
              </a:rPr>
              <a:t> è </a:t>
            </a:r>
            <a:r>
              <a:rPr sz="2100" b="0" dirty="0" err="1">
                <a:solidFill>
                  <a:srgbClr val="414141"/>
                </a:solidFill>
                <a:latin typeface="Arial"/>
                <a:ea typeface="Arial"/>
                <a:cs typeface="Arial"/>
              </a:rPr>
              <a:t>possibile</a:t>
            </a:r>
            <a:r>
              <a:rPr sz="2100" b="0" dirty="0">
                <a:solidFill>
                  <a:srgbClr val="414141"/>
                </a:solidFill>
                <a:latin typeface="Arial"/>
                <a:ea typeface="Arial"/>
                <a:cs typeface="Arial"/>
              </a:rPr>
              <a:t> il </a:t>
            </a:r>
            <a:r>
              <a:rPr sz="2100" b="0" dirty="0" err="1">
                <a:solidFill>
                  <a:srgbClr val="414141"/>
                </a:solidFill>
                <a:latin typeface="Arial"/>
                <a:ea typeface="Arial"/>
                <a:cs typeface="Arial"/>
              </a:rPr>
              <a:t>confronto</a:t>
            </a:r>
            <a:endParaRPr sz="2100" b="0" dirty="0">
              <a:solidFill>
                <a:srgbClr val="414141"/>
              </a:solidFill>
              <a:latin typeface="Arial"/>
              <a:ea typeface="Arial"/>
              <a:cs typeface="Arial"/>
            </a:endParaRPr>
          </a:p>
          <a:p>
            <a:pPr algn="l">
              <a:defRPr sz="2100" b="0">
                <a:solidFill>
                  <a:srgbClr val="414141"/>
                </a:solidFill>
                <a:latin typeface="Arial"/>
                <a:ea typeface="Arial"/>
                <a:cs typeface="Arial"/>
              </a:defRPr>
            </a:pPr>
            <a:r>
              <a:rPr sz="2100" b="0" dirty="0">
                <a:solidFill>
                  <a:srgbClr val="414141"/>
                </a:solidFill>
                <a:latin typeface="Arial"/>
                <a:ea typeface="Arial"/>
                <a:cs typeface="Arial"/>
              </a:rPr>
              <a:t>verso </a:t>
            </a:r>
            <a:r>
              <a:rPr sz="2100" b="0" dirty="0" err="1">
                <a:solidFill>
                  <a:srgbClr val="414141"/>
                </a:solidFill>
                <a:latin typeface="Arial"/>
                <a:ea typeface="Arial"/>
                <a:cs typeface="Arial"/>
              </a:rPr>
              <a:t>l’alto</a:t>
            </a:r>
            <a:r>
              <a:rPr lang="it-IT" sz="2100" dirty="0">
                <a:solidFill>
                  <a:srgbClr val="414141"/>
                </a:solidFill>
                <a:latin typeface="Arial"/>
                <a:ea typeface="Arial"/>
                <a:cs typeface="Arial"/>
              </a:rPr>
              <a:t>.</a:t>
            </a:r>
            <a:endParaRPr sz="2100" b="0" dirty="0">
              <a:solidFill>
                <a:srgbClr val="414141"/>
              </a:solidFill>
              <a:latin typeface="Arial"/>
              <a:ea typeface="Arial"/>
              <a:cs typeface="Arial"/>
            </a:endParaRPr>
          </a:p>
        </p:txBody>
      </p:sp>
      <p:sp>
        <p:nvSpPr>
          <p:cNvPr id="12" name="Connettore diritto 11">
            <a:extLst>
              <a:ext uri="{FF2B5EF4-FFF2-40B4-BE49-F238E27FC236}">
                <a16:creationId xmlns:a16="http://schemas.microsoft.com/office/drawing/2014/main" id="{25DF92C3-88F6-428E-B679-2BFDB6F9FA02}"/>
              </a:ext>
            </a:extLst>
          </p:cNvPr>
          <p:cNvSpPr>
            <a:spLocks noGrp="1"/>
          </p:cNvSpPr>
          <p:nvPr/>
        </p:nvSpPr>
        <p:spPr>
          <a:xfrm>
            <a:off x="742950" y="5562600"/>
            <a:ext cx="10706100" cy="0"/>
          </a:xfrm>
          <a:prstGeom prst="line">
            <a:avLst/>
          </a:prstGeom>
          <a:noFill/>
          <a:ln w="19050">
            <a:solidFill>
              <a:srgbClr val="AA0004"/>
            </a:solidFill>
            <a:prstDash val="solid"/>
          </a:ln>
        </p:spPr>
        <p:txBody>
          <a:bodyPr/>
          <a:lstStyle/>
          <a:p>
            <a:endParaRPr lang="it-IT"/>
          </a:p>
        </p:txBody>
      </p:sp>
    </p:spTree>
    <p:extLst>
      <p:ext uri="{BB962C8B-B14F-4D97-AF65-F5344CB8AC3E}">
        <p14:creationId xmlns:p14="http://schemas.microsoft.com/office/powerpoint/2010/main" val="3869721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7" name="Sezione">
            <a:extLst>
              <a:ext uri="{FF2B5EF4-FFF2-40B4-BE49-F238E27FC236}">
                <a16:creationId xmlns:a16="http://schemas.microsoft.com/office/drawing/2014/main" id="{657B1097-403B-47BF-B7EB-A919021A853A}"/>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Discussione</a:t>
            </a:r>
          </a:p>
        </p:txBody>
      </p:sp>
      <p:sp>
        <p:nvSpPr>
          <p:cNvPr id="2" name="Titolo">
            <a:extLst>
              <a:ext uri="{FF2B5EF4-FFF2-40B4-BE49-F238E27FC236}">
                <a16:creationId xmlns:a16="http://schemas.microsoft.com/office/drawing/2014/main" id="{5BB91A0A-ECE1-45C5-AECC-20C428338232}"/>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Limiti dello studio</a:t>
            </a:r>
          </a:p>
        </p:txBody>
      </p:sp>
      <p:sp>
        <p:nvSpPr>
          <p:cNvPr id="3" name="18">
            <a:extLst>
              <a:ext uri="{FF2B5EF4-FFF2-40B4-BE49-F238E27FC236}">
                <a16:creationId xmlns:a16="http://schemas.microsoft.com/office/drawing/2014/main" id="{273592D8-E7D1-45E3-B411-EA1574A1536E}"/>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16</a:t>
            </a:r>
            <a:endParaRPr sz="1425" b="0">
              <a:solidFill>
                <a:srgbClr val="707070"/>
              </a:solidFill>
              <a:latin typeface="Arial"/>
              <a:ea typeface="Arial"/>
              <a:cs typeface="Arial"/>
            </a:endParaRPr>
          </a:p>
        </p:txBody>
      </p:sp>
      <p:sp>
        <p:nvSpPr>
          <p:cNvPr id="4" name="01">
            <a:extLst>
              <a:ext uri="{FF2B5EF4-FFF2-40B4-BE49-F238E27FC236}">
                <a16:creationId xmlns:a16="http://schemas.microsoft.com/office/drawing/2014/main" id="{9E3BE505-E1C7-45CD-A6E1-BCE748163970}"/>
              </a:ext>
            </a:extLst>
          </p:cNvPr>
          <p:cNvSpPr>
            <a:spLocks noGrp="1"/>
          </p:cNvSpPr>
          <p:nvPr/>
        </p:nvSpPr>
        <p:spPr>
          <a:xfrm>
            <a:off x="742950" y="1752600"/>
            <a:ext cx="419100" cy="333375"/>
          </a:xfrm>
          <a:prstGeom prst="rect">
            <a:avLst/>
          </a:prstGeom>
          <a:noFill/>
          <a:ln w="0">
            <a:noFill/>
          </a:ln>
        </p:spPr>
        <p:txBody>
          <a:bodyPr wrap="square" lIns="0" tIns="0" rIns="0" bIns="0" anchor="t">
            <a:noAutofit/>
          </a:bodyPr>
          <a:lstStyle>
            <a:defPPr algn="l">
              <a:defRPr sz="1875" b="1">
                <a:solidFill>
                  <a:srgbClr val="AA0004"/>
                </a:solidFill>
                <a:latin typeface="Arial"/>
                <a:ea typeface="Arial"/>
                <a:cs typeface="Arial"/>
              </a:defRPr>
            </a:defPPr>
          </a:lstStyle>
          <a:p>
            <a:pPr algn="l">
              <a:defRPr sz="1875" b="1">
                <a:solidFill>
                  <a:srgbClr val="AA0004"/>
                </a:solidFill>
                <a:latin typeface="Arial"/>
                <a:ea typeface="Arial"/>
                <a:cs typeface="Arial"/>
              </a:defRPr>
            </a:pPr>
            <a:r>
              <a:rPr sz="1875" b="1">
                <a:solidFill>
                  <a:srgbClr val="AA0004"/>
                </a:solidFill>
                <a:latin typeface="Arial"/>
                <a:ea typeface="Arial"/>
                <a:cs typeface="Arial"/>
              </a:rPr>
              <a:t>01</a:t>
            </a:r>
          </a:p>
        </p:txBody>
      </p:sp>
      <p:sp>
        <p:nvSpPr>
          <p:cNvPr id="5" name="H2 · Presupposti non verificati">
            <a:extLst>
              <a:ext uri="{FF2B5EF4-FFF2-40B4-BE49-F238E27FC236}">
                <a16:creationId xmlns:a16="http://schemas.microsoft.com/office/drawing/2014/main" id="{C9893923-ABC4-4C4A-9D45-E2D3ACD3F5C2}"/>
              </a:ext>
            </a:extLst>
          </p:cNvPr>
          <p:cNvSpPr>
            <a:spLocks noGrp="1"/>
          </p:cNvSpPr>
          <p:nvPr/>
        </p:nvSpPr>
        <p:spPr>
          <a:xfrm>
            <a:off x="1362075" y="2781300"/>
            <a:ext cx="3381375" cy="666750"/>
          </a:xfrm>
          <a:prstGeom prst="rect">
            <a:avLst/>
          </a:prstGeom>
          <a:noFill/>
          <a:ln w="0">
            <a:noFill/>
          </a:ln>
        </p:spPr>
        <p:txBody>
          <a:bodyPr wrap="square" lIns="0" tIns="0" rIns="0" bIns="0" anchor="t">
            <a:noAutofit/>
          </a:bodyPr>
          <a:lstStyle>
            <a:defPPr algn="l">
              <a:defRPr sz="2025" b="1">
                <a:solidFill>
                  <a:srgbClr val="AA0004"/>
                </a:solidFill>
                <a:latin typeface="Arial"/>
                <a:ea typeface="Arial"/>
                <a:cs typeface="Arial"/>
              </a:defRPr>
            </a:defPPr>
          </a:lstStyle>
          <a:p>
            <a:pPr algn="l">
              <a:defRPr sz="2025" b="1">
                <a:solidFill>
                  <a:srgbClr val="AA0004"/>
                </a:solidFill>
                <a:latin typeface="Arial"/>
                <a:ea typeface="Arial"/>
                <a:cs typeface="Arial"/>
              </a:defRPr>
            </a:pPr>
            <a:r>
              <a:rPr sz="2025" b="1" dirty="0">
                <a:solidFill>
                  <a:srgbClr val="AA0004"/>
                </a:solidFill>
                <a:latin typeface="Arial"/>
                <a:ea typeface="Arial"/>
                <a:cs typeface="Arial"/>
              </a:rPr>
              <a:t>H2 · </a:t>
            </a:r>
            <a:r>
              <a:rPr lang="it-IT" sz="2025" b="1" dirty="0">
                <a:solidFill>
                  <a:srgbClr val="AA0004"/>
                </a:solidFill>
                <a:latin typeface="Arial"/>
                <a:ea typeface="Arial"/>
                <a:cs typeface="Arial"/>
              </a:rPr>
              <a:t>Supposizione troppo forte</a:t>
            </a:r>
            <a:endParaRPr sz="2025" b="1" dirty="0">
              <a:solidFill>
                <a:srgbClr val="AA0004"/>
              </a:solidFill>
              <a:latin typeface="Arial"/>
              <a:ea typeface="Arial"/>
              <a:cs typeface="Arial"/>
            </a:endParaRPr>
          </a:p>
        </p:txBody>
      </p:sp>
      <p:sp>
        <p:nvSpPr>
          <p:cNvPr id="6" name="Evitamento previsto solo con disagio avversivo sufficiente. ">
            <a:extLst>
              <a:ext uri="{FF2B5EF4-FFF2-40B4-BE49-F238E27FC236}">
                <a16:creationId xmlns:a16="http://schemas.microsoft.com/office/drawing/2014/main" id="{B339F85E-4A04-4457-928A-9AB3F8E88294}"/>
              </a:ext>
            </a:extLst>
          </p:cNvPr>
          <p:cNvSpPr>
            <a:spLocks noGrp="1"/>
          </p:cNvSpPr>
          <p:nvPr/>
        </p:nvSpPr>
        <p:spPr>
          <a:xfrm>
            <a:off x="5076825" y="2781300"/>
            <a:ext cx="6372225" cy="904875"/>
          </a:xfrm>
          <a:prstGeom prst="rect">
            <a:avLst/>
          </a:prstGeom>
          <a:noFill/>
          <a:ln w="0">
            <a:noFill/>
          </a:ln>
        </p:spPr>
        <p:txBody>
          <a:bodyPr wrap="square" lIns="0" tIns="0" rIns="0" bIns="0" anchor="t">
            <a:noAutofit/>
          </a:bodyPr>
          <a:lstStyle>
            <a:defPPr algn="l">
              <a:defRPr sz="1875" b="0">
                <a:solidFill>
                  <a:srgbClr val="414141"/>
                </a:solidFill>
                <a:latin typeface="Arial"/>
                <a:ea typeface="Arial"/>
                <a:cs typeface="Arial"/>
              </a:defRPr>
            </a:defPPr>
          </a:lstStyle>
          <a:p>
            <a:pPr algn="l">
              <a:defRPr sz="1875" b="0">
                <a:solidFill>
                  <a:srgbClr val="414141"/>
                </a:solidFill>
                <a:latin typeface="Arial"/>
                <a:ea typeface="Arial"/>
                <a:cs typeface="Arial"/>
              </a:defRPr>
            </a:pPr>
            <a:r>
              <a:rPr sz="1875" b="0">
                <a:solidFill>
                  <a:srgbClr val="414141"/>
                </a:solidFill>
                <a:latin typeface="Arial"/>
                <a:ea typeface="Arial"/>
                <a:cs typeface="Arial"/>
              </a:rPr>
              <a:t>Evitamento previsto solo con disagio avversivo sufficiente. Risposta empatica, disagio e intenzione di evitare non misurati.</a:t>
            </a:r>
          </a:p>
        </p:txBody>
      </p:sp>
      <p:sp>
        <p:nvSpPr>
          <p:cNvPr id="7" name="Connettore diritto 6">
            <a:extLst>
              <a:ext uri="{FF2B5EF4-FFF2-40B4-BE49-F238E27FC236}">
                <a16:creationId xmlns:a16="http://schemas.microsoft.com/office/drawing/2014/main" id="{EFD33D5C-A78E-45F6-96FD-43D4C8923BFB}"/>
              </a:ext>
            </a:extLst>
          </p:cNvPr>
          <p:cNvSpPr>
            <a:spLocks noGrp="1"/>
          </p:cNvSpPr>
          <p:nvPr/>
        </p:nvSpPr>
        <p:spPr>
          <a:xfrm>
            <a:off x="1362075" y="2695575"/>
            <a:ext cx="10086975" cy="0"/>
          </a:xfrm>
          <a:prstGeom prst="line">
            <a:avLst/>
          </a:prstGeom>
          <a:noFill/>
          <a:ln w="14288">
            <a:solidFill>
              <a:srgbClr val="C4C4C4"/>
            </a:solidFill>
            <a:prstDash val="solid"/>
          </a:ln>
        </p:spPr>
        <p:txBody>
          <a:bodyPr/>
          <a:lstStyle/>
          <a:p>
            <a:endParaRPr lang="it-IT"/>
          </a:p>
        </p:txBody>
      </p:sp>
      <p:sp>
        <p:nvSpPr>
          <p:cNvPr id="8" name="02">
            <a:extLst>
              <a:ext uri="{FF2B5EF4-FFF2-40B4-BE49-F238E27FC236}">
                <a16:creationId xmlns:a16="http://schemas.microsoft.com/office/drawing/2014/main" id="{A380F860-5B46-4ABA-8D0E-F680C40502FF}"/>
              </a:ext>
            </a:extLst>
          </p:cNvPr>
          <p:cNvSpPr>
            <a:spLocks noGrp="1"/>
          </p:cNvSpPr>
          <p:nvPr/>
        </p:nvSpPr>
        <p:spPr>
          <a:xfrm>
            <a:off x="742950" y="2781300"/>
            <a:ext cx="419100" cy="333375"/>
          </a:xfrm>
          <a:prstGeom prst="rect">
            <a:avLst/>
          </a:prstGeom>
          <a:noFill/>
          <a:ln w="0">
            <a:noFill/>
          </a:ln>
        </p:spPr>
        <p:txBody>
          <a:bodyPr wrap="square" lIns="0" tIns="0" rIns="0" bIns="0" anchor="t">
            <a:noAutofit/>
          </a:bodyPr>
          <a:lstStyle>
            <a:defPPr algn="l">
              <a:defRPr sz="1875" b="1">
                <a:solidFill>
                  <a:srgbClr val="AA0004"/>
                </a:solidFill>
                <a:latin typeface="Arial"/>
                <a:ea typeface="Arial"/>
                <a:cs typeface="Arial"/>
              </a:defRPr>
            </a:defPPr>
          </a:lstStyle>
          <a:p>
            <a:pPr algn="l">
              <a:defRPr sz="1875" b="1">
                <a:solidFill>
                  <a:srgbClr val="AA0004"/>
                </a:solidFill>
                <a:latin typeface="Arial"/>
                <a:ea typeface="Arial"/>
                <a:cs typeface="Arial"/>
              </a:defRPr>
            </a:pPr>
            <a:r>
              <a:rPr sz="1875" b="1">
                <a:solidFill>
                  <a:srgbClr val="AA0004"/>
                </a:solidFill>
                <a:latin typeface="Arial"/>
                <a:ea typeface="Arial"/>
                <a:cs typeface="Arial"/>
              </a:rPr>
              <a:t>02</a:t>
            </a:r>
          </a:p>
        </p:txBody>
      </p:sp>
      <p:sp>
        <p:nvSpPr>
          <p:cNvPr id="9" name="H3 · Fattori inseparabili">
            <a:extLst>
              <a:ext uri="{FF2B5EF4-FFF2-40B4-BE49-F238E27FC236}">
                <a16:creationId xmlns:a16="http://schemas.microsoft.com/office/drawing/2014/main" id="{718DC4DA-0895-4A81-BE53-0006FC72B192}"/>
              </a:ext>
            </a:extLst>
          </p:cNvPr>
          <p:cNvSpPr>
            <a:spLocks noGrp="1"/>
          </p:cNvSpPr>
          <p:nvPr/>
        </p:nvSpPr>
        <p:spPr>
          <a:xfrm>
            <a:off x="1362075" y="1752600"/>
            <a:ext cx="3381375" cy="666750"/>
          </a:xfrm>
          <a:prstGeom prst="rect">
            <a:avLst/>
          </a:prstGeom>
          <a:noFill/>
          <a:ln w="0">
            <a:noFill/>
          </a:ln>
        </p:spPr>
        <p:txBody>
          <a:bodyPr wrap="square" lIns="0" tIns="0" rIns="0" bIns="0" anchor="t">
            <a:noAutofit/>
          </a:bodyPr>
          <a:lstStyle>
            <a:defPPr algn="l">
              <a:defRPr sz="2025" b="1">
                <a:solidFill>
                  <a:srgbClr val="AA0004"/>
                </a:solidFill>
                <a:latin typeface="Arial"/>
                <a:ea typeface="Arial"/>
                <a:cs typeface="Arial"/>
              </a:defRPr>
            </a:defPPr>
          </a:lstStyle>
          <a:p>
            <a:pPr algn="l">
              <a:defRPr sz="2025" b="1">
                <a:solidFill>
                  <a:srgbClr val="AA0004"/>
                </a:solidFill>
                <a:latin typeface="Arial"/>
                <a:ea typeface="Arial"/>
                <a:cs typeface="Arial"/>
              </a:defRPr>
            </a:pPr>
            <a:r>
              <a:rPr sz="2025" b="1" dirty="0">
                <a:solidFill>
                  <a:srgbClr val="AA0004"/>
                </a:solidFill>
                <a:latin typeface="Arial"/>
                <a:ea typeface="Arial"/>
                <a:cs typeface="Arial"/>
              </a:rPr>
              <a:t>H3 · </a:t>
            </a:r>
            <a:r>
              <a:rPr lang="it-IT" sz="2025" b="1" dirty="0">
                <a:solidFill>
                  <a:srgbClr val="AA0004"/>
                </a:solidFill>
                <a:latin typeface="Arial"/>
                <a:ea typeface="Arial"/>
                <a:cs typeface="Arial"/>
              </a:rPr>
              <a:t>Fattore confondente</a:t>
            </a:r>
            <a:endParaRPr sz="2025" b="1" dirty="0">
              <a:solidFill>
                <a:srgbClr val="AA0004"/>
              </a:solidFill>
              <a:latin typeface="Arial"/>
              <a:ea typeface="Arial"/>
              <a:cs typeface="Arial"/>
            </a:endParaRPr>
          </a:p>
        </p:txBody>
      </p:sp>
      <p:sp>
        <p:nvSpPr>
          <p:cNvPr id="10" name="Esito proprio peggiore e possibilità di confronto verso l’al">
            <a:extLst>
              <a:ext uri="{FF2B5EF4-FFF2-40B4-BE49-F238E27FC236}">
                <a16:creationId xmlns:a16="http://schemas.microsoft.com/office/drawing/2014/main" id="{ABCC0CD7-8C37-406B-989C-349110CC68AD}"/>
              </a:ext>
            </a:extLst>
          </p:cNvPr>
          <p:cNvSpPr>
            <a:spLocks noGrp="1"/>
          </p:cNvSpPr>
          <p:nvPr/>
        </p:nvSpPr>
        <p:spPr>
          <a:xfrm>
            <a:off x="5076825" y="1752600"/>
            <a:ext cx="6372225" cy="904875"/>
          </a:xfrm>
          <a:prstGeom prst="rect">
            <a:avLst/>
          </a:prstGeom>
          <a:noFill/>
          <a:ln w="0">
            <a:noFill/>
          </a:ln>
        </p:spPr>
        <p:txBody>
          <a:bodyPr wrap="square" lIns="0" tIns="0" rIns="0" bIns="0" anchor="t">
            <a:noAutofit/>
          </a:bodyPr>
          <a:lstStyle>
            <a:defPPr algn="l">
              <a:defRPr sz="1875" b="0">
                <a:solidFill>
                  <a:srgbClr val="414141"/>
                </a:solidFill>
                <a:latin typeface="Arial"/>
                <a:ea typeface="Arial"/>
                <a:cs typeface="Arial"/>
              </a:defRPr>
            </a:defPPr>
          </a:lstStyle>
          <a:p>
            <a:pPr algn="l">
              <a:defRPr sz="1875" b="0">
                <a:solidFill>
                  <a:srgbClr val="414141"/>
                </a:solidFill>
                <a:latin typeface="Arial"/>
                <a:ea typeface="Arial"/>
                <a:cs typeface="Arial"/>
              </a:defRPr>
            </a:pPr>
            <a:r>
              <a:rPr sz="1875" b="0">
                <a:solidFill>
                  <a:srgbClr val="414141"/>
                </a:solidFill>
                <a:latin typeface="Arial"/>
                <a:ea typeface="Arial"/>
                <a:cs typeface="Arial"/>
              </a:rPr>
              <a:t>Esito proprio peggiore e possibilità di confronto verso l’alto coincidono. Il risultato può riflettere l’uno, l’altra o entrambi.</a:t>
            </a:r>
          </a:p>
        </p:txBody>
      </p:sp>
      <p:sp>
        <p:nvSpPr>
          <p:cNvPr id="13" name="Richiesta e comparazione">
            <a:extLst>
              <a:ext uri="{FF2B5EF4-FFF2-40B4-BE49-F238E27FC236}">
                <a16:creationId xmlns:a16="http://schemas.microsoft.com/office/drawing/2014/main" id="{5684A6ED-284F-4ED0-B6DE-289A2C8B2799}"/>
              </a:ext>
            </a:extLst>
          </p:cNvPr>
          <p:cNvSpPr>
            <a:spLocks noGrp="1"/>
          </p:cNvSpPr>
          <p:nvPr/>
        </p:nvSpPr>
        <p:spPr>
          <a:xfrm>
            <a:off x="1362075" y="4060541"/>
            <a:ext cx="3381375" cy="561975"/>
          </a:xfrm>
          <a:prstGeom prst="rect">
            <a:avLst/>
          </a:prstGeom>
          <a:noFill/>
          <a:ln w="0">
            <a:noFill/>
          </a:ln>
        </p:spPr>
        <p:txBody>
          <a:bodyPr wrap="square" lIns="0" tIns="0" rIns="0" bIns="0" anchor="t">
            <a:noAutofit/>
          </a:bodyPr>
          <a:lstStyle>
            <a:defPPr algn="l">
              <a:defRPr sz="1800" b="1">
                <a:solidFill>
                  <a:srgbClr val="414141"/>
                </a:solidFill>
                <a:latin typeface="Arial"/>
                <a:ea typeface="Arial"/>
                <a:cs typeface="Arial"/>
              </a:defRPr>
            </a:defPPr>
          </a:lstStyle>
          <a:p>
            <a:pPr>
              <a:defRPr sz="1800" b="1">
                <a:solidFill>
                  <a:srgbClr val="414141"/>
                </a:solidFill>
                <a:latin typeface="Arial"/>
                <a:ea typeface="Arial"/>
                <a:cs typeface="Arial"/>
              </a:defRPr>
            </a:pPr>
            <a:r>
              <a:rPr lang="it-IT" b="1" dirty="0">
                <a:solidFill>
                  <a:srgbClr val="414141"/>
                </a:solidFill>
                <a:latin typeface="Arial"/>
                <a:ea typeface="Arial"/>
                <a:cs typeface="Arial"/>
              </a:rPr>
              <a:t>Vincolo del disegno</a:t>
            </a:r>
          </a:p>
        </p:txBody>
      </p:sp>
      <p:sp>
        <p:nvSpPr>
          <p:cNvPr id="14" name="Si misura la richiesta di esiti, non se siano stati confront">
            <a:extLst>
              <a:ext uri="{FF2B5EF4-FFF2-40B4-BE49-F238E27FC236}">
                <a16:creationId xmlns:a16="http://schemas.microsoft.com/office/drawing/2014/main" id="{FDAF3621-ED48-4E73-A6D8-EA27E782E2D1}"/>
              </a:ext>
            </a:extLst>
          </p:cNvPr>
          <p:cNvSpPr>
            <a:spLocks noGrp="1"/>
          </p:cNvSpPr>
          <p:nvPr/>
        </p:nvSpPr>
        <p:spPr>
          <a:xfrm>
            <a:off x="5076825" y="4060541"/>
            <a:ext cx="6372225" cy="552450"/>
          </a:xfrm>
          <a:prstGeom prst="rect">
            <a:avLst/>
          </a:prstGeom>
          <a:noFill/>
          <a:ln w="0">
            <a:noFill/>
          </a:ln>
        </p:spPr>
        <p:txBody>
          <a:bodyPr wrap="square" lIns="0" tIns="0" rIns="0" bIns="0" anchor="t">
            <a:noAutofit/>
          </a:bodyPr>
          <a:lstStyle>
            <a:defPPr algn="l">
              <a:defRPr sz="1725" b="0">
                <a:solidFill>
                  <a:srgbClr val="414141"/>
                </a:solidFill>
                <a:latin typeface="Arial"/>
                <a:ea typeface="Arial"/>
                <a:cs typeface="Arial"/>
              </a:defRPr>
            </a:defPPr>
          </a:lstStyle>
          <a:p>
            <a:pPr>
              <a:defRPr sz="1725" b="0">
                <a:solidFill>
                  <a:srgbClr val="414141"/>
                </a:solidFill>
                <a:latin typeface="Arial"/>
                <a:ea typeface="Arial"/>
                <a:cs typeface="Arial"/>
              </a:defRPr>
            </a:pPr>
            <a:r>
              <a:rPr lang="it-IT" sz="1725" dirty="0">
                <a:solidFill>
                  <a:srgbClr val="414141"/>
                </a:solidFill>
                <a:latin typeface="Arial"/>
                <a:ea typeface="Arial"/>
                <a:cs typeface="Arial"/>
              </a:rPr>
              <a:t>Solo roulette corrente e stesso dominio: nessuna scelta tra contesti.</a:t>
            </a:r>
          </a:p>
        </p:txBody>
      </p:sp>
      <p:sp>
        <p:nvSpPr>
          <p:cNvPr id="16" name="04">
            <a:extLst>
              <a:ext uri="{FF2B5EF4-FFF2-40B4-BE49-F238E27FC236}">
                <a16:creationId xmlns:a16="http://schemas.microsoft.com/office/drawing/2014/main" id="{009035B0-1062-4906-8D14-51E805AFFF80}"/>
              </a:ext>
            </a:extLst>
          </p:cNvPr>
          <p:cNvSpPr>
            <a:spLocks noGrp="1"/>
          </p:cNvSpPr>
          <p:nvPr/>
        </p:nvSpPr>
        <p:spPr>
          <a:xfrm>
            <a:off x="742950" y="4060541"/>
            <a:ext cx="419100" cy="333375"/>
          </a:xfrm>
          <a:prstGeom prst="rect">
            <a:avLst/>
          </a:prstGeom>
          <a:noFill/>
          <a:ln w="0">
            <a:noFill/>
          </a:ln>
        </p:spPr>
        <p:txBody>
          <a:bodyPr wrap="square" lIns="0" tIns="0" rIns="0" bIns="0" anchor="t">
            <a:noAutofit/>
          </a:bodyPr>
          <a:lstStyle>
            <a:defPPr algn="l">
              <a:defRPr sz="1875" b="1">
                <a:solidFill>
                  <a:srgbClr val="AA0004"/>
                </a:solidFill>
                <a:latin typeface="Arial"/>
                <a:ea typeface="Arial"/>
                <a:cs typeface="Arial"/>
              </a:defRPr>
            </a:defPPr>
          </a:lstStyle>
          <a:p>
            <a:pPr algn="l">
              <a:defRPr sz="1875" b="1">
                <a:solidFill>
                  <a:srgbClr val="AA0004"/>
                </a:solidFill>
                <a:latin typeface="Arial"/>
                <a:ea typeface="Arial"/>
                <a:cs typeface="Arial"/>
              </a:defRPr>
            </a:pPr>
            <a:r>
              <a:rPr sz="1875" b="1">
                <a:solidFill>
                  <a:srgbClr val="AA0004"/>
                </a:solidFill>
                <a:latin typeface="Arial"/>
                <a:ea typeface="Arial"/>
                <a:cs typeface="Arial"/>
              </a:rPr>
              <a:t>04</a:t>
            </a:r>
          </a:p>
        </p:txBody>
      </p:sp>
      <p:sp>
        <p:nvSpPr>
          <p:cNvPr id="19" name="Connettore diritto 18">
            <a:extLst>
              <a:ext uri="{FF2B5EF4-FFF2-40B4-BE49-F238E27FC236}">
                <a16:creationId xmlns:a16="http://schemas.microsoft.com/office/drawing/2014/main" id="{200EC09F-0B2E-4AAF-8CF8-0A1C344E2A68}"/>
              </a:ext>
            </a:extLst>
          </p:cNvPr>
          <p:cNvSpPr>
            <a:spLocks noGrp="1"/>
          </p:cNvSpPr>
          <p:nvPr/>
        </p:nvSpPr>
        <p:spPr>
          <a:xfrm>
            <a:off x="1373187" y="4751470"/>
            <a:ext cx="10086975" cy="0"/>
          </a:xfrm>
          <a:prstGeom prst="line">
            <a:avLst/>
          </a:prstGeom>
          <a:noFill/>
          <a:ln w="14288">
            <a:solidFill>
              <a:srgbClr val="C4C4C4"/>
            </a:solidFill>
            <a:prstDash val="solid"/>
          </a:ln>
        </p:spPr>
        <p:txBody>
          <a:bodyPr/>
          <a:lstStyle/>
          <a:p>
            <a:endParaRPr lang="it-IT"/>
          </a:p>
        </p:txBody>
      </p:sp>
      <p:sp>
        <p:nvSpPr>
          <p:cNvPr id="20" name="05">
            <a:extLst>
              <a:ext uri="{FF2B5EF4-FFF2-40B4-BE49-F238E27FC236}">
                <a16:creationId xmlns:a16="http://schemas.microsoft.com/office/drawing/2014/main" id="{7ED9A6B1-3189-481D-9684-C9B3C951F9A5}"/>
              </a:ext>
            </a:extLst>
          </p:cNvPr>
          <p:cNvSpPr>
            <a:spLocks noGrp="1"/>
          </p:cNvSpPr>
          <p:nvPr/>
        </p:nvSpPr>
        <p:spPr>
          <a:xfrm>
            <a:off x="742950" y="4867967"/>
            <a:ext cx="419100" cy="333375"/>
          </a:xfrm>
          <a:prstGeom prst="rect">
            <a:avLst/>
          </a:prstGeom>
          <a:noFill/>
          <a:ln w="0">
            <a:noFill/>
          </a:ln>
        </p:spPr>
        <p:txBody>
          <a:bodyPr wrap="square" lIns="0" tIns="0" rIns="0" bIns="0" anchor="t">
            <a:noAutofit/>
          </a:bodyPr>
          <a:lstStyle>
            <a:defPPr algn="l">
              <a:defRPr sz="1875" b="1">
                <a:solidFill>
                  <a:srgbClr val="AA0004"/>
                </a:solidFill>
                <a:latin typeface="Arial"/>
                <a:ea typeface="Arial"/>
                <a:cs typeface="Arial"/>
              </a:defRPr>
            </a:defPPr>
          </a:lstStyle>
          <a:p>
            <a:pPr algn="l">
              <a:defRPr sz="1875" b="1">
                <a:solidFill>
                  <a:srgbClr val="AA0004"/>
                </a:solidFill>
                <a:latin typeface="Arial"/>
                <a:ea typeface="Arial"/>
                <a:cs typeface="Arial"/>
              </a:defRPr>
            </a:pPr>
            <a:r>
              <a:rPr sz="1875" b="1">
                <a:solidFill>
                  <a:srgbClr val="AA0004"/>
                </a:solidFill>
                <a:latin typeface="Arial"/>
                <a:ea typeface="Arial"/>
                <a:cs typeface="Arial"/>
              </a:rPr>
              <a:t>05</a:t>
            </a:r>
          </a:p>
        </p:txBody>
      </p:sp>
      <p:sp>
        <p:nvSpPr>
          <p:cNvPr id="21" name="Rilevanza dello standard">
            <a:extLst>
              <a:ext uri="{FF2B5EF4-FFF2-40B4-BE49-F238E27FC236}">
                <a16:creationId xmlns:a16="http://schemas.microsoft.com/office/drawing/2014/main" id="{8633E384-CCBB-446F-A735-0F2E151DAE10}"/>
              </a:ext>
            </a:extLst>
          </p:cNvPr>
          <p:cNvSpPr>
            <a:spLocks noGrp="1"/>
          </p:cNvSpPr>
          <p:nvPr/>
        </p:nvSpPr>
        <p:spPr>
          <a:xfrm>
            <a:off x="1362075" y="4867967"/>
            <a:ext cx="3381375" cy="561975"/>
          </a:xfrm>
          <a:prstGeom prst="rect">
            <a:avLst/>
          </a:prstGeom>
          <a:noFill/>
          <a:ln w="0">
            <a:noFill/>
          </a:ln>
        </p:spPr>
        <p:txBody>
          <a:bodyPr wrap="square" lIns="0" tIns="0" rIns="0" bIns="0" anchor="t">
            <a:noAutofit/>
          </a:bodyPr>
          <a:lstStyle>
            <a:defPPr algn="l">
              <a:defRPr sz="1800" b="1">
                <a:solidFill>
                  <a:srgbClr val="414141"/>
                </a:solidFill>
                <a:latin typeface="Arial"/>
                <a:ea typeface="Arial"/>
                <a:cs typeface="Arial"/>
              </a:defRPr>
            </a:defPPr>
          </a:lstStyle>
          <a:p>
            <a:pPr>
              <a:defRPr sz="1800" b="1">
                <a:solidFill>
                  <a:srgbClr val="414141"/>
                </a:solidFill>
                <a:latin typeface="Arial"/>
                <a:ea typeface="Arial"/>
                <a:cs typeface="Arial"/>
              </a:defRPr>
            </a:pPr>
            <a:r>
              <a:rPr lang="it-IT" b="1" dirty="0">
                <a:solidFill>
                  <a:srgbClr val="414141"/>
                </a:solidFill>
                <a:latin typeface="Arial"/>
                <a:ea typeface="Arial"/>
                <a:cs typeface="Arial"/>
              </a:rPr>
              <a:t>Controllo non sociale assente</a:t>
            </a:r>
          </a:p>
        </p:txBody>
      </p:sp>
      <p:sp>
        <p:nvSpPr>
          <p:cNvPr id="22" name="Sconosciuti, un nome e un esito casuale: rilevanza personale">
            <a:extLst>
              <a:ext uri="{FF2B5EF4-FFF2-40B4-BE49-F238E27FC236}">
                <a16:creationId xmlns:a16="http://schemas.microsoft.com/office/drawing/2014/main" id="{5E41F450-5BE2-4512-935F-50290A193A59}"/>
              </a:ext>
            </a:extLst>
          </p:cNvPr>
          <p:cNvSpPr>
            <a:spLocks noGrp="1"/>
          </p:cNvSpPr>
          <p:nvPr/>
        </p:nvSpPr>
        <p:spPr>
          <a:xfrm>
            <a:off x="5076825" y="4867967"/>
            <a:ext cx="6372225" cy="552450"/>
          </a:xfrm>
          <a:prstGeom prst="rect">
            <a:avLst/>
          </a:prstGeom>
          <a:noFill/>
          <a:ln w="0">
            <a:noFill/>
          </a:ln>
        </p:spPr>
        <p:txBody>
          <a:bodyPr wrap="square" lIns="0" tIns="0" rIns="0" bIns="0" anchor="t">
            <a:noAutofit/>
          </a:bodyPr>
          <a:lstStyle>
            <a:defPPr algn="l">
              <a:defRPr sz="1725" b="0">
                <a:solidFill>
                  <a:srgbClr val="414141"/>
                </a:solidFill>
                <a:latin typeface="Arial"/>
                <a:ea typeface="Arial"/>
                <a:cs typeface="Arial"/>
              </a:defRPr>
            </a:defPPr>
          </a:lstStyle>
          <a:p>
            <a:pPr>
              <a:defRPr sz="1725" b="0">
                <a:solidFill>
                  <a:srgbClr val="414141"/>
                </a:solidFill>
                <a:latin typeface="Arial"/>
                <a:ea typeface="Arial"/>
                <a:cs typeface="Arial"/>
              </a:defRPr>
            </a:pPr>
            <a:r>
              <a:rPr lang="it-IT" sz="1725" dirty="0">
                <a:solidFill>
                  <a:srgbClr val="414141"/>
                </a:solidFill>
                <a:latin typeface="Arial"/>
                <a:ea typeface="Arial"/>
                <a:cs typeface="Arial"/>
              </a:rPr>
              <a:t>Manca un confronto con informazioni equivalenti da una fonte non sociale.</a:t>
            </a:r>
          </a:p>
        </p:txBody>
      </p:sp>
      <p:sp>
        <p:nvSpPr>
          <p:cNvPr id="23" name="Connettore diritto 22">
            <a:extLst>
              <a:ext uri="{FF2B5EF4-FFF2-40B4-BE49-F238E27FC236}">
                <a16:creationId xmlns:a16="http://schemas.microsoft.com/office/drawing/2014/main" id="{D5181579-71D0-CA2F-EFB5-FF28ADF5878B}"/>
              </a:ext>
            </a:extLst>
          </p:cNvPr>
          <p:cNvSpPr>
            <a:spLocks noGrp="1"/>
          </p:cNvSpPr>
          <p:nvPr/>
        </p:nvSpPr>
        <p:spPr>
          <a:xfrm>
            <a:off x="1373187" y="3934637"/>
            <a:ext cx="10086975" cy="0"/>
          </a:xfrm>
          <a:prstGeom prst="line">
            <a:avLst/>
          </a:prstGeom>
          <a:noFill/>
          <a:ln w="14288">
            <a:solidFill>
              <a:srgbClr val="C4C4C4"/>
            </a:solidFill>
            <a:prstDash val="solid"/>
          </a:ln>
        </p:spPr>
        <p:txBody>
          <a:bodyPr/>
          <a:lstStyle/>
          <a:p>
            <a:endParaRPr lang="it-IT"/>
          </a:p>
        </p:txBody>
      </p:sp>
    </p:spTree>
    <p:extLst>
      <p:ext uri="{BB962C8B-B14F-4D97-AF65-F5344CB8AC3E}">
        <p14:creationId xmlns:p14="http://schemas.microsoft.com/office/powerpoint/2010/main" val="803370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 name="Sezione">
            <a:extLst>
              <a:ext uri="{FF2B5EF4-FFF2-40B4-BE49-F238E27FC236}">
                <a16:creationId xmlns:a16="http://schemas.microsoft.com/office/drawing/2014/main" id="{E7CA2E5B-1E81-48D8-B299-9AC7EDA431E3}"/>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Conclusioni</a:t>
            </a:r>
          </a:p>
        </p:txBody>
      </p:sp>
      <p:sp>
        <p:nvSpPr>
          <p:cNvPr id="2" name="Titolo">
            <a:extLst>
              <a:ext uri="{FF2B5EF4-FFF2-40B4-BE49-F238E27FC236}">
                <a16:creationId xmlns:a16="http://schemas.microsoft.com/office/drawing/2014/main" id="{7EEFE198-2F60-453B-871F-A76C09218D75}"/>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Conclusioni e sviluppi futuri</a:t>
            </a:r>
          </a:p>
        </p:txBody>
      </p:sp>
      <p:sp>
        <p:nvSpPr>
          <p:cNvPr id="3" name="19">
            <a:extLst>
              <a:ext uri="{FF2B5EF4-FFF2-40B4-BE49-F238E27FC236}">
                <a16:creationId xmlns:a16="http://schemas.microsoft.com/office/drawing/2014/main" id="{DEFA5E3E-7AE6-40CE-BC7F-98DB49DBC926}"/>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17</a:t>
            </a:r>
            <a:endParaRPr sz="1425" b="0">
              <a:solidFill>
                <a:srgbClr val="707070"/>
              </a:solidFill>
              <a:latin typeface="Arial"/>
              <a:ea typeface="Arial"/>
              <a:cs typeface="Arial"/>
            </a:endParaRPr>
          </a:p>
        </p:txBody>
      </p:sp>
      <p:sp>
        <p:nvSpPr>
          <p:cNvPr id="4" name="Differenza tra domini non supportata&#10;nelle condizioni studia">
            <a:extLst>
              <a:ext uri="{FF2B5EF4-FFF2-40B4-BE49-F238E27FC236}">
                <a16:creationId xmlns:a16="http://schemas.microsoft.com/office/drawing/2014/main" id="{54870F67-04B5-489F-AFB9-7F3265C2BB4B}"/>
              </a:ext>
            </a:extLst>
          </p:cNvPr>
          <p:cNvSpPr>
            <a:spLocks noGrp="1"/>
          </p:cNvSpPr>
          <p:nvPr/>
        </p:nvSpPr>
        <p:spPr>
          <a:xfrm>
            <a:off x="742950" y="1809750"/>
            <a:ext cx="10706100" cy="971550"/>
          </a:xfrm>
          <a:prstGeom prst="rect">
            <a:avLst/>
          </a:prstGeom>
          <a:noFill/>
          <a:ln w="0">
            <a:noFill/>
          </a:ln>
        </p:spPr>
        <p:txBody>
          <a:bodyPr wrap="square" lIns="0" tIns="0" rIns="0" bIns="0" anchor="t">
            <a:noAutofit/>
          </a:bodyPr>
          <a:lstStyle>
            <a:defPPr algn="l">
              <a:defRPr sz="2925" b="1">
                <a:solidFill>
                  <a:srgbClr val="AA0004"/>
                </a:solidFill>
                <a:latin typeface="Arial"/>
                <a:ea typeface="Arial"/>
                <a:cs typeface="Arial"/>
              </a:defRPr>
            </a:defPPr>
          </a:lstStyle>
          <a:p>
            <a:pPr algn="l">
              <a:defRPr sz="2925" b="1">
                <a:solidFill>
                  <a:srgbClr val="AA0004"/>
                </a:solidFill>
                <a:latin typeface="Arial"/>
                <a:ea typeface="Arial"/>
                <a:cs typeface="Arial"/>
              </a:defRPr>
            </a:pPr>
            <a:r>
              <a:rPr sz="2925" b="1">
                <a:solidFill>
                  <a:srgbClr val="AA0004"/>
                </a:solidFill>
                <a:latin typeface="Arial"/>
                <a:ea typeface="Arial"/>
                <a:cs typeface="Arial"/>
              </a:rPr>
              <a:t>Differenza tra domini non supportata</a:t>
            </a:r>
          </a:p>
          <a:p>
            <a:pPr algn="l">
              <a:defRPr sz="2925" b="1">
                <a:solidFill>
                  <a:srgbClr val="AA0004"/>
                </a:solidFill>
                <a:latin typeface="Arial"/>
                <a:ea typeface="Arial"/>
                <a:cs typeface="Arial"/>
              </a:defRPr>
            </a:pPr>
            <a:r>
              <a:rPr sz="2925" b="1">
                <a:solidFill>
                  <a:srgbClr val="AA0004"/>
                </a:solidFill>
                <a:latin typeface="Arial"/>
                <a:ea typeface="Arial"/>
                <a:cs typeface="Arial"/>
              </a:rPr>
              <a:t>nelle condizioni studiate</a:t>
            </a:r>
          </a:p>
        </p:txBody>
      </p:sp>
      <p:sp>
        <p:nvSpPr>
          <p:cNvPr id="5" name="La felicità differiva tra i blocchi">
            <a:extLst>
              <a:ext uri="{FF2B5EF4-FFF2-40B4-BE49-F238E27FC236}">
                <a16:creationId xmlns:a16="http://schemas.microsoft.com/office/drawing/2014/main" id="{69B9578F-F413-4596-982D-ECB0553782C8}"/>
              </a:ext>
            </a:extLst>
          </p:cNvPr>
          <p:cNvSpPr>
            <a:spLocks noGrp="1"/>
          </p:cNvSpPr>
          <p:nvPr/>
        </p:nvSpPr>
        <p:spPr>
          <a:xfrm>
            <a:off x="742950" y="3161240"/>
            <a:ext cx="10706100" cy="409575"/>
          </a:xfrm>
          <a:prstGeom prst="rect">
            <a:avLst/>
          </a:prstGeom>
          <a:noFill/>
          <a:ln w="0">
            <a:noFill/>
          </a:ln>
        </p:spPr>
        <p:txBody>
          <a:bodyPr wrap="square" lIns="0" tIns="0" rIns="0" bIns="0" anchor="t">
            <a:noAutofit/>
          </a:bodyPr>
          <a:lstStyle>
            <a:defPPr algn="l">
              <a:defRPr sz="2175" b="0">
                <a:solidFill>
                  <a:srgbClr val="414141"/>
                </a:solidFill>
                <a:latin typeface="Arial"/>
                <a:ea typeface="Arial"/>
                <a:cs typeface="Arial"/>
              </a:defRPr>
            </a:defPPr>
          </a:lstStyle>
          <a:p>
            <a:pPr algn="l">
              <a:defRPr sz="2175" b="0">
                <a:solidFill>
                  <a:srgbClr val="414141"/>
                </a:solidFill>
                <a:latin typeface="Arial"/>
                <a:ea typeface="Arial"/>
                <a:cs typeface="Arial"/>
              </a:defRPr>
            </a:pPr>
            <a:r>
              <a:rPr lang="it-IT" sz="2175" b="1" dirty="0">
                <a:solidFill>
                  <a:srgbClr val="414141"/>
                </a:solidFill>
                <a:latin typeface="Arial"/>
                <a:ea typeface="Arial"/>
                <a:cs typeface="Arial"/>
              </a:rPr>
              <a:t>Possibili direzioni future:</a:t>
            </a:r>
            <a:endParaRPr sz="2175" b="1" dirty="0">
              <a:solidFill>
                <a:srgbClr val="414141"/>
              </a:solidFill>
              <a:latin typeface="Arial"/>
              <a:ea typeface="Arial"/>
              <a:cs typeface="Arial"/>
            </a:endParaRPr>
          </a:p>
        </p:txBody>
      </p:sp>
      <p:sp>
        <p:nvSpPr>
          <p:cNvPr id="6" name="Connettore diritto 5">
            <a:extLst>
              <a:ext uri="{FF2B5EF4-FFF2-40B4-BE49-F238E27FC236}">
                <a16:creationId xmlns:a16="http://schemas.microsoft.com/office/drawing/2014/main" id="{BD9E7FED-EFF1-4F22-8367-D2DB6A1953B8}"/>
              </a:ext>
            </a:extLst>
          </p:cNvPr>
          <p:cNvSpPr>
            <a:spLocks noGrp="1"/>
          </p:cNvSpPr>
          <p:nvPr/>
        </p:nvSpPr>
        <p:spPr>
          <a:xfrm>
            <a:off x="742950" y="3638550"/>
            <a:ext cx="10706100" cy="0"/>
          </a:xfrm>
          <a:prstGeom prst="line">
            <a:avLst/>
          </a:prstGeom>
          <a:noFill/>
          <a:ln w="14288">
            <a:solidFill>
              <a:srgbClr val="C4C4C4"/>
            </a:solidFill>
            <a:prstDash val="solid"/>
          </a:ln>
        </p:spPr>
        <p:txBody>
          <a:bodyPr/>
          <a:lstStyle/>
          <a:p>
            <a:endParaRPr lang="it-IT"/>
          </a:p>
        </p:txBody>
      </p:sp>
      <p:sp>
        <p:nvSpPr>
          <p:cNvPr id="7" name="Stessa domanda">
            <a:extLst>
              <a:ext uri="{FF2B5EF4-FFF2-40B4-BE49-F238E27FC236}">
                <a16:creationId xmlns:a16="http://schemas.microsoft.com/office/drawing/2014/main" id="{0CDC2A0A-3F47-4E1C-89DF-B221B5D35B17}"/>
              </a:ext>
            </a:extLst>
          </p:cNvPr>
          <p:cNvSpPr>
            <a:spLocks noGrp="1"/>
          </p:cNvSpPr>
          <p:nvPr/>
        </p:nvSpPr>
        <p:spPr>
          <a:xfrm>
            <a:off x="742950" y="3952875"/>
            <a:ext cx="5019675" cy="400050"/>
          </a:xfrm>
          <a:prstGeom prst="rect">
            <a:avLst/>
          </a:prstGeom>
          <a:noFill/>
          <a:ln w="0">
            <a:noFill/>
          </a:ln>
        </p:spPr>
        <p:txBody>
          <a:bodyPr wrap="square" lIns="0" tIns="0" rIns="0" bIns="0" anchor="t">
            <a:noAutofit/>
          </a:bodyPr>
          <a:lstStyle>
            <a:defPPr algn="l">
              <a:defRPr sz="2250" b="1">
                <a:solidFill>
                  <a:srgbClr val="414141"/>
                </a:solidFill>
                <a:latin typeface="Arial"/>
                <a:ea typeface="Arial"/>
                <a:cs typeface="Arial"/>
              </a:defRPr>
            </a:defPPr>
          </a:lstStyle>
          <a:p>
            <a:pPr algn="l">
              <a:defRPr sz="2250" b="1">
                <a:solidFill>
                  <a:srgbClr val="414141"/>
                </a:solidFill>
                <a:latin typeface="Arial"/>
                <a:ea typeface="Arial"/>
                <a:cs typeface="Arial"/>
              </a:defRPr>
            </a:pPr>
            <a:r>
              <a:rPr sz="2250" b="1" dirty="0" err="1">
                <a:solidFill>
                  <a:srgbClr val="414141"/>
                </a:solidFill>
                <a:latin typeface="Arial"/>
                <a:ea typeface="Arial"/>
                <a:cs typeface="Arial"/>
              </a:rPr>
              <a:t>Stessa</a:t>
            </a:r>
            <a:r>
              <a:rPr sz="2250" b="1" dirty="0">
                <a:solidFill>
                  <a:srgbClr val="414141"/>
                </a:solidFill>
                <a:latin typeface="Arial"/>
                <a:ea typeface="Arial"/>
                <a:cs typeface="Arial"/>
              </a:rPr>
              <a:t> </a:t>
            </a:r>
            <a:r>
              <a:rPr sz="2250" b="1" dirty="0" err="1">
                <a:solidFill>
                  <a:srgbClr val="414141"/>
                </a:solidFill>
                <a:latin typeface="Arial"/>
                <a:ea typeface="Arial"/>
                <a:cs typeface="Arial"/>
              </a:rPr>
              <a:t>domanda</a:t>
            </a:r>
            <a:endParaRPr sz="2250" b="1" dirty="0">
              <a:solidFill>
                <a:srgbClr val="414141"/>
              </a:solidFill>
              <a:latin typeface="Arial"/>
              <a:ea typeface="Arial"/>
              <a:cs typeface="Arial"/>
            </a:endParaRPr>
          </a:p>
        </p:txBody>
      </p:sp>
      <p:sp>
        <p:nvSpPr>
          <p:cNvPr id="8" name="Standard più personalizzati&#10;e rilevanti per il sé&#10;&#10;Maggiore ">
            <a:extLst>
              <a:ext uri="{FF2B5EF4-FFF2-40B4-BE49-F238E27FC236}">
                <a16:creationId xmlns:a16="http://schemas.microsoft.com/office/drawing/2014/main" id="{A443107E-62B2-4E63-9BA8-5D20942EEA51}"/>
              </a:ext>
            </a:extLst>
          </p:cNvPr>
          <p:cNvSpPr>
            <a:spLocks noGrp="1"/>
          </p:cNvSpPr>
          <p:nvPr/>
        </p:nvSpPr>
        <p:spPr>
          <a:xfrm>
            <a:off x="742950" y="4514851"/>
            <a:ext cx="5019675" cy="1590796"/>
          </a:xfrm>
          <a:prstGeom prst="rect">
            <a:avLst/>
          </a:prstGeom>
          <a:noFill/>
          <a:ln w="0">
            <a:noFill/>
          </a:ln>
        </p:spPr>
        <p:txBody>
          <a:bodyPr wrap="square" lIns="0" tIns="0" rIns="0" bIns="0" anchor="t">
            <a:noAutofit/>
          </a:bodyPr>
          <a:lstStyle>
            <a:defPPr algn="l">
              <a:defRPr sz="2025" b="0">
                <a:solidFill>
                  <a:srgbClr val="414141"/>
                </a:solidFill>
                <a:latin typeface="Arial"/>
                <a:ea typeface="Arial"/>
                <a:cs typeface="Arial"/>
              </a:defRPr>
            </a:defPPr>
          </a:lstStyle>
          <a:p>
            <a:pPr algn="l">
              <a:defRPr sz="2025" b="0">
                <a:solidFill>
                  <a:srgbClr val="414141"/>
                </a:solidFill>
                <a:latin typeface="Arial"/>
                <a:ea typeface="Arial"/>
                <a:cs typeface="Arial"/>
              </a:defRPr>
            </a:pPr>
            <a:r>
              <a:rPr lang="it-IT" sz="2025" b="0" dirty="0">
                <a:solidFill>
                  <a:srgbClr val="414141"/>
                </a:solidFill>
                <a:latin typeface="Arial"/>
                <a:ea typeface="Arial"/>
                <a:cs typeface="Arial"/>
              </a:rPr>
              <a:t>Affrontare i limiti del disegno</a:t>
            </a:r>
            <a:endParaRPr lang="it-IT" sz="2025" b="0" dirty="0"/>
          </a:p>
          <a:p>
            <a:pPr algn="l">
              <a:defRPr sz="2025" b="0">
                <a:solidFill>
                  <a:srgbClr val="414141"/>
                </a:solidFill>
                <a:latin typeface="Arial"/>
                <a:ea typeface="Arial"/>
                <a:cs typeface="Arial"/>
              </a:defRPr>
            </a:pPr>
            <a:r>
              <a:rPr lang="it-IT" sz="2025" b="0" dirty="0">
                <a:solidFill>
                  <a:srgbClr val="414141"/>
                </a:solidFill>
                <a:latin typeface="Arial"/>
                <a:ea typeface="Arial"/>
                <a:cs typeface="Arial"/>
              </a:rPr>
              <a:t>e approfondire il fondamento teorico.</a:t>
            </a:r>
            <a:endParaRPr lang="it-IT" sz="2025" b="0" dirty="0"/>
          </a:p>
        </p:txBody>
      </p:sp>
      <p:sp>
        <p:nvSpPr>
          <p:cNvPr id="9" name="Connettore diritto 8">
            <a:extLst>
              <a:ext uri="{FF2B5EF4-FFF2-40B4-BE49-F238E27FC236}">
                <a16:creationId xmlns:a16="http://schemas.microsoft.com/office/drawing/2014/main" id="{8D556CD6-4A4B-4E5F-83D0-39374A9D38B5}"/>
              </a:ext>
            </a:extLst>
          </p:cNvPr>
          <p:cNvSpPr>
            <a:spLocks noGrp="1"/>
          </p:cNvSpPr>
          <p:nvPr/>
        </p:nvSpPr>
        <p:spPr>
          <a:xfrm>
            <a:off x="6096000" y="3981450"/>
            <a:ext cx="0" cy="2047875"/>
          </a:xfrm>
          <a:prstGeom prst="line">
            <a:avLst/>
          </a:prstGeom>
          <a:noFill/>
          <a:ln w="14288">
            <a:solidFill>
              <a:srgbClr val="C4C4C4"/>
            </a:solidFill>
            <a:prstDash val="solid"/>
          </a:ln>
        </p:spPr>
        <p:txBody>
          <a:bodyPr/>
          <a:lstStyle/>
          <a:p>
            <a:endParaRPr lang="it-IT"/>
          </a:p>
        </p:txBody>
      </p:sp>
      <p:sp>
        <p:nvSpPr>
          <p:cNvPr id="10" name="Altre domande">
            <a:extLst>
              <a:ext uri="{FF2B5EF4-FFF2-40B4-BE49-F238E27FC236}">
                <a16:creationId xmlns:a16="http://schemas.microsoft.com/office/drawing/2014/main" id="{3A209900-F5FB-4D42-B7C5-CCA7DB33B590}"/>
              </a:ext>
            </a:extLst>
          </p:cNvPr>
          <p:cNvSpPr>
            <a:spLocks noGrp="1"/>
          </p:cNvSpPr>
          <p:nvPr/>
        </p:nvSpPr>
        <p:spPr>
          <a:xfrm>
            <a:off x="6572250" y="3952875"/>
            <a:ext cx="4876800" cy="400050"/>
          </a:xfrm>
          <a:prstGeom prst="rect">
            <a:avLst/>
          </a:prstGeom>
          <a:noFill/>
          <a:ln w="0">
            <a:noFill/>
          </a:ln>
        </p:spPr>
        <p:txBody>
          <a:bodyPr wrap="square" lIns="0" tIns="0" rIns="0" bIns="0" anchor="t">
            <a:noAutofit/>
          </a:bodyPr>
          <a:lstStyle>
            <a:defPPr algn="l">
              <a:defRPr sz="2250" b="1">
                <a:solidFill>
                  <a:srgbClr val="414141"/>
                </a:solidFill>
                <a:latin typeface="Arial"/>
                <a:ea typeface="Arial"/>
                <a:cs typeface="Arial"/>
              </a:defRPr>
            </a:defPPr>
          </a:lstStyle>
          <a:p>
            <a:pPr algn="l">
              <a:defRPr sz="2250" b="1">
                <a:solidFill>
                  <a:srgbClr val="414141"/>
                </a:solidFill>
                <a:latin typeface="Arial"/>
                <a:ea typeface="Arial"/>
                <a:cs typeface="Arial"/>
              </a:defRPr>
            </a:pPr>
            <a:r>
              <a:rPr sz="2250" b="1">
                <a:solidFill>
                  <a:srgbClr val="414141"/>
                </a:solidFill>
                <a:latin typeface="Arial"/>
                <a:ea typeface="Arial"/>
                <a:cs typeface="Arial"/>
              </a:rPr>
              <a:t>Altre domande</a:t>
            </a:r>
          </a:p>
        </p:txBody>
      </p:sp>
      <p:sp>
        <p:nvSpPr>
          <p:cNvPr id="11" name="Il dominio riguarda altre&#10;componenti del confronto sociale,&#10;">
            <a:extLst>
              <a:ext uri="{FF2B5EF4-FFF2-40B4-BE49-F238E27FC236}">
                <a16:creationId xmlns:a16="http://schemas.microsoft.com/office/drawing/2014/main" id="{BDF50F86-9F63-4010-B7C0-FDD3DBAFF8F7}"/>
              </a:ext>
            </a:extLst>
          </p:cNvPr>
          <p:cNvSpPr>
            <a:spLocks noGrp="1"/>
          </p:cNvSpPr>
          <p:nvPr/>
        </p:nvSpPr>
        <p:spPr>
          <a:xfrm>
            <a:off x="6572250" y="4514850"/>
            <a:ext cx="4876800" cy="1266825"/>
          </a:xfrm>
          <a:prstGeom prst="rect">
            <a:avLst/>
          </a:prstGeom>
          <a:noFill/>
          <a:ln w="0">
            <a:noFill/>
          </a:ln>
        </p:spPr>
        <p:txBody>
          <a:bodyPr wrap="square" lIns="0" tIns="0" rIns="0" bIns="0" anchor="t">
            <a:noAutofit/>
          </a:bodyPr>
          <a:lstStyle>
            <a:defPPr algn="l">
              <a:defRPr sz="2175" b="0">
                <a:solidFill>
                  <a:srgbClr val="414141"/>
                </a:solidFill>
                <a:latin typeface="Arial"/>
                <a:ea typeface="Arial"/>
                <a:cs typeface="Arial"/>
              </a:defRPr>
            </a:defPPr>
          </a:lstStyle>
          <a:p>
            <a:pPr algn="l">
              <a:defRPr sz="2175" b="0">
                <a:solidFill>
                  <a:srgbClr val="414141"/>
                </a:solidFill>
                <a:latin typeface="Arial"/>
                <a:ea typeface="Arial"/>
                <a:cs typeface="Arial"/>
              </a:defRPr>
            </a:pPr>
            <a:r>
              <a:rPr sz="2175" b="0" dirty="0">
                <a:solidFill>
                  <a:srgbClr val="414141"/>
                </a:solidFill>
                <a:latin typeface="Arial"/>
                <a:ea typeface="Arial"/>
                <a:cs typeface="Arial"/>
              </a:rPr>
              <a:t>Il dominio influenza anche</a:t>
            </a:r>
            <a:endParaRPr sz="2175" b="0" dirty="0"/>
          </a:p>
          <a:p>
            <a:pPr algn="l">
              <a:defRPr sz="2175" b="0">
                <a:solidFill>
                  <a:srgbClr val="414141"/>
                </a:solidFill>
                <a:latin typeface="Arial"/>
                <a:ea typeface="Arial"/>
                <a:cs typeface="Arial"/>
              </a:defRPr>
            </a:pPr>
            <a:r>
              <a:rPr sz="2175" b="0" dirty="0">
                <a:solidFill>
                  <a:srgbClr val="414141"/>
                </a:solidFill>
                <a:latin typeface="Arial"/>
                <a:ea typeface="Arial"/>
                <a:cs typeface="Arial"/>
              </a:rPr>
              <a:t>le altre componenti del</a:t>
            </a:r>
            <a:endParaRPr sz="2175" b="0" dirty="0"/>
          </a:p>
          <a:p>
            <a:pPr algn="l">
              <a:defRPr sz="2175" b="0">
                <a:solidFill>
                  <a:srgbClr val="414141"/>
                </a:solidFill>
                <a:latin typeface="Arial"/>
                <a:ea typeface="Arial"/>
                <a:cs typeface="Arial"/>
              </a:defRPr>
            </a:pPr>
            <a:r>
              <a:rPr sz="2175" b="0" dirty="0">
                <a:solidFill>
                  <a:srgbClr val="414141"/>
                </a:solidFill>
                <a:latin typeface="Arial"/>
                <a:ea typeface="Arial"/>
                <a:cs typeface="Arial"/>
              </a:rPr>
              <a:t>confronto sociale?</a:t>
            </a:r>
            <a:endParaRPr sz="2175" b="0" dirty="0"/>
          </a:p>
        </p:txBody>
      </p:sp>
    </p:spTree>
    <p:extLst>
      <p:ext uri="{BB962C8B-B14F-4D97-AF65-F5344CB8AC3E}">
        <p14:creationId xmlns:p14="http://schemas.microsoft.com/office/powerpoint/2010/main" val="1074365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Sezione">
            <a:extLst>
              <a:ext uri="{FF2B5EF4-FFF2-40B4-BE49-F238E27FC236}">
                <a16:creationId xmlns:a16="http://schemas.microsoft.com/office/drawing/2014/main" id="{143CE1B3-5F41-4913-936C-6AB6FEC42A97}"/>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Riferimenti</a:t>
            </a:r>
          </a:p>
        </p:txBody>
      </p:sp>
      <p:sp>
        <p:nvSpPr>
          <p:cNvPr id="2" name="Titolo">
            <a:extLst>
              <a:ext uri="{FF2B5EF4-FFF2-40B4-BE49-F238E27FC236}">
                <a16:creationId xmlns:a16="http://schemas.microsoft.com/office/drawing/2014/main" id="{69600E01-C819-45A2-811C-85CCC3F189F8}"/>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Bibliografia · 1 / 2</a:t>
            </a:r>
          </a:p>
        </p:txBody>
      </p:sp>
      <p:sp>
        <p:nvSpPr>
          <p:cNvPr id="3" name="20">
            <a:extLst>
              <a:ext uri="{FF2B5EF4-FFF2-40B4-BE49-F238E27FC236}">
                <a16:creationId xmlns:a16="http://schemas.microsoft.com/office/drawing/2014/main" id="{F0BD42A5-335A-43F5-BDDC-6C0CFFFED1EE}"/>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18</a:t>
            </a:r>
            <a:endParaRPr sz="1425" b="0">
              <a:solidFill>
                <a:srgbClr val="707070"/>
              </a:solidFill>
              <a:latin typeface="Arial"/>
              <a:ea typeface="Arial"/>
              <a:cs typeface="Arial"/>
            </a:endParaRPr>
          </a:p>
        </p:txBody>
      </p:sp>
      <p:sp>
        <p:nvSpPr>
          <p:cNvPr id="100" name="Reference 1">
            <a:extLst>
              <a:ext uri="{FF2B5EF4-FFF2-40B4-BE49-F238E27FC236}">
                <a16:creationId xmlns:a16="http://schemas.microsoft.com/office/drawing/2014/main" id="{BF700620-9076-45A1-9E18-51D392DD99ED}"/>
              </a:ext>
            </a:extLst>
          </p:cNvPr>
          <p:cNvSpPr>
            <a:spLocks noGrp="1"/>
          </p:cNvSpPr>
          <p:nvPr/>
        </p:nvSpPr>
        <p:spPr>
          <a:xfrm>
            <a:off x="742950" y="175260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Gerber, J. P., Wheeler, L., &amp; Suls, J. (2018). A social comparison theory meta-analysis 60+ years on. Psychological Bulletin, 144(2), 177–197.</a:t>
            </a:r>
          </a:p>
        </p:txBody>
      </p:sp>
      <p:sp>
        <p:nvSpPr>
          <p:cNvPr id="101" name="Reference 2">
            <a:extLst>
              <a:ext uri="{FF2B5EF4-FFF2-40B4-BE49-F238E27FC236}">
                <a16:creationId xmlns:a16="http://schemas.microsoft.com/office/drawing/2014/main" id="{8A39F103-0B84-438D-AA74-ACA9AE92F3AE}"/>
              </a:ext>
            </a:extLst>
          </p:cNvPr>
          <p:cNvSpPr>
            <a:spLocks noGrp="1"/>
          </p:cNvSpPr>
          <p:nvPr/>
        </p:nvSpPr>
        <p:spPr>
          <a:xfrm>
            <a:off x="742950" y="238125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Hein, G., Silani, G., Preuschoff, K., Batson, C. D., &amp; Singer, T. (2010). Neural responses to ingroup and outgroup members’ suffering predict individual differences in costly helping. Neuron, 68(1), 149–160.</a:t>
            </a:r>
          </a:p>
        </p:txBody>
      </p:sp>
      <p:sp>
        <p:nvSpPr>
          <p:cNvPr id="102" name="Reference 3">
            <a:extLst>
              <a:ext uri="{FF2B5EF4-FFF2-40B4-BE49-F238E27FC236}">
                <a16:creationId xmlns:a16="http://schemas.microsoft.com/office/drawing/2014/main" id="{EA6C9B88-4090-4162-AD8B-2FEE2A2FB014}"/>
              </a:ext>
            </a:extLst>
          </p:cNvPr>
          <p:cNvSpPr>
            <a:spLocks noGrp="1"/>
          </p:cNvSpPr>
          <p:nvPr/>
        </p:nvSpPr>
        <p:spPr>
          <a:xfrm>
            <a:off x="742950" y="300990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Kahneman, D., &amp; Tversky, A. (1979). Prospect theory: An analysis of decision under risk. Econometrica, 47(2), 263–291.</a:t>
            </a:r>
          </a:p>
        </p:txBody>
      </p:sp>
      <p:sp>
        <p:nvSpPr>
          <p:cNvPr id="103" name="Reference 4">
            <a:extLst>
              <a:ext uri="{FF2B5EF4-FFF2-40B4-BE49-F238E27FC236}">
                <a16:creationId xmlns:a16="http://schemas.microsoft.com/office/drawing/2014/main" id="{C8C37088-CCAF-4320-B7CB-B2C4941F1B30}"/>
              </a:ext>
            </a:extLst>
          </p:cNvPr>
          <p:cNvSpPr>
            <a:spLocks noGrp="1"/>
          </p:cNvSpPr>
          <p:nvPr/>
        </p:nvSpPr>
        <p:spPr>
          <a:xfrm>
            <a:off x="742950" y="363855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Möller, J. (2016). The generalized internal/external frame of reference model: An extension to dimensional comparison theory. Frontline Learning Research, 4, 1–11.</a:t>
            </a:r>
          </a:p>
        </p:txBody>
      </p:sp>
      <p:sp>
        <p:nvSpPr>
          <p:cNvPr id="104" name="Reference 5">
            <a:extLst>
              <a:ext uri="{FF2B5EF4-FFF2-40B4-BE49-F238E27FC236}">
                <a16:creationId xmlns:a16="http://schemas.microsoft.com/office/drawing/2014/main" id="{EDA76DAC-4007-4F02-BF75-56507D8BE031}"/>
              </a:ext>
            </a:extLst>
          </p:cNvPr>
          <p:cNvSpPr>
            <a:spLocks noGrp="1"/>
          </p:cNvSpPr>
          <p:nvPr/>
        </p:nvSpPr>
        <p:spPr>
          <a:xfrm>
            <a:off x="742950" y="426720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Mussweiler, T. (2003). Comparison processes in social judgment: Mechanisms and consequences. Psychological Review, 110(3), 472–489.</a:t>
            </a:r>
          </a:p>
        </p:txBody>
      </p:sp>
      <p:sp>
        <p:nvSpPr>
          <p:cNvPr id="105" name="Reference 6">
            <a:extLst>
              <a:ext uri="{FF2B5EF4-FFF2-40B4-BE49-F238E27FC236}">
                <a16:creationId xmlns:a16="http://schemas.microsoft.com/office/drawing/2014/main" id="{2B3809AB-A117-450F-B88D-4995CF7460AB}"/>
              </a:ext>
            </a:extLst>
          </p:cNvPr>
          <p:cNvSpPr>
            <a:spLocks noGrp="1"/>
          </p:cNvSpPr>
          <p:nvPr/>
        </p:nvSpPr>
        <p:spPr>
          <a:xfrm>
            <a:off x="742950" y="489585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Nabi, R. L., Walter, N., Oshidary, N., Endacott, C. G., Love-Nichols, J., Lew, Z. J., &amp; Aune, A. (2020). Can emotions capture the elusive gain-loss framing effect? A meta-analysis. Communication Research, 47(8), 1107–1130.</a:t>
            </a:r>
          </a:p>
        </p:txBody>
      </p:sp>
      <p:sp>
        <p:nvSpPr>
          <p:cNvPr id="106" name="Reference 7">
            <a:extLst>
              <a:ext uri="{FF2B5EF4-FFF2-40B4-BE49-F238E27FC236}">
                <a16:creationId xmlns:a16="http://schemas.microsoft.com/office/drawing/2014/main" id="{6035A5BF-C5AF-404F-B4A3-7DC3EB59504E}"/>
              </a:ext>
            </a:extLst>
          </p:cNvPr>
          <p:cNvSpPr>
            <a:spLocks noGrp="1"/>
          </p:cNvSpPr>
          <p:nvPr/>
        </p:nvSpPr>
        <p:spPr>
          <a:xfrm>
            <a:off x="742950" y="552450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Postmes, T., Haslam, S. A., &amp; Jans, L. (2013). A single-item measure of social identification: Reliability, validity, and utility. British Journal of Social Psychology, 52(4), 597–617.</a:t>
            </a:r>
          </a:p>
        </p:txBody>
      </p:sp>
    </p:spTree>
    <p:extLst>
      <p:ext uri="{BB962C8B-B14F-4D97-AF65-F5344CB8AC3E}">
        <p14:creationId xmlns:p14="http://schemas.microsoft.com/office/powerpoint/2010/main" val="1858970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Sezione">
            <a:extLst>
              <a:ext uri="{FF2B5EF4-FFF2-40B4-BE49-F238E27FC236}">
                <a16:creationId xmlns:a16="http://schemas.microsoft.com/office/drawing/2014/main" id="{F09EDDA5-AB7A-44E4-BC42-B9E215FB2492}"/>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Riferimenti</a:t>
            </a:r>
          </a:p>
        </p:txBody>
      </p:sp>
      <p:sp>
        <p:nvSpPr>
          <p:cNvPr id="2" name="Titolo">
            <a:extLst>
              <a:ext uri="{FF2B5EF4-FFF2-40B4-BE49-F238E27FC236}">
                <a16:creationId xmlns:a16="http://schemas.microsoft.com/office/drawing/2014/main" id="{4F247CF8-5AAB-42E0-B71A-0AAB7129A7C1}"/>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Bibliografia · 2 / 2</a:t>
            </a:r>
          </a:p>
        </p:txBody>
      </p:sp>
      <p:sp>
        <p:nvSpPr>
          <p:cNvPr id="3" name="21">
            <a:extLst>
              <a:ext uri="{FF2B5EF4-FFF2-40B4-BE49-F238E27FC236}">
                <a16:creationId xmlns:a16="http://schemas.microsoft.com/office/drawing/2014/main" id="{41FC9AFF-DB50-491F-9990-D413FA88ACFE}"/>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19</a:t>
            </a:r>
            <a:endParaRPr sz="1425" b="0">
              <a:solidFill>
                <a:srgbClr val="707070"/>
              </a:solidFill>
              <a:latin typeface="Arial"/>
              <a:ea typeface="Arial"/>
              <a:cs typeface="Arial"/>
            </a:endParaRPr>
          </a:p>
        </p:txBody>
      </p:sp>
      <p:sp>
        <p:nvSpPr>
          <p:cNvPr id="100" name="Reference 1">
            <a:extLst>
              <a:ext uri="{FF2B5EF4-FFF2-40B4-BE49-F238E27FC236}">
                <a16:creationId xmlns:a16="http://schemas.microsoft.com/office/drawing/2014/main" id="{A51F9C8A-4B4F-42B7-9ACE-69EEE8737028}"/>
              </a:ext>
            </a:extLst>
          </p:cNvPr>
          <p:cNvSpPr>
            <a:spLocks noGrp="1"/>
          </p:cNvSpPr>
          <p:nvPr/>
        </p:nvSpPr>
        <p:spPr>
          <a:xfrm>
            <a:off x="742950" y="175260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Pyszczynski, T., Greenberg, J., &amp; LaPrelle, J. (1985). Social comparison after success and failure: Biased search for information consistent with a self-serving conclusion. Journal of Experimental Social Psychology, 21(2), 195–211.</a:t>
            </a:r>
          </a:p>
        </p:txBody>
      </p:sp>
      <p:sp>
        <p:nvSpPr>
          <p:cNvPr id="101" name="Reference 2">
            <a:extLst>
              <a:ext uri="{FF2B5EF4-FFF2-40B4-BE49-F238E27FC236}">
                <a16:creationId xmlns:a16="http://schemas.microsoft.com/office/drawing/2014/main" id="{D5720466-17E0-4928-BF59-425AE98ADBAA}"/>
              </a:ext>
            </a:extLst>
          </p:cNvPr>
          <p:cNvSpPr>
            <a:spLocks noGrp="1"/>
          </p:cNvSpPr>
          <p:nvPr/>
        </p:nvSpPr>
        <p:spPr>
          <a:xfrm>
            <a:off x="742950" y="238125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Rutledge, R. B., de Berker, A. O., Espenhahn, S., Dayan, P., &amp; Dolan, R. J. (2016). The social contingency of momentary subjective well-being. Nature Communications, 7(1), 11825.</a:t>
            </a:r>
          </a:p>
        </p:txBody>
      </p:sp>
      <p:sp>
        <p:nvSpPr>
          <p:cNvPr id="102" name="Reference 3">
            <a:extLst>
              <a:ext uri="{FF2B5EF4-FFF2-40B4-BE49-F238E27FC236}">
                <a16:creationId xmlns:a16="http://schemas.microsoft.com/office/drawing/2014/main" id="{E79D6C76-0844-4BE7-986D-5AA1D1071D49}"/>
              </a:ext>
            </a:extLst>
          </p:cNvPr>
          <p:cNvSpPr>
            <a:spLocks noGrp="1"/>
          </p:cNvSpPr>
          <p:nvPr/>
        </p:nvSpPr>
        <p:spPr>
          <a:xfrm>
            <a:off x="742950" y="300990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Singer, T., &amp; Klimecki, O. M. (2014). Empathy and compassion. Current Biology, 24(18), R875–R878.</a:t>
            </a:r>
          </a:p>
        </p:txBody>
      </p:sp>
      <p:sp>
        <p:nvSpPr>
          <p:cNvPr id="103" name="Reference 4">
            <a:extLst>
              <a:ext uri="{FF2B5EF4-FFF2-40B4-BE49-F238E27FC236}">
                <a16:creationId xmlns:a16="http://schemas.microsoft.com/office/drawing/2014/main" id="{DCEB4F79-5049-42BD-AE47-37675BD55A29}"/>
              </a:ext>
            </a:extLst>
          </p:cNvPr>
          <p:cNvSpPr>
            <a:spLocks noGrp="1"/>
          </p:cNvSpPr>
          <p:nvPr/>
        </p:nvSpPr>
        <p:spPr>
          <a:xfrm>
            <a:off x="742950" y="363855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van Lieshout, L. L. F., de Lange, F. P., &amp; Cools, R. (2021). Uncertainty increases curiosity, but decreases happiness. Scientific Reports, 11, 14014.</a:t>
            </a:r>
          </a:p>
        </p:txBody>
      </p:sp>
      <p:sp>
        <p:nvSpPr>
          <p:cNvPr id="104" name="Reference 5">
            <a:extLst>
              <a:ext uri="{FF2B5EF4-FFF2-40B4-BE49-F238E27FC236}">
                <a16:creationId xmlns:a16="http://schemas.microsoft.com/office/drawing/2014/main" id="{EA6E535E-57E9-447B-984B-239D745D526C}"/>
              </a:ext>
            </a:extLst>
          </p:cNvPr>
          <p:cNvSpPr>
            <a:spLocks noGrp="1"/>
          </p:cNvSpPr>
          <p:nvPr/>
        </p:nvSpPr>
        <p:spPr>
          <a:xfrm>
            <a:off x="742950" y="426720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White, K., &amp; Lehman, D. R. (2005). Culture and social comparison seeking: The role of self-motives. Personality and Social Psychology Bulletin, 31(2), 232–242.</a:t>
            </a:r>
          </a:p>
        </p:txBody>
      </p:sp>
      <p:sp>
        <p:nvSpPr>
          <p:cNvPr id="105" name="Reference 6">
            <a:extLst>
              <a:ext uri="{FF2B5EF4-FFF2-40B4-BE49-F238E27FC236}">
                <a16:creationId xmlns:a16="http://schemas.microsoft.com/office/drawing/2014/main" id="{B48CFE17-6E8B-4C4D-A9AF-474360907779}"/>
              </a:ext>
            </a:extLst>
          </p:cNvPr>
          <p:cNvSpPr>
            <a:spLocks noGrp="1"/>
          </p:cNvSpPr>
          <p:nvPr/>
        </p:nvSpPr>
        <p:spPr>
          <a:xfrm>
            <a:off x="742950" y="4895850"/>
            <a:ext cx="10706100" cy="590550"/>
          </a:xfrm>
          <a:prstGeom prst="rect">
            <a:avLst/>
          </a:prstGeom>
          <a:noFill/>
          <a:ln w="0">
            <a:noFill/>
          </a:ln>
        </p:spPr>
        <p:txBody>
          <a:bodyPr>
            <a:noAutofit/>
          </a:bodyPr>
          <a:lstStyle>
            <a:defPPr>
              <a:defRPr sz="1448">
                <a:solidFill>
                  <a:srgbClr val="444444"/>
                </a:solidFill>
                <a:latin typeface="Arial"/>
                <a:ea typeface="Arial"/>
                <a:cs typeface="Arial"/>
              </a:defRPr>
            </a:defPPr>
          </a:lstStyle>
          <a:p>
            <a:pPr>
              <a:defRPr sz="1448">
                <a:solidFill>
                  <a:srgbClr val="444444"/>
                </a:solidFill>
                <a:latin typeface="Arial"/>
                <a:ea typeface="Arial"/>
                <a:cs typeface="Arial"/>
              </a:defRPr>
            </a:pPr>
            <a:r>
              <a:rPr sz="1448">
                <a:solidFill>
                  <a:srgbClr val="444444"/>
                </a:solidFill>
                <a:latin typeface="Arial"/>
                <a:ea typeface="Arial"/>
                <a:cs typeface="Arial"/>
              </a:rPr>
              <a:t>Young, N. A., Shuster, M. M., &amp; Mikels, J. A. (2019). The sure thing: The role of integral affect in risky choice framing. Emotion, 19(6), 1035–1043.</a:t>
            </a:r>
          </a:p>
        </p:txBody>
      </p:sp>
    </p:spTree>
    <p:extLst>
      <p:ext uri="{BB962C8B-B14F-4D97-AF65-F5344CB8AC3E}">
        <p14:creationId xmlns:p14="http://schemas.microsoft.com/office/powerpoint/2010/main" val="1893056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AA0004"/>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B5777DB5-A478-469E-BCF6-1661FBE696E7}"/>
              </a:ext>
            </a:extLst>
          </p:cNvPr>
          <p:cNvPicPr>
            <a:picLocks noChangeAspect="1"/>
          </p:cNvPicPr>
          <p:nvPr/>
        </p:nvPicPr>
        <p:blipFill>
          <a:blip r:embed="rId3"/>
          <a:stretch/>
        </p:blipFill>
        <p:spPr>
          <a:xfrm>
            <a:off x="2733675" y="2363365"/>
            <a:ext cx="6724650" cy="2178894"/>
          </a:xfrm>
          <a:prstGeom prst="rect">
            <a:avLst/>
          </a:prstGeom>
        </p:spPr>
      </p:pic>
    </p:spTree>
    <p:extLst>
      <p:ext uri="{BB962C8B-B14F-4D97-AF65-F5344CB8AC3E}">
        <p14:creationId xmlns:p14="http://schemas.microsoft.com/office/powerpoint/2010/main" val="1824861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000" name="Figura a mano libera 6">
            <a:extLst>
              <a:ext uri="{FF2B5EF4-FFF2-40B4-BE49-F238E27FC236}">
                <a16:creationId xmlns:a16="http://schemas.microsoft.com/office/drawing/2014/main" id="{8F0410C2-8E9F-1D61-455D-ED792EC4FEB9}"/>
              </a:ext>
              <a:ext uri="{C183D7F6-B498-43B3-948B-1728B52AA6E4}">
                <adec:decorative xmlns:adec="http://schemas.microsoft.com/office/drawing/2017/decorative" val="1"/>
              </a:ext>
            </a:extLst>
          </p:cNvPr>
          <p:cNvSpPr/>
          <p:nvPr userDrawn="1"/>
        </p:nvSpPr>
        <p:spPr>
          <a:xfrm>
            <a:off x="0" y="0"/>
            <a:ext cx="12192000" cy="682989"/>
          </a:xfrm>
          <a:custGeom>
            <a:avLst/>
            <a:gdLst>
              <a:gd name="connsiteX0" fmla="*/ 76200 w 12268200"/>
              <a:gd name="connsiteY0" fmla="*/ 0 h 6979920"/>
              <a:gd name="connsiteX1" fmla="*/ 12268200 w 12268200"/>
              <a:gd name="connsiteY1" fmla="*/ 30480 h 6979920"/>
              <a:gd name="connsiteX2" fmla="*/ 12252960 w 12268200"/>
              <a:gd name="connsiteY2" fmla="*/ 6979920 h 6979920"/>
              <a:gd name="connsiteX3" fmla="*/ 0 w 12268200"/>
              <a:gd name="connsiteY3" fmla="*/ 6903720 h 6979920"/>
              <a:gd name="connsiteX4" fmla="*/ 76200 w 12268200"/>
              <a:gd name="connsiteY4" fmla="*/ 0 h 6979920"/>
              <a:gd name="connsiteX0" fmla="*/ 365760 w 12268200"/>
              <a:gd name="connsiteY0" fmla="*/ 41148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65760 w 12268200"/>
              <a:gd name="connsiteY4" fmla="*/ 411480 h 6949440"/>
              <a:gd name="connsiteX0" fmla="*/ 30480 w 12268200"/>
              <a:gd name="connsiteY0" fmla="*/ 0 h 6949440"/>
              <a:gd name="connsiteX1" fmla="*/ 12268200 w 12268200"/>
              <a:gd name="connsiteY1" fmla="*/ 0 h 6949440"/>
              <a:gd name="connsiteX2" fmla="*/ 12252960 w 12268200"/>
              <a:gd name="connsiteY2" fmla="*/ 6949440 h 6949440"/>
              <a:gd name="connsiteX3" fmla="*/ 0 w 12268200"/>
              <a:gd name="connsiteY3" fmla="*/ 6873240 h 6949440"/>
              <a:gd name="connsiteX4" fmla="*/ 30480 w 1226820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365760 w 12237720"/>
              <a:gd name="connsiteY3" fmla="*/ 6431280 h 6949440"/>
              <a:gd name="connsiteX4" fmla="*/ 0 w 12237720"/>
              <a:gd name="connsiteY4" fmla="*/ 0 h 6949440"/>
              <a:gd name="connsiteX0" fmla="*/ 0 w 12237720"/>
              <a:gd name="connsiteY0" fmla="*/ 0 h 6949440"/>
              <a:gd name="connsiteX1" fmla="*/ 12237720 w 12237720"/>
              <a:gd name="connsiteY1" fmla="*/ 0 h 6949440"/>
              <a:gd name="connsiteX2" fmla="*/ 12222480 w 12237720"/>
              <a:gd name="connsiteY2" fmla="*/ 6949440 h 6949440"/>
              <a:gd name="connsiteX3" fmla="*/ 15240 w 12237720"/>
              <a:gd name="connsiteY3" fmla="*/ 6888480 h 6949440"/>
              <a:gd name="connsiteX4" fmla="*/ 0 w 12237720"/>
              <a:gd name="connsiteY4" fmla="*/ 0 h 6949440"/>
              <a:gd name="connsiteX0" fmla="*/ 0 w 12237720"/>
              <a:gd name="connsiteY0" fmla="*/ 0 h 6888480"/>
              <a:gd name="connsiteX1" fmla="*/ 12237720 w 12237720"/>
              <a:gd name="connsiteY1" fmla="*/ 0 h 6888480"/>
              <a:gd name="connsiteX2" fmla="*/ 12039600 w 12237720"/>
              <a:gd name="connsiteY2" fmla="*/ 6385560 h 6888480"/>
              <a:gd name="connsiteX3" fmla="*/ 15240 w 12237720"/>
              <a:gd name="connsiteY3" fmla="*/ 6888480 h 6888480"/>
              <a:gd name="connsiteX4" fmla="*/ 0 w 12237720"/>
              <a:gd name="connsiteY4" fmla="*/ 0 h 6888480"/>
              <a:gd name="connsiteX0" fmla="*/ 0 w 12237720"/>
              <a:gd name="connsiteY0" fmla="*/ 0 h 6888480"/>
              <a:gd name="connsiteX1" fmla="*/ 12237720 w 12237720"/>
              <a:gd name="connsiteY1" fmla="*/ 0 h 6888480"/>
              <a:gd name="connsiteX2" fmla="*/ 12222480 w 12237720"/>
              <a:gd name="connsiteY2" fmla="*/ 6873240 h 6888480"/>
              <a:gd name="connsiteX3" fmla="*/ 15240 w 12237720"/>
              <a:gd name="connsiteY3" fmla="*/ 6888480 h 6888480"/>
              <a:gd name="connsiteX4" fmla="*/ 0 w 12237720"/>
              <a:gd name="connsiteY4" fmla="*/ 0 h 6888480"/>
              <a:gd name="connsiteX0" fmla="*/ 0 w 12222480"/>
              <a:gd name="connsiteY0" fmla="*/ 0 h 6888480"/>
              <a:gd name="connsiteX1" fmla="*/ 11780520 w 12222480"/>
              <a:gd name="connsiteY1" fmla="*/ 487680 h 6888480"/>
              <a:gd name="connsiteX2" fmla="*/ 12222480 w 12222480"/>
              <a:gd name="connsiteY2" fmla="*/ 6873240 h 6888480"/>
              <a:gd name="connsiteX3" fmla="*/ 15240 w 12222480"/>
              <a:gd name="connsiteY3" fmla="*/ 6888480 h 6888480"/>
              <a:gd name="connsiteX4" fmla="*/ 0 w 12222480"/>
              <a:gd name="connsiteY4" fmla="*/ 0 h 6888480"/>
              <a:gd name="connsiteX0" fmla="*/ 0 w 12237720"/>
              <a:gd name="connsiteY0" fmla="*/ 15240 h 6903720"/>
              <a:gd name="connsiteX1" fmla="*/ 12237720 w 12237720"/>
              <a:gd name="connsiteY1" fmla="*/ 0 h 6903720"/>
              <a:gd name="connsiteX2" fmla="*/ 12222480 w 12237720"/>
              <a:gd name="connsiteY2" fmla="*/ 6888480 h 6903720"/>
              <a:gd name="connsiteX3" fmla="*/ 15240 w 12237720"/>
              <a:gd name="connsiteY3" fmla="*/ 6903720 h 6903720"/>
              <a:gd name="connsiteX4" fmla="*/ 0 w 12237720"/>
              <a:gd name="connsiteY4" fmla="*/ 15240 h 6903720"/>
              <a:gd name="connsiteX0" fmla="*/ 0 w 12237720"/>
              <a:gd name="connsiteY0" fmla="*/ 15240 h 6888482"/>
              <a:gd name="connsiteX1" fmla="*/ 12237720 w 12237720"/>
              <a:gd name="connsiteY1" fmla="*/ 0 h 6888482"/>
              <a:gd name="connsiteX2" fmla="*/ 12222480 w 12237720"/>
              <a:gd name="connsiteY2" fmla="*/ 6888480 h 6888482"/>
              <a:gd name="connsiteX3" fmla="*/ 746760 w 12237720"/>
              <a:gd name="connsiteY3" fmla="*/ 6756832 h 6888482"/>
              <a:gd name="connsiteX4" fmla="*/ 0 w 12237720"/>
              <a:gd name="connsiteY4" fmla="*/ 15240 h 6888482"/>
              <a:gd name="connsiteX0" fmla="*/ 0 w 12329160"/>
              <a:gd name="connsiteY0" fmla="*/ 15240 h 6756832"/>
              <a:gd name="connsiteX1" fmla="*/ 12237720 w 12329160"/>
              <a:gd name="connsiteY1" fmla="*/ 0 h 6756832"/>
              <a:gd name="connsiteX2" fmla="*/ 12329160 w 12329160"/>
              <a:gd name="connsiteY2" fmla="*/ 6741594 h 6756832"/>
              <a:gd name="connsiteX3" fmla="*/ 746760 w 12329160"/>
              <a:gd name="connsiteY3" fmla="*/ 6756832 h 6756832"/>
              <a:gd name="connsiteX4" fmla="*/ 0 w 12329160"/>
              <a:gd name="connsiteY4" fmla="*/ 15240 h 6756832"/>
              <a:gd name="connsiteX0" fmla="*/ 0 w 12237720"/>
              <a:gd name="connsiteY0" fmla="*/ 15240 h 6835952"/>
              <a:gd name="connsiteX1" fmla="*/ 12237720 w 12237720"/>
              <a:gd name="connsiteY1" fmla="*/ 0 h 6835952"/>
              <a:gd name="connsiteX2" fmla="*/ 12234892 w 12237720"/>
              <a:gd name="connsiteY2" fmla="*/ 6835952 h 6835952"/>
              <a:gd name="connsiteX3" fmla="*/ 746760 w 12237720"/>
              <a:gd name="connsiteY3" fmla="*/ 6756832 h 6835952"/>
              <a:gd name="connsiteX4" fmla="*/ 0 w 12237720"/>
              <a:gd name="connsiteY4" fmla="*/ 15240 h 6835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7720" h="6835952">
                <a:moveTo>
                  <a:pt x="0" y="15240"/>
                </a:moveTo>
                <a:lnTo>
                  <a:pt x="12237720" y="0"/>
                </a:lnTo>
                <a:cubicBezTo>
                  <a:pt x="12236777" y="2278651"/>
                  <a:pt x="12235835" y="4557301"/>
                  <a:pt x="12234892" y="6835952"/>
                </a:cubicBezTo>
                <a:lnTo>
                  <a:pt x="746760" y="6756832"/>
                </a:lnTo>
                <a:lnTo>
                  <a:pt x="0" y="15240"/>
                </a:lnTo>
                <a:close/>
              </a:path>
            </a:pathLst>
          </a:custGeom>
          <a:solidFill>
            <a:srgbClr val="AA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0" i="0" dirty="0">
              <a:latin typeface="Arial" panose="020B0604020202020204" pitchFamily="34" charset="0"/>
            </a:endParaRPr>
          </a:p>
        </p:txBody>
      </p:sp>
      <p:pic>
        <p:nvPicPr>
          <p:cNvPr id="9001" name="Immagine 7">
            <a:extLst>
              <a:ext uri="{FF2B5EF4-FFF2-40B4-BE49-F238E27FC236}">
                <a16:creationId xmlns:a16="http://schemas.microsoft.com/office/drawing/2014/main" id="{AC9E0989-ECD6-0D73-B60E-A0C129A0717F}"/>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814960" y="185430"/>
            <a:ext cx="3324180" cy="215506"/>
          </a:xfrm>
          <a:prstGeom prst="rect">
            <a:avLst/>
          </a:prstGeom>
        </p:spPr>
      </p:pic>
      <p:sp>
        <p:nvSpPr>
          <p:cNvPr id="9002" name="Segnaposto testo 9">
            <a:extLst>
              <a:ext uri="{FF2B5EF4-FFF2-40B4-BE49-F238E27FC236}">
                <a16:creationId xmlns:a16="http://schemas.microsoft.com/office/drawing/2014/main" id="{1E7C8F36-E602-7E89-BA2B-08DE9262AE81}"/>
              </a:ext>
            </a:extLst>
          </p:cNvPr>
          <p:cNvSpPr>
            <a:spLocks noGrp="1"/>
          </p:cNvSpPr>
          <p:nvPr/>
        </p:nvSpPr>
        <p:spPr>
          <a:xfrm>
            <a:off x="0" y="6480587"/>
            <a:ext cx="11460162" cy="377413"/>
          </a:xfrm>
        </p:spPr>
        <p:txBody>
          <a:bodyPr wrap="none" lIns="827999">
            <a:noAutofit/>
          </a:bodyPr>
          <a:lstStyle>
            <a:lvl1pPr>
              <a:buNone/>
              <a:defRPr sz="1000" b="0" i="0" baseline="0">
                <a:solidFill>
                  <a:schemeClr val="bg1">
                    <a:lumMod val="50000"/>
                  </a:schemeClr>
                </a:solidFill>
                <a:latin typeface="Arial"/>
                <a:cs typeface="Arial" panose="020B0604020202020204" pitchFamily="34" charset="0"/>
              </a:defRPr>
            </a:lvl1pPr>
          </a:lstStyle>
          <a:p>
            <a:r>
              <a:rPr lang="it-IT" sz="1600" dirty="0">
                <a:solidFill>
                  <a:schemeClr val="bg1">
                    <a:lumMod val="50000"/>
                  </a:schemeClr>
                </a:solidFill>
                <a:latin typeface="Arial"/>
              </a:rPr>
              <a:t>Scuola di Psicologia – Dipartimento FISPPA</a:t>
            </a:r>
          </a:p>
        </p:txBody>
      </p:sp>
      <p:cxnSp>
        <p:nvCxnSpPr>
          <p:cNvPr id="9003" name="Connettore dritto 2">
            <a:extLst>
              <a:ext uri="{FF2B5EF4-FFF2-40B4-BE49-F238E27FC236}">
                <a16:creationId xmlns:a16="http://schemas.microsoft.com/office/drawing/2014/main" id="{1C104274-6D6C-B8DE-EC1F-841559392400}"/>
              </a:ext>
              <a:ext uri="{C183D7F6-B498-43B3-948B-1728B52AA6E4}">
                <adec:decorative xmlns:adec="http://schemas.microsoft.com/office/drawing/2017/decorative" val="1"/>
              </a:ext>
            </a:extLst>
          </p:cNvPr>
          <p:cNvCxnSpPr>
            <a:cxnSpLocks/>
          </p:cNvCxnSpPr>
          <p:nvPr userDrawn="1"/>
        </p:nvCxnSpPr>
        <p:spPr>
          <a:xfrm>
            <a:off x="331152" y="6458642"/>
            <a:ext cx="11529697" cy="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8" name="Sezione">
            <a:extLst>
              <a:ext uri="{FF2B5EF4-FFF2-40B4-BE49-F238E27FC236}">
                <a16:creationId xmlns:a16="http://schemas.microsoft.com/office/drawing/2014/main" id="{FC6B2976-2829-43D5-B200-6BA0DDA55015}"/>
              </a:ext>
            </a:extLst>
          </p:cNvPr>
          <p:cNvSpPr>
            <a:spLocks noGrp="1"/>
          </p:cNvSpPr>
          <p:nvPr/>
        </p:nvSpPr>
        <p:spPr>
          <a:xfrm>
            <a:off x="5619750" y="114300"/>
            <a:ext cx="6191250" cy="438150"/>
          </a:xfrm>
          <a:prstGeom prst="rect">
            <a:avLst/>
          </a:prstGeom>
          <a:noFill/>
          <a:ln w="0">
            <a:noFill/>
          </a:ln>
        </p:spPr>
        <p:txBody>
          <a:bodyPr wrap="square" lIns="0" tIns="0" rIns="0" bIns="0" anchor="ctr">
            <a:noAutofit/>
          </a:bodyPr>
          <a:lstStyle>
            <a:defPPr algn="r">
              <a:defRPr sz="1950" b="0">
                <a:solidFill>
                  <a:srgbClr val="FFFFFF"/>
                </a:solidFill>
                <a:latin typeface="Arial"/>
                <a:ea typeface="Arial"/>
                <a:cs typeface="Arial"/>
              </a:defRPr>
            </a:defPPr>
          </a:lstStyle>
          <a:p>
            <a:pPr algn="r">
              <a:defRPr sz="1950" b="0">
                <a:solidFill>
                  <a:srgbClr val="FFFFFF"/>
                </a:solidFill>
                <a:latin typeface="Arial"/>
                <a:ea typeface="Arial"/>
                <a:cs typeface="Arial"/>
              </a:defRPr>
            </a:pPr>
            <a:r>
              <a:rPr sz="1950" b="0">
                <a:solidFill>
                  <a:srgbClr val="FFFFFF"/>
                </a:solidFill>
                <a:latin typeface="Arial"/>
                <a:ea typeface="Arial"/>
                <a:cs typeface="Arial"/>
              </a:rPr>
              <a:t>Slide supplementari</a:t>
            </a:r>
          </a:p>
        </p:txBody>
      </p:sp>
      <p:sp>
        <p:nvSpPr>
          <p:cNvPr id="2" name="Titolo">
            <a:extLst>
              <a:ext uri="{FF2B5EF4-FFF2-40B4-BE49-F238E27FC236}">
                <a16:creationId xmlns:a16="http://schemas.microsoft.com/office/drawing/2014/main" id="{0DD71C9A-50AC-4A37-A4DC-552DE487AF6A}"/>
              </a:ext>
            </a:extLst>
          </p:cNvPr>
          <p:cNvSpPr>
            <a:spLocks noGrp="1"/>
          </p:cNvSpPr>
          <p:nvPr/>
        </p:nvSpPr>
        <p:spPr>
          <a:xfrm>
            <a:off x="742950" y="1066800"/>
            <a:ext cx="10706100" cy="476250"/>
          </a:xfrm>
          <a:prstGeom prst="rect">
            <a:avLst/>
          </a:prstGeom>
          <a:noFill/>
          <a:ln w="0">
            <a:noFill/>
          </a:ln>
        </p:spPr>
        <p:txBody>
          <a:bodyPr wrap="square" lIns="0" tIns="0" rIns="0" bIns="0" anchor="t">
            <a:noAutofit/>
          </a:bodyPr>
          <a:lstStyle>
            <a:defPPr algn="l">
              <a:defRPr sz="2550" b="1">
                <a:solidFill>
                  <a:srgbClr val="AA0004"/>
                </a:solidFill>
                <a:latin typeface="Arial"/>
                <a:ea typeface="Arial"/>
                <a:cs typeface="Arial"/>
              </a:defRPr>
            </a:defPPr>
          </a:lstStyle>
          <a:p>
            <a:pPr algn="l">
              <a:defRPr sz="2550" b="1">
                <a:solidFill>
                  <a:srgbClr val="AA0004"/>
                </a:solidFill>
                <a:latin typeface="Arial"/>
                <a:ea typeface="Arial"/>
                <a:cs typeface="Arial"/>
              </a:defRPr>
            </a:pPr>
            <a:r>
              <a:rPr sz="2550" b="1">
                <a:solidFill>
                  <a:srgbClr val="AA0004"/>
                </a:solidFill>
                <a:latin typeface="Arial"/>
                <a:ea typeface="Arial"/>
                <a:cs typeface="Arial"/>
              </a:rPr>
              <a:t>Supplemento · Effetto d’ordine</a:t>
            </a:r>
          </a:p>
        </p:txBody>
      </p:sp>
      <p:sp>
        <p:nvSpPr>
          <p:cNvPr id="3" name="23">
            <a:extLst>
              <a:ext uri="{FF2B5EF4-FFF2-40B4-BE49-F238E27FC236}">
                <a16:creationId xmlns:a16="http://schemas.microsoft.com/office/drawing/2014/main" id="{AA560BFE-DDAC-4462-8D6D-6404CC60499E}"/>
              </a:ext>
            </a:extLst>
          </p:cNvPr>
          <p:cNvSpPr>
            <a:spLocks noGrp="1"/>
          </p:cNvSpPr>
          <p:nvPr/>
        </p:nvSpPr>
        <p:spPr>
          <a:xfrm>
            <a:off x="11239500" y="6486525"/>
            <a:ext cx="533400" cy="247650"/>
          </a:xfrm>
          <a:prstGeom prst="rect">
            <a:avLst/>
          </a:prstGeom>
          <a:noFill/>
          <a:ln w="0">
            <a:noFill/>
          </a:ln>
        </p:spPr>
        <p:txBody>
          <a:bodyPr wrap="square" lIns="0" tIns="0" rIns="0" bIns="0" anchor="t">
            <a:noAutofit/>
          </a:bodyPr>
          <a:lstStyle>
            <a:defPPr algn="r">
              <a:defRPr sz="1425" b="0">
                <a:solidFill>
                  <a:srgbClr val="707070"/>
                </a:solidFill>
                <a:latin typeface="Arial"/>
                <a:ea typeface="Arial"/>
                <a:cs typeface="Arial"/>
              </a:defRPr>
            </a:defPPr>
          </a:lstStyle>
          <a:p>
            <a:pPr algn="r">
              <a:defRPr sz="1425" b="0">
                <a:solidFill>
                  <a:srgbClr val="707070"/>
                </a:solidFill>
                <a:latin typeface="Arial"/>
                <a:ea typeface="Arial"/>
                <a:cs typeface="Arial"/>
              </a:defRPr>
            </a:pPr>
            <a:r>
              <a:rPr lang="it-IT" sz="1425" b="0">
                <a:solidFill>
                  <a:srgbClr val="707070"/>
                </a:solidFill>
                <a:latin typeface="Arial"/>
                <a:ea typeface="Arial"/>
                <a:cs typeface="Arial"/>
              </a:rPr>
              <a:t>21</a:t>
            </a:r>
            <a:endParaRPr sz="1425" b="0">
              <a:solidFill>
                <a:srgbClr val="707070"/>
              </a:solidFill>
              <a:latin typeface="Arial"/>
              <a:ea typeface="Arial"/>
              <a:cs typeface="Arial"/>
            </a:endParaRPr>
          </a:p>
        </p:txBody>
      </p:sp>
      <p:sp>
        <p:nvSpPr>
          <p:cNvPr id="102" name="initiation heading">
            <a:extLst>
              <a:ext uri="{FF2B5EF4-FFF2-40B4-BE49-F238E27FC236}">
                <a16:creationId xmlns:a16="http://schemas.microsoft.com/office/drawing/2014/main" id="{BDB33BB6-4C59-4809-AD5B-B398E4540C2A}"/>
              </a:ext>
            </a:extLst>
          </p:cNvPr>
          <p:cNvSpPr>
            <a:spLocks noGrp="1"/>
          </p:cNvSpPr>
          <p:nvPr/>
        </p:nvSpPr>
        <p:spPr>
          <a:xfrm>
            <a:off x="742950" y="1714500"/>
            <a:ext cx="5219700" cy="304800"/>
          </a:xfrm>
          <a:prstGeom prst="rect">
            <a:avLst/>
          </a:prstGeom>
          <a:noFill/>
          <a:ln w="0">
            <a:noFill/>
          </a:ln>
        </p:spPr>
        <p:txBody>
          <a:bodyPr>
            <a:noAutofit/>
          </a:bodyPr>
          <a:lstStyle>
            <a:defPPr>
              <a:defRPr sz="1875" b="1">
                <a:solidFill>
                  <a:srgbClr val="B00000"/>
                </a:solidFill>
                <a:latin typeface="Arial"/>
                <a:ea typeface="Arial"/>
                <a:cs typeface="Arial"/>
              </a:defRPr>
            </a:defPPr>
          </a:lstStyle>
          <a:p>
            <a:pPr>
              <a:defRPr sz="1875" b="1">
                <a:solidFill>
                  <a:srgbClr val="B00000"/>
                </a:solidFill>
                <a:latin typeface="Arial"/>
                <a:ea typeface="Arial"/>
                <a:cs typeface="Arial"/>
              </a:defRPr>
            </a:pPr>
            <a:r>
              <a:rPr sz="1875" b="1">
                <a:solidFill>
                  <a:srgbClr val="B00000"/>
                </a:solidFill>
                <a:latin typeface="Arial"/>
                <a:ea typeface="Arial"/>
                <a:cs typeface="Arial"/>
              </a:rPr>
              <a:t>Inizio · almeno un esito</a:t>
            </a:r>
          </a:p>
        </p:txBody>
      </p:sp>
      <p:pic>
        <p:nvPicPr>
          <p:cNvPr id="501" name="Immagine 500">
            <a:extLst>
              <a:ext uri="{FF2B5EF4-FFF2-40B4-BE49-F238E27FC236}">
                <a16:creationId xmlns:a16="http://schemas.microsoft.com/office/drawing/2014/main" id="{A7D3FF4C-543D-41DD-99E4-0C0D8AE07477}"/>
              </a:ext>
            </a:extLst>
          </p:cNvPr>
          <p:cNvPicPr>
            <a:picLocks noChangeAspect="1"/>
          </p:cNvPicPr>
          <p:nvPr/>
        </p:nvPicPr>
        <p:blipFill>
          <a:blip r:embed="rId4"/>
          <a:stretch/>
        </p:blipFill>
        <p:spPr>
          <a:xfrm>
            <a:off x="838200" y="2047875"/>
            <a:ext cx="5029200" cy="2381250"/>
          </a:xfrm>
          <a:prstGeom prst="rect">
            <a:avLst/>
          </a:prstGeom>
        </p:spPr>
      </p:pic>
      <p:sp>
        <p:nvSpPr>
          <p:cNvPr id="104" name="initiation order label">
            <a:extLst>
              <a:ext uri="{FF2B5EF4-FFF2-40B4-BE49-F238E27FC236}">
                <a16:creationId xmlns:a16="http://schemas.microsoft.com/office/drawing/2014/main" id="{1124DD20-206E-49EB-8183-6D685400AA4E}"/>
              </a:ext>
            </a:extLst>
          </p:cNvPr>
          <p:cNvSpPr>
            <a:spLocks noGrp="1"/>
          </p:cNvSpPr>
          <p:nvPr/>
        </p:nvSpPr>
        <p:spPr>
          <a:xfrm>
            <a:off x="742950" y="4438650"/>
            <a:ext cx="5219700" cy="276225"/>
          </a:xfrm>
          <a:prstGeom prst="rect">
            <a:avLst/>
          </a:prstGeom>
          <a:noFill/>
          <a:ln w="0">
            <a:noFill/>
          </a:ln>
        </p:spPr>
        <p:txBody>
          <a:bodyPr>
            <a:noAutofit/>
          </a:bodyPr>
          <a:lstStyle>
            <a:defPPr>
              <a:defRPr sz="1725" b="1">
                <a:solidFill>
                  <a:srgbClr val="444444"/>
                </a:solidFill>
                <a:latin typeface="Arial"/>
                <a:ea typeface="Arial"/>
                <a:cs typeface="Arial"/>
              </a:defRPr>
            </a:defPPr>
          </a:lstStyle>
          <a:p>
            <a:pPr>
              <a:defRPr sz="1725" b="1">
                <a:solidFill>
                  <a:srgbClr val="444444"/>
                </a:solidFill>
                <a:latin typeface="Arial"/>
                <a:ea typeface="Arial"/>
                <a:cs typeface="Arial"/>
              </a:defRPr>
            </a:pPr>
            <a:r>
              <a:rPr sz="1725" b="1">
                <a:solidFill>
                  <a:srgbClr val="444444"/>
                </a:solidFill>
                <a:latin typeface="Arial"/>
                <a:ea typeface="Arial"/>
                <a:cs typeface="Arial"/>
              </a:rPr>
              <a:t>Secondo vs primo blocco</a:t>
            </a:r>
          </a:p>
        </p:txBody>
      </p:sp>
      <p:sp>
        <p:nvSpPr>
          <p:cNvPr id="105" name="initiation order result">
            <a:extLst>
              <a:ext uri="{FF2B5EF4-FFF2-40B4-BE49-F238E27FC236}">
                <a16:creationId xmlns:a16="http://schemas.microsoft.com/office/drawing/2014/main" id="{4A2AA38C-0EE3-4DDC-8BD9-EBFA9B480E29}"/>
              </a:ext>
            </a:extLst>
          </p:cNvPr>
          <p:cNvSpPr>
            <a:spLocks noGrp="1"/>
          </p:cNvSpPr>
          <p:nvPr/>
        </p:nvSpPr>
        <p:spPr>
          <a:xfrm>
            <a:off x="742950" y="4752975"/>
            <a:ext cx="5219700" cy="276225"/>
          </a:xfrm>
          <a:prstGeom prst="rect">
            <a:avLst/>
          </a:prstGeom>
          <a:noFill/>
          <a:ln w="0">
            <a:noFill/>
          </a:ln>
        </p:spPr>
        <p:txBody>
          <a:bodyPr>
            <a:noAutofit/>
          </a:bodyPr>
          <a:lstStyle>
            <a:defPPr>
              <a:defRPr sz="1613" b="0">
                <a:solidFill>
                  <a:srgbClr val="444444"/>
                </a:solidFill>
                <a:latin typeface="Arial"/>
                <a:ea typeface="Arial"/>
                <a:cs typeface="Arial"/>
              </a:defRPr>
            </a:defPPr>
          </a:lstStyle>
          <a:p>
            <a:pPr>
              <a:defRPr sz="1613" b="0">
                <a:solidFill>
                  <a:srgbClr val="444444"/>
                </a:solidFill>
                <a:latin typeface="Arial"/>
                <a:ea typeface="Arial"/>
                <a:cs typeface="Arial"/>
              </a:defRPr>
            </a:pPr>
            <a:r>
              <a:rPr sz="1613" b="0">
                <a:solidFill>
                  <a:srgbClr val="444444"/>
                </a:solidFill>
                <a:latin typeface="Arial"/>
                <a:ea typeface="Arial"/>
                <a:cs typeface="Arial"/>
              </a:rPr>
              <a:t>OR = 2,27; IC 95% [1,57, 3,27]; </a:t>
            </a:r>
            <a:r>
              <a:rPr sz="1613" b="0" i="1">
                <a:solidFill>
                  <a:srgbClr val="444444"/>
                </a:solidFill>
                <a:latin typeface="Arial"/>
                <a:ea typeface="Arial"/>
                <a:cs typeface="Arial"/>
              </a:rPr>
              <a:t>p</a:t>
            </a:r>
            <a:r>
              <a:rPr sz="1613" b="0">
                <a:solidFill>
                  <a:srgbClr val="444444"/>
                </a:solidFill>
                <a:latin typeface="Arial"/>
                <a:ea typeface="Arial"/>
                <a:cs typeface="Arial"/>
              </a:rPr>
              <a:t> &lt; .001</a:t>
            </a:r>
          </a:p>
        </p:txBody>
      </p:sp>
      <p:sp>
        <p:nvSpPr>
          <p:cNvPr id="106" name="initiation interaction label">
            <a:extLst>
              <a:ext uri="{FF2B5EF4-FFF2-40B4-BE49-F238E27FC236}">
                <a16:creationId xmlns:a16="http://schemas.microsoft.com/office/drawing/2014/main" id="{A1B92CF5-1221-42B4-831C-001187573545}"/>
              </a:ext>
            </a:extLst>
          </p:cNvPr>
          <p:cNvSpPr>
            <a:spLocks noGrp="1"/>
          </p:cNvSpPr>
          <p:nvPr/>
        </p:nvSpPr>
        <p:spPr>
          <a:xfrm>
            <a:off x="742950" y="5133975"/>
            <a:ext cx="5219700" cy="276225"/>
          </a:xfrm>
          <a:prstGeom prst="rect">
            <a:avLst/>
          </a:prstGeom>
          <a:noFill/>
          <a:ln w="0">
            <a:noFill/>
          </a:ln>
        </p:spPr>
        <p:txBody>
          <a:bodyPr>
            <a:noAutofit/>
          </a:bodyPr>
          <a:lstStyle>
            <a:defPPr>
              <a:defRPr sz="1725" b="1">
                <a:solidFill>
                  <a:srgbClr val="444444"/>
                </a:solidFill>
                <a:latin typeface="Arial"/>
                <a:ea typeface="Arial"/>
                <a:cs typeface="Arial"/>
              </a:defRPr>
            </a:defPPr>
          </a:lstStyle>
          <a:p>
            <a:pPr>
              <a:defRPr sz="1725" b="1">
                <a:solidFill>
                  <a:srgbClr val="444444"/>
                </a:solidFill>
                <a:latin typeface="Arial"/>
                <a:ea typeface="Arial"/>
                <a:cs typeface="Arial"/>
              </a:defRPr>
            </a:pPr>
            <a:r>
              <a:rPr sz="1725" b="1">
                <a:solidFill>
                  <a:srgbClr val="444444"/>
                </a:solidFill>
                <a:latin typeface="Arial"/>
                <a:ea typeface="Arial"/>
                <a:cs typeface="Arial"/>
              </a:rPr>
              <a:t>Interazione posizione × dominio</a:t>
            </a:r>
          </a:p>
        </p:txBody>
      </p:sp>
      <p:sp>
        <p:nvSpPr>
          <p:cNvPr id="107" name="initiation interaction result">
            <a:extLst>
              <a:ext uri="{FF2B5EF4-FFF2-40B4-BE49-F238E27FC236}">
                <a16:creationId xmlns:a16="http://schemas.microsoft.com/office/drawing/2014/main" id="{AC175F57-959C-4BAD-8B37-0184DD1FFFE5}"/>
              </a:ext>
            </a:extLst>
          </p:cNvPr>
          <p:cNvSpPr>
            <a:spLocks noGrp="1"/>
          </p:cNvSpPr>
          <p:nvPr/>
        </p:nvSpPr>
        <p:spPr>
          <a:xfrm>
            <a:off x="742950" y="5448300"/>
            <a:ext cx="5219700" cy="276225"/>
          </a:xfrm>
          <a:prstGeom prst="rect">
            <a:avLst/>
          </a:prstGeom>
          <a:noFill/>
          <a:ln w="0">
            <a:noFill/>
          </a:ln>
        </p:spPr>
        <p:txBody>
          <a:bodyPr>
            <a:noAutofit/>
          </a:bodyPr>
          <a:lstStyle>
            <a:defPPr>
              <a:defRPr sz="1613" b="0">
                <a:solidFill>
                  <a:srgbClr val="444444"/>
                </a:solidFill>
                <a:latin typeface="Arial"/>
                <a:ea typeface="Arial"/>
                <a:cs typeface="Arial"/>
              </a:defRPr>
            </a:defPPr>
          </a:lstStyle>
          <a:p>
            <a:pPr>
              <a:defRPr sz="1613" b="0">
                <a:solidFill>
                  <a:srgbClr val="444444"/>
                </a:solidFill>
                <a:latin typeface="Arial"/>
                <a:ea typeface="Arial"/>
                <a:cs typeface="Arial"/>
              </a:defRPr>
            </a:pPr>
            <a:r>
              <a:rPr sz="1613" b="0">
                <a:solidFill>
                  <a:srgbClr val="444444"/>
                </a:solidFill>
                <a:latin typeface="Arial"/>
                <a:ea typeface="Arial"/>
                <a:cs typeface="Arial"/>
              </a:rPr>
              <a:t>OR = 1,10; IC 95% [0,23, 5,26]; </a:t>
            </a:r>
            <a:r>
              <a:rPr sz="1613" b="0" i="1">
                <a:solidFill>
                  <a:srgbClr val="444444"/>
                </a:solidFill>
                <a:latin typeface="Arial"/>
                <a:ea typeface="Arial"/>
                <a:cs typeface="Arial"/>
              </a:rPr>
              <a:t>p</a:t>
            </a:r>
            <a:r>
              <a:rPr sz="1613" b="0">
                <a:solidFill>
                  <a:srgbClr val="444444"/>
                </a:solidFill>
                <a:latin typeface="Arial"/>
                <a:ea typeface="Arial"/>
                <a:cs typeface="Arial"/>
              </a:rPr>
              <a:t> = .905</a:t>
            </a:r>
          </a:p>
        </p:txBody>
      </p:sp>
      <p:sp>
        <p:nvSpPr>
          <p:cNvPr id="108" name="extent heading">
            <a:extLst>
              <a:ext uri="{FF2B5EF4-FFF2-40B4-BE49-F238E27FC236}">
                <a16:creationId xmlns:a16="http://schemas.microsoft.com/office/drawing/2014/main" id="{9E6E269A-21A6-46E0-8951-E0E68D0BD353}"/>
              </a:ext>
            </a:extLst>
          </p:cNvPr>
          <p:cNvSpPr>
            <a:spLocks noGrp="1"/>
          </p:cNvSpPr>
          <p:nvPr/>
        </p:nvSpPr>
        <p:spPr>
          <a:xfrm>
            <a:off x="6248400" y="1714500"/>
            <a:ext cx="5219700" cy="304800"/>
          </a:xfrm>
          <a:prstGeom prst="rect">
            <a:avLst/>
          </a:prstGeom>
          <a:noFill/>
          <a:ln w="0">
            <a:noFill/>
          </a:ln>
        </p:spPr>
        <p:txBody>
          <a:bodyPr>
            <a:noAutofit/>
          </a:bodyPr>
          <a:lstStyle>
            <a:defPPr>
              <a:defRPr sz="1875" b="1">
                <a:solidFill>
                  <a:srgbClr val="B00000"/>
                </a:solidFill>
                <a:latin typeface="Arial"/>
                <a:ea typeface="Arial"/>
                <a:cs typeface="Arial"/>
              </a:defRPr>
            </a:defPPr>
          </a:lstStyle>
          <a:p>
            <a:pPr>
              <a:defRPr sz="1875" b="1">
                <a:solidFill>
                  <a:srgbClr val="B00000"/>
                </a:solidFill>
                <a:latin typeface="Arial"/>
                <a:ea typeface="Arial"/>
                <a:cs typeface="Arial"/>
              </a:defRPr>
            </a:pPr>
            <a:r>
              <a:rPr sz="1875" b="1">
                <a:solidFill>
                  <a:srgbClr val="B00000"/>
                </a:solidFill>
                <a:latin typeface="Arial"/>
                <a:ea typeface="Arial"/>
                <a:cs typeface="Arial"/>
              </a:rPr>
              <a:t>Estensione · dopo l’inizio</a:t>
            </a:r>
          </a:p>
        </p:txBody>
      </p:sp>
      <p:pic>
        <p:nvPicPr>
          <p:cNvPr id="502" name="Immagine 501">
            <a:extLst>
              <a:ext uri="{FF2B5EF4-FFF2-40B4-BE49-F238E27FC236}">
                <a16:creationId xmlns:a16="http://schemas.microsoft.com/office/drawing/2014/main" id="{2F534D7B-0FC9-4FED-A827-4F781F62BDB3}"/>
              </a:ext>
            </a:extLst>
          </p:cNvPr>
          <p:cNvPicPr>
            <a:picLocks noChangeAspect="1"/>
          </p:cNvPicPr>
          <p:nvPr/>
        </p:nvPicPr>
        <p:blipFill>
          <a:blip r:embed="rId5"/>
          <a:stretch/>
        </p:blipFill>
        <p:spPr>
          <a:xfrm>
            <a:off x="6343650" y="2047875"/>
            <a:ext cx="5029200" cy="2381250"/>
          </a:xfrm>
          <a:prstGeom prst="rect">
            <a:avLst/>
          </a:prstGeom>
        </p:spPr>
      </p:pic>
      <p:sp>
        <p:nvSpPr>
          <p:cNvPr id="110" name="extent order label">
            <a:extLst>
              <a:ext uri="{FF2B5EF4-FFF2-40B4-BE49-F238E27FC236}">
                <a16:creationId xmlns:a16="http://schemas.microsoft.com/office/drawing/2014/main" id="{6106DD49-FA50-4FAC-90F5-5984080B4195}"/>
              </a:ext>
            </a:extLst>
          </p:cNvPr>
          <p:cNvSpPr>
            <a:spLocks noGrp="1"/>
          </p:cNvSpPr>
          <p:nvPr/>
        </p:nvSpPr>
        <p:spPr>
          <a:xfrm>
            <a:off x="6248400" y="4438650"/>
            <a:ext cx="5219700" cy="276225"/>
          </a:xfrm>
          <a:prstGeom prst="rect">
            <a:avLst/>
          </a:prstGeom>
          <a:noFill/>
          <a:ln w="0">
            <a:noFill/>
          </a:ln>
        </p:spPr>
        <p:txBody>
          <a:bodyPr>
            <a:noAutofit/>
          </a:bodyPr>
          <a:lstStyle>
            <a:defPPr>
              <a:defRPr sz="1725" b="1">
                <a:solidFill>
                  <a:srgbClr val="444444"/>
                </a:solidFill>
                <a:latin typeface="Arial"/>
                <a:ea typeface="Arial"/>
                <a:cs typeface="Arial"/>
              </a:defRPr>
            </a:defPPr>
          </a:lstStyle>
          <a:p>
            <a:pPr>
              <a:defRPr sz="1725" b="1">
                <a:solidFill>
                  <a:srgbClr val="444444"/>
                </a:solidFill>
                <a:latin typeface="Arial"/>
                <a:ea typeface="Arial"/>
                <a:cs typeface="Arial"/>
              </a:defRPr>
            </a:pPr>
            <a:r>
              <a:rPr sz="1725" b="1">
                <a:solidFill>
                  <a:srgbClr val="444444"/>
                </a:solidFill>
                <a:latin typeface="Arial"/>
                <a:ea typeface="Arial"/>
                <a:cs typeface="Arial"/>
              </a:rPr>
              <a:t>Secondo vs primo blocco</a:t>
            </a:r>
          </a:p>
        </p:txBody>
      </p:sp>
      <p:sp>
        <p:nvSpPr>
          <p:cNvPr id="111" name="extent order result">
            <a:extLst>
              <a:ext uri="{FF2B5EF4-FFF2-40B4-BE49-F238E27FC236}">
                <a16:creationId xmlns:a16="http://schemas.microsoft.com/office/drawing/2014/main" id="{77A5D1CF-528F-4481-9AA3-79033C57C6EA}"/>
              </a:ext>
            </a:extLst>
          </p:cNvPr>
          <p:cNvSpPr>
            <a:spLocks noGrp="1"/>
          </p:cNvSpPr>
          <p:nvPr/>
        </p:nvSpPr>
        <p:spPr>
          <a:xfrm>
            <a:off x="6248400" y="4752975"/>
            <a:ext cx="5219700" cy="276225"/>
          </a:xfrm>
          <a:prstGeom prst="rect">
            <a:avLst/>
          </a:prstGeom>
          <a:noFill/>
          <a:ln w="0">
            <a:noFill/>
          </a:ln>
        </p:spPr>
        <p:txBody>
          <a:bodyPr>
            <a:noAutofit/>
          </a:bodyPr>
          <a:lstStyle>
            <a:defPPr>
              <a:defRPr sz="1613" b="0">
                <a:solidFill>
                  <a:srgbClr val="444444"/>
                </a:solidFill>
                <a:latin typeface="Arial"/>
                <a:ea typeface="Arial"/>
                <a:cs typeface="Arial"/>
              </a:defRPr>
            </a:defPPr>
          </a:lstStyle>
          <a:p>
            <a:pPr>
              <a:defRPr sz="1613" b="0">
                <a:solidFill>
                  <a:srgbClr val="444444"/>
                </a:solidFill>
                <a:latin typeface="Arial"/>
                <a:ea typeface="Arial"/>
                <a:cs typeface="Arial"/>
              </a:defRPr>
            </a:pPr>
            <a:r>
              <a:rPr sz="1613" b="0">
                <a:solidFill>
                  <a:srgbClr val="444444"/>
                </a:solidFill>
                <a:latin typeface="Arial"/>
                <a:ea typeface="Arial"/>
                <a:cs typeface="Arial"/>
              </a:rPr>
              <a:t>IRR = 1,01; IC 95% [0,91, 1,11]; </a:t>
            </a:r>
            <a:r>
              <a:rPr sz="1613" b="0" i="1">
                <a:solidFill>
                  <a:srgbClr val="444444"/>
                </a:solidFill>
                <a:latin typeface="Arial"/>
                <a:ea typeface="Arial"/>
                <a:cs typeface="Arial"/>
              </a:rPr>
              <a:t>p</a:t>
            </a:r>
            <a:r>
              <a:rPr sz="1613" b="0">
                <a:solidFill>
                  <a:srgbClr val="444444"/>
                </a:solidFill>
                <a:latin typeface="Arial"/>
                <a:ea typeface="Arial"/>
                <a:cs typeface="Arial"/>
              </a:rPr>
              <a:t> = .872</a:t>
            </a:r>
          </a:p>
        </p:txBody>
      </p:sp>
      <p:sp>
        <p:nvSpPr>
          <p:cNvPr id="112" name="extent interaction label">
            <a:extLst>
              <a:ext uri="{FF2B5EF4-FFF2-40B4-BE49-F238E27FC236}">
                <a16:creationId xmlns:a16="http://schemas.microsoft.com/office/drawing/2014/main" id="{F443177C-88BC-469B-9602-6DB8F3114109}"/>
              </a:ext>
            </a:extLst>
          </p:cNvPr>
          <p:cNvSpPr>
            <a:spLocks noGrp="1"/>
          </p:cNvSpPr>
          <p:nvPr/>
        </p:nvSpPr>
        <p:spPr>
          <a:xfrm>
            <a:off x="6248400" y="5133975"/>
            <a:ext cx="5219700" cy="276225"/>
          </a:xfrm>
          <a:prstGeom prst="rect">
            <a:avLst/>
          </a:prstGeom>
          <a:noFill/>
          <a:ln w="0">
            <a:noFill/>
          </a:ln>
        </p:spPr>
        <p:txBody>
          <a:bodyPr>
            <a:noAutofit/>
          </a:bodyPr>
          <a:lstStyle>
            <a:defPPr>
              <a:defRPr sz="1725" b="1">
                <a:solidFill>
                  <a:srgbClr val="444444"/>
                </a:solidFill>
                <a:latin typeface="Arial"/>
                <a:ea typeface="Arial"/>
                <a:cs typeface="Arial"/>
              </a:defRPr>
            </a:defPPr>
          </a:lstStyle>
          <a:p>
            <a:pPr>
              <a:defRPr sz="1725" b="1">
                <a:solidFill>
                  <a:srgbClr val="444444"/>
                </a:solidFill>
                <a:latin typeface="Arial"/>
                <a:ea typeface="Arial"/>
                <a:cs typeface="Arial"/>
              </a:defRPr>
            </a:pPr>
            <a:r>
              <a:rPr sz="1725" b="1" dirty="0" err="1">
                <a:solidFill>
                  <a:srgbClr val="444444"/>
                </a:solidFill>
                <a:latin typeface="Arial"/>
                <a:ea typeface="Arial"/>
                <a:cs typeface="Arial"/>
              </a:rPr>
              <a:t>Interazione</a:t>
            </a:r>
            <a:r>
              <a:rPr sz="1725" b="1" dirty="0">
                <a:solidFill>
                  <a:srgbClr val="444444"/>
                </a:solidFill>
                <a:latin typeface="Arial"/>
                <a:ea typeface="Arial"/>
                <a:cs typeface="Arial"/>
              </a:rPr>
              <a:t> </a:t>
            </a:r>
            <a:r>
              <a:rPr sz="1725" b="1" dirty="0" err="1">
                <a:solidFill>
                  <a:srgbClr val="444444"/>
                </a:solidFill>
                <a:latin typeface="Arial"/>
                <a:ea typeface="Arial"/>
                <a:cs typeface="Arial"/>
              </a:rPr>
              <a:t>posizione</a:t>
            </a:r>
            <a:r>
              <a:rPr sz="1725" b="1" dirty="0">
                <a:solidFill>
                  <a:srgbClr val="444444"/>
                </a:solidFill>
                <a:latin typeface="Arial"/>
                <a:ea typeface="Arial"/>
                <a:cs typeface="Arial"/>
              </a:rPr>
              <a:t> × </a:t>
            </a:r>
            <a:r>
              <a:rPr sz="1725" b="1" dirty="0" err="1">
                <a:solidFill>
                  <a:srgbClr val="444444"/>
                </a:solidFill>
                <a:latin typeface="Arial"/>
                <a:ea typeface="Arial"/>
                <a:cs typeface="Arial"/>
              </a:rPr>
              <a:t>dominio</a:t>
            </a:r>
            <a:endParaRPr sz="1725" b="1" dirty="0">
              <a:solidFill>
                <a:srgbClr val="444444"/>
              </a:solidFill>
              <a:latin typeface="Arial"/>
              <a:ea typeface="Arial"/>
              <a:cs typeface="Arial"/>
            </a:endParaRPr>
          </a:p>
        </p:txBody>
      </p:sp>
      <p:sp>
        <p:nvSpPr>
          <p:cNvPr id="113" name="extent interaction result">
            <a:extLst>
              <a:ext uri="{FF2B5EF4-FFF2-40B4-BE49-F238E27FC236}">
                <a16:creationId xmlns:a16="http://schemas.microsoft.com/office/drawing/2014/main" id="{8AF14E54-1377-4B73-A6EB-A780FC575AEE}"/>
              </a:ext>
            </a:extLst>
          </p:cNvPr>
          <p:cNvSpPr>
            <a:spLocks noGrp="1"/>
          </p:cNvSpPr>
          <p:nvPr/>
        </p:nvSpPr>
        <p:spPr>
          <a:xfrm>
            <a:off x="6248400" y="5448300"/>
            <a:ext cx="5219700" cy="276225"/>
          </a:xfrm>
          <a:prstGeom prst="rect">
            <a:avLst/>
          </a:prstGeom>
          <a:noFill/>
          <a:ln w="0">
            <a:noFill/>
          </a:ln>
        </p:spPr>
        <p:txBody>
          <a:bodyPr>
            <a:noAutofit/>
          </a:bodyPr>
          <a:lstStyle>
            <a:defPPr>
              <a:defRPr sz="1613" b="0">
                <a:solidFill>
                  <a:srgbClr val="444444"/>
                </a:solidFill>
                <a:latin typeface="Arial"/>
                <a:ea typeface="Arial"/>
                <a:cs typeface="Arial"/>
              </a:defRPr>
            </a:defPPr>
          </a:lstStyle>
          <a:p>
            <a:pPr>
              <a:defRPr sz="1613" b="0">
                <a:solidFill>
                  <a:srgbClr val="444444"/>
                </a:solidFill>
                <a:latin typeface="Arial"/>
                <a:ea typeface="Arial"/>
                <a:cs typeface="Arial"/>
              </a:defRPr>
            </a:pPr>
            <a:r>
              <a:rPr sz="1613" b="0">
                <a:solidFill>
                  <a:srgbClr val="444444"/>
                </a:solidFill>
                <a:latin typeface="Arial"/>
                <a:ea typeface="Arial"/>
                <a:cs typeface="Arial"/>
              </a:rPr>
              <a:t>IRR = 0,83; IC 95% [0,55, 1,26]; </a:t>
            </a:r>
            <a:r>
              <a:rPr sz="1613" b="0" i="1">
                <a:solidFill>
                  <a:srgbClr val="444444"/>
                </a:solidFill>
                <a:latin typeface="Arial"/>
                <a:ea typeface="Arial"/>
                <a:cs typeface="Arial"/>
              </a:rPr>
              <a:t>p</a:t>
            </a:r>
            <a:r>
              <a:rPr sz="1613" b="0">
                <a:solidFill>
                  <a:srgbClr val="444444"/>
                </a:solidFill>
                <a:latin typeface="Arial"/>
                <a:ea typeface="Arial"/>
                <a:cs typeface="Arial"/>
              </a:rPr>
              <a:t> = .385</a:t>
            </a:r>
          </a:p>
        </p:txBody>
      </p:sp>
      <p:sp>
        <p:nvSpPr>
          <p:cNvPr id="114" name="Conclusion">
            <a:extLst>
              <a:ext uri="{FF2B5EF4-FFF2-40B4-BE49-F238E27FC236}">
                <a16:creationId xmlns:a16="http://schemas.microsoft.com/office/drawing/2014/main" id="{1B0D9E7E-02F1-4D47-BD30-925E0BABCC02}"/>
              </a:ext>
            </a:extLst>
          </p:cNvPr>
          <p:cNvSpPr>
            <a:spLocks noGrp="1"/>
          </p:cNvSpPr>
          <p:nvPr/>
        </p:nvSpPr>
        <p:spPr>
          <a:xfrm>
            <a:off x="742950" y="5838825"/>
            <a:ext cx="10763250" cy="285750"/>
          </a:xfrm>
          <a:prstGeom prst="rect">
            <a:avLst/>
          </a:prstGeom>
          <a:noFill/>
          <a:ln w="0">
            <a:noFill/>
          </a:ln>
        </p:spPr>
        <p:txBody>
          <a:bodyPr>
            <a:noAutofit/>
          </a:bodyPr>
          <a:lstStyle>
            <a:defPPr>
              <a:defRPr sz="1650" b="1">
                <a:solidFill>
                  <a:srgbClr val="B00000"/>
                </a:solidFill>
                <a:latin typeface="Arial"/>
                <a:ea typeface="Arial"/>
                <a:cs typeface="Arial"/>
              </a:defRPr>
            </a:defPPr>
          </a:lstStyle>
          <a:p>
            <a:pPr>
              <a:defRPr sz="1650" b="1">
                <a:solidFill>
                  <a:srgbClr val="B00000"/>
                </a:solidFill>
                <a:latin typeface="Arial"/>
                <a:ea typeface="Arial"/>
                <a:cs typeface="Arial"/>
              </a:defRPr>
            </a:pPr>
            <a:r>
              <a:rPr sz="1650" b="1">
                <a:solidFill>
                  <a:srgbClr val="B00000"/>
                </a:solidFill>
                <a:latin typeface="Arial"/>
                <a:ea typeface="Arial"/>
                <a:cs typeface="Arial"/>
              </a:rPr>
              <a:t>Avvio più frequente nel secondo blocco; interazione con il dominio non significativa.</a:t>
            </a:r>
          </a:p>
        </p:txBody>
      </p:sp>
      <p:sp>
        <p:nvSpPr>
          <p:cNvPr id="115" name="Figure note">
            <a:extLst>
              <a:ext uri="{FF2B5EF4-FFF2-40B4-BE49-F238E27FC236}">
                <a16:creationId xmlns:a16="http://schemas.microsoft.com/office/drawing/2014/main" id="{7528632C-C728-4620-9CEA-834CDC27BAF5}"/>
              </a:ext>
            </a:extLst>
          </p:cNvPr>
          <p:cNvSpPr>
            <a:spLocks noGrp="1"/>
          </p:cNvSpPr>
          <p:nvPr/>
        </p:nvSpPr>
        <p:spPr>
          <a:xfrm>
            <a:off x="742950" y="6143625"/>
            <a:ext cx="10763250" cy="209550"/>
          </a:xfrm>
          <a:prstGeom prst="rect">
            <a:avLst/>
          </a:prstGeom>
          <a:noFill/>
          <a:ln w="0">
            <a:noFill/>
          </a:ln>
        </p:spPr>
        <p:txBody>
          <a:bodyPr>
            <a:noAutofit/>
          </a:bodyPr>
          <a:lstStyle>
            <a:defPPr>
              <a:defRPr sz="1275" b="0">
                <a:solidFill>
                  <a:srgbClr val="777777"/>
                </a:solidFill>
                <a:latin typeface="Arial"/>
                <a:ea typeface="Arial"/>
                <a:cs typeface="Arial"/>
              </a:defRPr>
            </a:defPPr>
          </a:lstStyle>
          <a:p>
            <a:pPr>
              <a:defRPr sz="1275" b="0">
                <a:solidFill>
                  <a:srgbClr val="777777"/>
                </a:solidFill>
                <a:latin typeface="Arial"/>
                <a:ea typeface="Arial"/>
                <a:cs typeface="Arial"/>
              </a:defRPr>
            </a:pPr>
            <a:r>
              <a:rPr sz="1275" b="0">
                <a:solidFill>
                  <a:srgbClr val="777777"/>
                </a:solidFill>
                <a:latin typeface="Arial"/>
                <a:ea typeface="Arial"/>
                <a:cs typeface="Arial"/>
              </a:rPr>
              <a:t>Grafici: medie osservate e IC 95%. Analisi: 840 trial, 140 partecipanti.</a:t>
            </a:r>
          </a:p>
        </p:txBody>
      </p:sp>
    </p:spTree>
    <p:extLst>
      <p:ext uri="{BB962C8B-B14F-4D97-AF65-F5344CB8AC3E}">
        <p14:creationId xmlns:p14="http://schemas.microsoft.com/office/powerpoint/2010/main" val="54564517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1439</TotalTime>
  <Words>5298</Words>
  <Application>Microsoft Office PowerPoint</Application>
  <DocSecurity>0</DocSecurity>
  <PresentationFormat>Widescreen</PresentationFormat>
  <Paragraphs>446</Paragraphs>
  <Slides>21</Slides>
  <Notes>21</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21</vt:i4>
      </vt:variant>
    </vt:vector>
  </HeadingPairs>
  <TitlesOfParts>
    <vt:vector size="24" baseType="lpstr">
      <vt:lpstr>Aptos</vt:lpstr>
      <vt:lpstr>Arial</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Michele Garbelotto</cp:lastModifiedBy>
  <cp:revision>35</cp:revision>
  <dcterms:created xsi:type="dcterms:W3CDTF">2026-10-09T20:26:56Z</dcterms:created>
  <dcterms:modified xsi:type="dcterms:W3CDTF">2026-10-14T08:46:36Z</dcterms:modified>
</cp:coreProperties>
</file>